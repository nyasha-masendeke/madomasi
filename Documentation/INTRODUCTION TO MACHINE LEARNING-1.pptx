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6" r:id="rId16"/>
    <p:sldId id="270" r:id="rId17"/>
    <p:sldId id="277" r:id="rId18"/>
    <p:sldId id="278" r:id="rId19"/>
    <p:sldId id="279" r:id="rId20"/>
    <p:sldId id="280" r:id="rId21"/>
    <p:sldId id="281" r:id="rId22"/>
    <p:sldId id="282" r:id="rId23"/>
    <p:sldId id="287" r:id="rId24"/>
    <p:sldId id="271" r:id="rId25"/>
    <p:sldId id="283" r:id="rId26"/>
    <p:sldId id="284" r:id="rId27"/>
    <p:sldId id="285" r:id="rId28"/>
    <p:sldId id="286" r:id="rId29"/>
    <p:sldId id="272" r:id="rId30"/>
    <p:sldId id="273" r:id="rId31"/>
    <p:sldId id="274" r:id="rId32"/>
    <p:sldId id="275" r:id="rId33"/>
    <p:sldId id="288" r:id="rId34"/>
    <p:sldId id="289" r:id="rId35"/>
    <p:sldId id="290" r:id="rId36"/>
    <p:sldId id="291" r:id="rId37"/>
    <p:sldId id="292" r:id="rId38"/>
    <p:sldId id="293" r:id="rId39"/>
    <p:sldId id="294" r:id="rId40"/>
    <p:sldId id="295" r:id="rId41"/>
    <p:sldId id="297" r:id="rId42"/>
    <p:sldId id="298" r:id="rId43"/>
    <p:sldId id="299" r:id="rId44"/>
    <p:sldId id="300" r:id="rId45"/>
    <p:sldId id="301" r:id="rId46"/>
    <p:sldId id="302" r:id="rId47"/>
    <p:sldId id="327" r:id="rId48"/>
    <p:sldId id="303" r:id="rId49"/>
    <p:sldId id="304" r:id="rId50"/>
    <p:sldId id="305" r:id="rId51"/>
    <p:sldId id="306" r:id="rId52"/>
    <p:sldId id="308" r:id="rId53"/>
    <p:sldId id="307"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8" r:id="rId73"/>
    <p:sldId id="329" r:id="rId74"/>
    <p:sldId id="331" r:id="rId75"/>
    <p:sldId id="330" r:id="rId76"/>
    <p:sldId id="332" r:id="rId77"/>
    <p:sldId id="333" r:id="rId78"/>
    <p:sldId id="334" r:id="rId79"/>
    <p:sldId id="335" r:id="rId80"/>
    <p:sldId id="336" r:id="rId81"/>
    <p:sldId id="337" r:id="rId82"/>
    <p:sldId id="338" r:id="rId83"/>
    <p:sldId id="339" r:id="rId8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00" d="100"/>
          <a:sy n="100" d="100"/>
        </p:scale>
        <p:origin x="516" y="-78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15"/>
          <p:cNvGrpSpPr/>
          <p:nvPr/>
        </p:nvGrpSpPr>
        <p:grpSpPr>
          <a:xfrm>
            <a:off x="0" y="0"/>
            <a:ext cx="9144000" cy="6858000"/>
            <a:chOff x="0" y="0"/>
            <a:chExt cx="9144000" cy="6858000"/>
          </a:xfrm>
        </p:grpSpPr>
        <p:sp>
          <p:nvSpPr>
            <p:cNvPr id="8" name="Rectangle 7"/>
            <p:cNvSpPr/>
            <p:nvPr/>
          </p:nvSpPr>
          <p:spPr>
            <a:xfrm>
              <a:off x="0" y="0"/>
              <a:ext cx="7162800" cy="6858000"/>
            </a:xfrm>
            <a:prstGeom prst="rect">
              <a:avLst/>
            </a:prstGeom>
            <a:gradFill flip="none" rotWithShape="1">
              <a:gsLst>
                <a:gs pos="0">
                  <a:srgbClr val="010101">
                    <a:alpha val="51765"/>
                  </a:srgbClr>
                </a:gs>
                <a:gs pos="60000">
                  <a:srgbClr val="FEFEFE">
                    <a:alpha val="0"/>
                  </a:srgb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1143000" y="0"/>
              <a:ext cx="8001000" cy="6858000"/>
            </a:xfrm>
            <a:prstGeom prst="rect">
              <a:avLst/>
            </a:prstGeom>
            <a:gradFill flip="none" rotWithShape="1">
              <a:gsLst>
                <a:gs pos="0">
                  <a:srgbClr val="010101">
                    <a:alpha val="56000"/>
                  </a:srgbClr>
                </a:gs>
                <a:gs pos="61000">
                  <a:srgbClr val="FEFEFE">
                    <a:alpha val="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Freeform 9"/>
          <p:cNvSpPr/>
          <p:nvPr/>
        </p:nvSpPr>
        <p:spPr>
          <a:xfrm rot="10800000">
            <a:off x="891821" y="5617774"/>
            <a:ext cx="7382935" cy="537210"/>
          </a:xfrm>
          <a:custGeom>
            <a:avLst/>
            <a:gdLst>
              <a:gd name="connsiteX0" fmla="*/ 0 w 7955280"/>
              <a:gd name="connsiteY0" fmla="*/ 495300 h 495300"/>
              <a:gd name="connsiteX1" fmla="*/ 169546 w 7955280"/>
              <a:gd name="connsiteY1" fmla="*/ 0 h 495300"/>
              <a:gd name="connsiteX2" fmla="*/ 7785734 w 7955280"/>
              <a:gd name="connsiteY2" fmla="*/ 0 h 495300"/>
              <a:gd name="connsiteX3" fmla="*/ 7955280 w 7955280"/>
              <a:gd name="connsiteY3" fmla="*/ 495300 h 495300"/>
              <a:gd name="connsiteX4" fmla="*/ 0 w 7955280"/>
              <a:gd name="connsiteY4" fmla="*/ 495300 h 495300"/>
              <a:gd name="connsiteX0" fmla="*/ 0 w 7955280"/>
              <a:gd name="connsiteY0" fmla="*/ 495300 h 495300"/>
              <a:gd name="connsiteX1" fmla="*/ 169546 w 7955280"/>
              <a:gd name="connsiteY1" fmla="*/ 0 h 495300"/>
              <a:gd name="connsiteX2" fmla="*/ 3966210 w 7955280"/>
              <a:gd name="connsiteY2" fmla="*/ 95250 h 495300"/>
              <a:gd name="connsiteX3" fmla="*/ 7785734 w 7955280"/>
              <a:gd name="connsiteY3" fmla="*/ 0 h 495300"/>
              <a:gd name="connsiteX4" fmla="*/ 7955280 w 7955280"/>
              <a:gd name="connsiteY4" fmla="*/ 495300 h 495300"/>
              <a:gd name="connsiteX5" fmla="*/ 0 w 7955280"/>
              <a:gd name="connsiteY5" fmla="*/ 495300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55280" h="495300">
                <a:moveTo>
                  <a:pt x="0" y="495300"/>
                </a:moveTo>
                <a:lnTo>
                  <a:pt x="169546" y="0"/>
                </a:lnTo>
                <a:lnTo>
                  <a:pt x="3966210" y="95250"/>
                </a:lnTo>
                <a:lnTo>
                  <a:pt x="7785734" y="0"/>
                </a:lnTo>
                <a:lnTo>
                  <a:pt x="7955280" y="495300"/>
                </a:lnTo>
                <a:lnTo>
                  <a:pt x="0" y="495300"/>
                </a:lnTo>
                <a:close/>
              </a:path>
            </a:pathLst>
          </a:custGeom>
          <a:gradFill flip="none" rotWithShape="1">
            <a:gsLst>
              <a:gs pos="30000">
                <a:srgbClr val="010101">
                  <a:alpha val="34000"/>
                </a:srgbClr>
              </a:gs>
              <a:gs pos="100000">
                <a:srgbClr val="010101">
                  <a:alpha val="26000"/>
                </a:srgbClr>
              </a:gs>
            </a:gsLst>
            <a:path path="circle">
              <a:fillToRect l="50000" t="50000" r="50000" b="50000"/>
            </a:path>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989952" y="1016990"/>
            <a:ext cx="7179733" cy="4831643"/>
          </a:xfrm>
          <a:prstGeom prst="rect">
            <a:avLst/>
          </a:prstGeom>
          <a:solidFill>
            <a:schemeClr val="bg1">
              <a:lumMod val="75000"/>
              <a:lumOff val="25000"/>
            </a:schemeClr>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990600" y="1009650"/>
            <a:ext cx="7179733" cy="4831643"/>
          </a:xfrm>
          <a:prstGeom prst="rect">
            <a:avLst/>
          </a:prstGeom>
          <a:blipFill dpi="0" rotWithShape="1">
            <a:blip r:embed="rId2" cstate="print">
              <a:alphaModFix amt="20000"/>
              <a:grayscl/>
              <a:lum contrast="12000"/>
            </a:blip>
            <a:srcRect/>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2" descr="C:\Users\Administrator\Desktop\Pushpin Dev\Assets\pushpinLeft.png"/>
          <p:cNvPicPr>
            <a:picLocks noChangeAspect="1" noChangeArrowheads="1"/>
          </p:cNvPicPr>
          <p:nvPr/>
        </p:nvPicPr>
        <p:blipFill>
          <a:blip r:embed="rId3" cstate="print"/>
          <a:srcRect/>
          <a:stretch>
            <a:fillRect/>
          </a:stretch>
        </p:blipFill>
        <p:spPr bwMode="auto">
          <a:xfrm rot="1435684">
            <a:off x="769521" y="702069"/>
            <a:ext cx="567831" cy="567830"/>
          </a:xfrm>
          <a:prstGeom prst="rect">
            <a:avLst/>
          </a:prstGeom>
          <a:noFill/>
        </p:spPr>
      </p:pic>
      <p:pic>
        <p:nvPicPr>
          <p:cNvPr id="14" name="Picture 2" descr="C:\Users\Administrator\Desktop\Pushpin Dev\Assets\pushpinLeft.png"/>
          <p:cNvPicPr>
            <a:picLocks noChangeAspect="1" noChangeArrowheads="1"/>
          </p:cNvPicPr>
          <p:nvPr/>
        </p:nvPicPr>
        <p:blipFill>
          <a:blip r:embed="rId3" cstate="print"/>
          <a:srcRect/>
          <a:stretch>
            <a:fillRect/>
          </a:stretch>
        </p:blipFill>
        <p:spPr bwMode="auto">
          <a:xfrm rot="4096196">
            <a:off x="7855433" y="749720"/>
            <a:ext cx="566928" cy="566928"/>
          </a:xfrm>
          <a:prstGeom prst="rect">
            <a:avLst/>
          </a:prstGeom>
          <a:noFill/>
        </p:spPr>
      </p:pic>
      <p:sp>
        <p:nvSpPr>
          <p:cNvPr id="2" name="Title 1"/>
          <p:cNvSpPr>
            <a:spLocks noGrp="1"/>
          </p:cNvSpPr>
          <p:nvPr>
            <p:ph type="ctrTitle"/>
          </p:nvPr>
        </p:nvSpPr>
        <p:spPr>
          <a:xfrm>
            <a:off x="1727201" y="1794935"/>
            <a:ext cx="5723468" cy="1828090"/>
          </a:xfrm>
        </p:spPr>
        <p:txBody>
          <a:bodyPr anchor="b">
            <a:normAutofit/>
          </a:bodyPr>
          <a:lstStyle>
            <a:lvl1pPr>
              <a:defRPr sz="4800"/>
            </a:lvl1pPr>
          </a:lstStyle>
          <a:p>
            <a:r>
              <a:rPr lang="en-US" smtClean="0"/>
              <a:t>Click to edit Master title style</a:t>
            </a:r>
            <a:endParaRPr lang="en-US"/>
          </a:p>
        </p:txBody>
      </p:sp>
      <p:sp>
        <p:nvSpPr>
          <p:cNvPr id="3" name="Subtitle 2"/>
          <p:cNvSpPr>
            <a:spLocks noGrp="1"/>
          </p:cNvSpPr>
          <p:nvPr>
            <p:ph type="subTitle" idx="1"/>
          </p:nvPr>
        </p:nvSpPr>
        <p:spPr>
          <a:xfrm>
            <a:off x="1727200" y="3736622"/>
            <a:ext cx="5712179" cy="1524000"/>
          </a:xfrm>
        </p:spPr>
        <p:txBody>
          <a:bodyPr/>
          <a:lstStyle>
            <a:lvl1pPr marL="0" indent="0" algn="ctr">
              <a:buNone/>
              <a:defRPr>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6770676" y="5357592"/>
            <a:ext cx="1213821" cy="365125"/>
          </a:xfrm>
        </p:spPr>
        <p:txBody>
          <a:bodyPr/>
          <a:lstStyle/>
          <a:p>
            <a:fld id="{9C21A397-1D19-4506-955F-BBCE1C33BADA}" type="datetimeFigureOut">
              <a:rPr lang="en-US" smtClean="0"/>
              <a:t>3/9/2026</a:t>
            </a:fld>
            <a:endParaRPr lang="en-US"/>
          </a:p>
        </p:txBody>
      </p:sp>
      <p:sp>
        <p:nvSpPr>
          <p:cNvPr id="5" name="Footer Placeholder 4"/>
          <p:cNvSpPr>
            <a:spLocks noGrp="1"/>
          </p:cNvSpPr>
          <p:nvPr>
            <p:ph type="ftr" sz="quarter" idx="11"/>
          </p:nvPr>
        </p:nvSpPr>
        <p:spPr>
          <a:xfrm>
            <a:off x="1174044" y="5357592"/>
            <a:ext cx="5034845" cy="365125"/>
          </a:xfrm>
        </p:spPr>
        <p:txBody>
          <a:bodyPr/>
          <a:lstStyle/>
          <a:p>
            <a:endParaRPr lang="en-US"/>
          </a:p>
        </p:txBody>
      </p:sp>
      <p:sp>
        <p:nvSpPr>
          <p:cNvPr id="6" name="Slide Number Placeholder 5"/>
          <p:cNvSpPr>
            <a:spLocks noGrp="1"/>
          </p:cNvSpPr>
          <p:nvPr>
            <p:ph type="sldNum" sz="quarter" idx="12"/>
          </p:nvPr>
        </p:nvSpPr>
        <p:spPr>
          <a:xfrm>
            <a:off x="6213930" y="5357592"/>
            <a:ext cx="554023" cy="365125"/>
          </a:xfrm>
        </p:spPr>
        <p:txBody>
          <a:bodyPr/>
          <a:lstStyle>
            <a:lvl1pPr algn="ctr">
              <a:defRPr/>
            </a:lvl1pPr>
          </a:lstStyle>
          <a:p>
            <a:fld id="{2CC65CF0-959E-4A45-BEBE-B9AB39478CFC}"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C21A397-1D19-4506-955F-BBCE1C33BADA}"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C65CF0-959E-4A45-BEBE-B9AB39478CFC}"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44979" y="2239430"/>
            <a:ext cx="6254044" cy="1362075"/>
          </a:xfrm>
        </p:spPr>
        <p:txBody>
          <a:bodyPr anchor="b"/>
          <a:lstStyle>
            <a:lvl1pPr algn="ctr">
              <a:defRPr sz="4000" b="0" cap="none" baseline="0"/>
            </a:lvl1pPr>
          </a:lstStyle>
          <a:p>
            <a:r>
              <a:rPr lang="en-US" smtClean="0"/>
              <a:t>Click to edit Master title style</a:t>
            </a:r>
            <a:endParaRPr lang="en-US" dirty="0"/>
          </a:p>
        </p:txBody>
      </p:sp>
      <p:sp>
        <p:nvSpPr>
          <p:cNvPr id="3" name="Text Placeholder 2"/>
          <p:cNvSpPr>
            <a:spLocks noGrp="1"/>
          </p:cNvSpPr>
          <p:nvPr>
            <p:ph type="body" idx="1"/>
          </p:nvPr>
        </p:nvSpPr>
        <p:spPr>
          <a:xfrm>
            <a:off x="1456267" y="3725334"/>
            <a:ext cx="6231467" cy="1309511"/>
          </a:xfrm>
        </p:spPr>
        <p:txBody>
          <a:bodyPr anchor="t"/>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C21A397-1D19-4506-955F-BBCE1C33BADA}"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C65CF0-959E-4A45-BEBE-B9AB39478CFC}"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Date Placeholder 4"/>
          <p:cNvSpPr>
            <a:spLocks noGrp="1"/>
          </p:cNvSpPr>
          <p:nvPr>
            <p:ph type="dt" sz="half" idx="10"/>
          </p:nvPr>
        </p:nvSpPr>
        <p:spPr/>
        <p:txBody>
          <a:bodyPr/>
          <a:lstStyle/>
          <a:p>
            <a:fld id="{9C21A397-1D19-4506-955F-BBCE1C33BADA}" type="datetimeFigureOut">
              <a:rPr lang="en-US" smtClean="0"/>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C65CF0-959E-4A45-BEBE-B9AB39478CFC}" type="slidenum">
              <a:rPr lang="en-US" smtClean="0"/>
              <a:t>‹#›</a:t>
            </a:fld>
            <a:endParaRPr lang="en-US"/>
          </a:p>
        </p:txBody>
      </p:sp>
      <p:sp>
        <p:nvSpPr>
          <p:cNvPr id="9" name="Content Placeholder 8"/>
          <p:cNvSpPr>
            <a:spLocks noGrp="1"/>
          </p:cNvSpPr>
          <p:nvPr>
            <p:ph sz="quarter" idx="13"/>
          </p:nvPr>
        </p:nvSpPr>
        <p:spPr>
          <a:xfrm>
            <a:off x="1298448" y="2121407"/>
            <a:ext cx="3200400" cy="360273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Content Placeholder 10"/>
          <p:cNvSpPr>
            <a:spLocks noGrp="1"/>
          </p:cNvSpPr>
          <p:nvPr>
            <p:ph sz="quarter" idx="14"/>
          </p:nvPr>
        </p:nvSpPr>
        <p:spPr>
          <a:xfrm>
            <a:off x="4663440" y="2119313"/>
            <a:ext cx="3200400" cy="360521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557869" y="2122312"/>
            <a:ext cx="2939521" cy="820208"/>
          </a:xfrm>
        </p:spPr>
        <p:txBody>
          <a:bodyPr anchor="b">
            <a:norm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910669" y="2122311"/>
            <a:ext cx="2944368" cy="822960"/>
          </a:xfrm>
        </p:spPr>
        <p:txBody>
          <a:bodyPr anchor="b">
            <a:norm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7" name="Date Placeholder 6"/>
          <p:cNvSpPr>
            <a:spLocks noGrp="1"/>
          </p:cNvSpPr>
          <p:nvPr>
            <p:ph type="dt" sz="half" idx="10"/>
          </p:nvPr>
        </p:nvSpPr>
        <p:spPr/>
        <p:txBody>
          <a:bodyPr/>
          <a:lstStyle/>
          <a:p>
            <a:fld id="{9C21A397-1D19-4506-955F-BBCE1C33BADA}" type="datetimeFigureOut">
              <a:rPr lang="en-US" smtClean="0"/>
              <a:t>3/9/2026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CC65CF0-959E-4A45-BEBE-B9AB39478CFC}" type="slidenum">
              <a:rPr lang="en-US" smtClean="0"/>
              <a:t>‹#›</a:t>
            </a:fld>
            <a:endParaRPr lang="en-US"/>
          </a:p>
        </p:txBody>
      </p:sp>
      <p:sp>
        <p:nvSpPr>
          <p:cNvPr id="11" name="Content Placeholder 10"/>
          <p:cNvSpPr>
            <a:spLocks noGrp="1"/>
          </p:cNvSpPr>
          <p:nvPr>
            <p:ph sz="quarter" idx="13"/>
          </p:nvPr>
        </p:nvSpPr>
        <p:spPr>
          <a:xfrm>
            <a:off x="1298448" y="2944368"/>
            <a:ext cx="3227832" cy="277977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12"/>
          <p:cNvSpPr>
            <a:spLocks noGrp="1"/>
          </p:cNvSpPr>
          <p:nvPr>
            <p:ph sz="quarter" idx="14"/>
          </p:nvPr>
        </p:nvSpPr>
        <p:spPr>
          <a:xfrm>
            <a:off x="4645151" y="2944813"/>
            <a:ext cx="3227832" cy="277977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C21A397-1D19-4506-955F-BBCE1C33BADA}" type="datetimeFigureOut">
              <a:rPr lang="en-US" smtClean="0"/>
              <a:t>3/9/2026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CC65CF0-959E-4A45-BEBE-B9AB39478CFC}"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21A397-1D19-4506-955F-BBCE1C33BADA}" type="datetimeFigureOut">
              <a:rPr lang="en-US" smtClean="0"/>
              <a:t>3/9/2026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CC65CF0-959E-4A45-BEBE-B9AB39478CFC}"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8" name="Group 15"/>
          <p:cNvGrpSpPr/>
          <p:nvPr/>
        </p:nvGrpSpPr>
        <p:grpSpPr>
          <a:xfrm>
            <a:off x="0" y="0"/>
            <a:ext cx="9144000" cy="6858000"/>
            <a:chOff x="0" y="0"/>
            <a:chExt cx="9144000" cy="6858000"/>
          </a:xfrm>
        </p:grpSpPr>
        <p:sp>
          <p:nvSpPr>
            <p:cNvPr id="9" name="Rectangle 8"/>
            <p:cNvSpPr/>
            <p:nvPr/>
          </p:nvSpPr>
          <p:spPr>
            <a:xfrm>
              <a:off x="0" y="0"/>
              <a:ext cx="7162800" cy="6858000"/>
            </a:xfrm>
            <a:prstGeom prst="rect">
              <a:avLst/>
            </a:prstGeom>
            <a:gradFill flip="none" rotWithShape="1">
              <a:gsLst>
                <a:gs pos="0">
                  <a:srgbClr val="010101">
                    <a:alpha val="51765"/>
                  </a:srgbClr>
                </a:gs>
                <a:gs pos="60000">
                  <a:srgbClr val="FEFEFE">
                    <a:alpha val="0"/>
                  </a:srgb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143000" y="0"/>
              <a:ext cx="8001000" cy="6858000"/>
            </a:xfrm>
            <a:prstGeom prst="rect">
              <a:avLst/>
            </a:prstGeom>
            <a:gradFill flip="none" rotWithShape="1">
              <a:gsLst>
                <a:gs pos="0">
                  <a:srgbClr val="010101">
                    <a:alpha val="56000"/>
                  </a:srgbClr>
                </a:gs>
                <a:gs pos="61000">
                  <a:srgbClr val="FEFEFE">
                    <a:alpha val="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Freeform 10"/>
          <p:cNvSpPr/>
          <p:nvPr/>
        </p:nvSpPr>
        <p:spPr>
          <a:xfrm rot="10800000">
            <a:off x="632177" y="6058038"/>
            <a:ext cx="7721601" cy="537210"/>
          </a:xfrm>
          <a:custGeom>
            <a:avLst/>
            <a:gdLst>
              <a:gd name="connsiteX0" fmla="*/ 0 w 7955280"/>
              <a:gd name="connsiteY0" fmla="*/ 495300 h 495300"/>
              <a:gd name="connsiteX1" fmla="*/ 169546 w 7955280"/>
              <a:gd name="connsiteY1" fmla="*/ 0 h 495300"/>
              <a:gd name="connsiteX2" fmla="*/ 7785734 w 7955280"/>
              <a:gd name="connsiteY2" fmla="*/ 0 h 495300"/>
              <a:gd name="connsiteX3" fmla="*/ 7955280 w 7955280"/>
              <a:gd name="connsiteY3" fmla="*/ 495300 h 495300"/>
              <a:gd name="connsiteX4" fmla="*/ 0 w 7955280"/>
              <a:gd name="connsiteY4" fmla="*/ 495300 h 495300"/>
              <a:gd name="connsiteX0" fmla="*/ 0 w 7955280"/>
              <a:gd name="connsiteY0" fmla="*/ 495300 h 495300"/>
              <a:gd name="connsiteX1" fmla="*/ 169546 w 7955280"/>
              <a:gd name="connsiteY1" fmla="*/ 0 h 495300"/>
              <a:gd name="connsiteX2" fmla="*/ 3966210 w 7955280"/>
              <a:gd name="connsiteY2" fmla="*/ 95250 h 495300"/>
              <a:gd name="connsiteX3" fmla="*/ 7785734 w 7955280"/>
              <a:gd name="connsiteY3" fmla="*/ 0 h 495300"/>
              <a:gd name="connsiteX4" fmla="*/ 7955280 w 7955280"/>
              <a:gd name="connsiteY4" fmla="*/ 495300 h 495300"/>
              <a:gd name="connsiteX5" fmla="*/ 0 w 7955280"/>
              <a:gd name="connsiteY5" fmla="*/ 495300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55280" h="495300">
                <a:moveTo>
                  <a:pt x="0" y="495300"/>
                </a:moveTo>
                <a:lnTo>
                  <a:pt x="169546" y="0"/>
                </a:lnTo>
                <a:lnTo>
                  <a:pt x="3966210" y="95250"/>
                </a:lnTo>
                <a:lnTo>
                  <a:pt x="7785734" y="0"/>
                </a:lnTo>
                <a:lnTo>
                  <a:pt x="7955280" y="495300"/>
                </a:lnTo>
                <a:lnTo>
                  <a:pt x="0" y="495300"/>
                </a:lnTo>
                <a:close/>
              </a:path>
            </a:pathLst>
          </a:custGeom>
          <a:gradFill flip="none" rotWithShape="1">
            <a:gsLst>
              <a:gs pos="30000">
                <a:srgbClr val="010101">
                  <a:alpha val="34000"/>
                </a:srgbClr>
              </a:gs>
              <a:gs pos="100000">
                <a:srgbClr val="010101">
                  <a:alpha val="26000"/>
                </a:srgbClr>
              </a:gs>
            </a:gsLst>
            <a:path path="circle">
              <a:fillToRect l="50000" t="50000" r="50000" b="50000"/>
            </a:path>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rot="60000">
            <a:off x="4468872" y="605163"/>
            <a:ext cx="3788941" cy="5722296"/>
          </a:xfrm>
          <a:prstGeom prst="rect">
            <a:avLst/>
          </a:prstGeom>
          <a:solidFill>
            <a:schemeClr val="bg1"/>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rot="60000">
            <a:off x="4471416" y="603504"/>
            <a:ext cx="3788941" cy="5722296"/>
          </a:xfrm>
          <a:prstGeom prst="rect">
            <a:avLst/>
          </a:prstGeom>
          <a:blipFill dpi="0" rotWithShape="1">
            <a:blip r:embed="rId2" cstate="print">
              <a:alphaModFix amt="20000"/>
              <a:grayscl/>
              <a:lum contrast="12000"/>
            </a:blip>
            <a:srcRect/>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rot="21540000">
            <a:off x="749204" y="576868"/>
            <a:ext cx="3788941" cy="5722296"/>
          </a:xfrm>
          <a:prstGeom prst="rect">
            <a:avLst/>
          </a:prstGeom>
          <a:solidFill>
            <a:schemeClr val="bg1"/>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rot="21540000">
            <a:off x="749808" y="576072"/>
            <a:ext cx="3788941" cy="5722296"/>
          </a:xfrm>
          <a:prstGeom prst="rect">
            <a:avLst/>
          </a:prstGeom>
          <a:blipFill dpi="0" rotWithShape="1">
            <a:blip r:embed="rId2" cstate="print">
              <a:alphaModFix amt="20000"/>
              <a:grayscl/>
              <a:lum contrast="12000"/>
            </a:blip>
            <a:srcRect/>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2" descr="C:\Users\Administrator\Desktop\Pushpin Dev\Assets\pushpinLeft.png"/>
          <p:cNvPicPr>
            <a:picLocks noChangeAspect="1" noChangeArrowheads="1"/>
          </p:cNvPicPr>
          <p:nvPr/>
        </p:nvPicPr>
        <p:blipFill>
          <a:blip r:embed="rId3" cstate="print"/>
          <a:srcRect/>
          <a:stretch>
            <a:fillRect/>
          </a:stretch>
        </p:blipFill>
        <p:spPr bwMode="auto">
          <a:xfrm rot="1435684">
            <a:off x="2371106" y="293953"/>
            <a:ext cx="567831" cy="567830"/>
          </a:xfrm>
          <a:prstGeom prst="rect">
            <a:avLst/>
          </a:prstGeom>
          <a:noFill/>
        </p:spPr>
      </p:pic>
      <p:pic>
        <p:nvPicPr>
          <p:cNvPr id="19" name="Picture 2" descr="C:\Users\Administrator\Desktop\Pushpin Dev\Assets\pushpinLeft.png"/>
          <p:cNvPicPr>
            <a:picLocks noChangeAspect="1" noChangeArrowheads="1"/>
          </p:cNvPicPr>
          <p:nvPr/>
        </p:nvPicPr>
        <p:blipFill>
          <a:blip r:embed="rId3" cstate="print"/>
          <a:srcRect/>
          <a:stretch>
            <a:fillRect/>
          </a:stretch>
        </p:blipFill>
        <p:spPr bwMode="auto">
          <a:xfrm rot="4096196">
            <a:off x="6279647" y="333163"/>
            <a:ext cx="566928" cy="566928"/>
          </a:xfrm>
          <a:prstGeom prst="rect">
            <a:avLst/>
          </a:prstGeom>
          <a:noFill/>
        </p:spPr>
      </p:pic>
      <p:sp>
        <p:nvSpPr>
          <p:cNvPr id="2" name="Title 1"/>
          <p:cNvSpPr>
            <a:spLocks noGrp="1"/>
          </p:cNvSpPr>
          <p:nvPr>
            <p:ph type="title"/>
          </p:nvPr>
        </p:nvSpPr>
        <p:spPr>
          <a:xfrm rot="-60000">
            <a:off x="1108976" y="2020042"/>
            <a:ext cx="3064827" cy="1503037"/>
          </a:xfrm>
        </p:spPr>
        <p:txBody>
          <a:bodyPr anchor="b">
            <a:normAutofit/>
          </a:bodyPr>
          <a:lstStyle>
            <a:lvl1pPr algn="ctr">
              <a:defRPr sz="2400" b="0"/>
            </a:lvl1pPr>
          </a:lstStyle>
          <a:p>
            <a:r>
              <a:rPr lang="en-US" smtClean="0"/>
              <a:t>Click to edit Master title style</a:t>
            </a:r>
            <a:endParaRPr lang="en-US"/>
          </a:p>
        </p:txBody>
      </p:sp>
      <p:sp>
        <p:nvSpPr>
          <p:cNvPr id="3" name="Content Placeholder 2"/>
          <p:cNvSpPr>
            <a:spLocks noGrp="1"/>
          </p:cNvSpPr>
          <p:nvPr>
            <p:ph idx="1"/>
          </p:nvPr>
        </p:nvSpPr>
        <p:spPr>
          <a:xfrm rot="60000">
            <a:off x="4854291" y="1150993"/>
            <a:ext cx="3020792" cy="4625489"/>
          </a:xfrm>
        </p:spPr>
        <p:txBody>
          <a:bodyPr anchor="ct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rot="-60000">
            <a:off x="1148125" y="3623748"/>
            <a:ext cx="3048891" cy="2100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rot="60000">
            <a:off x="6341698" y="5885672"/>
            <a:ext cx="1213821" cy="365125"/>
          </a:xfrm>
        </p:spPr>
        <p:txBody>
          <a:bodyPr/>
          <a:lstStyle/>
          <a:p>
            <a:fld id="{9C21A397-1D19-4506-955F-BBCE1C33BADA}" type="datetimeFigureOut">
              <a:rPr lang="en-US" smtClean="0"/>
              <a:t>3/9/2026</a:t>
            </a:fld>
            <a:endParaRPr lang="en-US"/>
          </a:p>
        </p:txBody>
      </p:sp>
      <p:sp>
        <p:nvSpPr>
          <p:cNvPr id="6" name="Footer Placeholder 5"/>
          <p:cNvSpPr>
            <a:spLocks noGrp="1"/>
          </p:cNvSpPr>
          <p:nvPr>
            <p:ph type="ftr" sz="quarter" idx="11"/>
          </p:nvPr>
        </p:nvSpPr>
        <p:spPr>
          <a:xfrm rot="-60000">
            <a:off x="914554" y="5829261"/>
            <a:ext cx="3522607" cy="365125"/>
          </a:xfrm>
        </p:spPr>
        <p:txBody>
          <a:bodyPr/>
          <a:lstStyle/>
          <a:p>
            <a:endParaRPr lang="en-US"/>
          </a:p>
        </p:txBody>
      </p:sp>
      <p:sp>
        <p:nvSpPr>
          <p:cNvPr id="7" name="Slide Number Placeholder 6"/>
          <p:cNvSpPr>
            <a:spLocks noGrp="1"/>
          </p:cNvSpPr>
          <p:nvPr>
            <p:ph type="sldNum" sz="quarter" idx="12"/>
          </p:nvPr>
        </p:nvSpPr>
        <p:spPr>
          <a:xfrm rot="60000">
            <a:off x="7557313" y="5896961"/>
            <a:ext cx="554023" cy="365125"/>
          </a:xfrm>
        </p:spPr>
        <p:txBody>
          <a:bodyPr/>
          <a:lstStyle/>
          <a:p>
            <a:fld id="{2CC65CF0-959E-4A45-BEBE-B9AB39478CFC}"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8" name="Group 15"/>
          <p:cNvGrpSpPr/>
          <p:nvPr/>
        </p:nvGrpSpPr>
        <p:grpSpPr>
          <a:xfrm>
            <a:off x="0" y="0"/>
            <a:ext cx="9144000" cy="6858000"/>
            <a:chOff x="0" y="0"/>
            <a:chExt cx="9144000" cy="6858000"/>
          </a:xfrm>
        </p:grpSpPr>
        <p:sp>
          <p:nvSpPr>
            <p:cNvPr id="9" name="Rectangle 8"/>
            <p:cNvSpPr/>
            <p:nvPr/>
          </p:nvSpPr>
          <p:spPr>
            <a:xfrm>
              <a:off x="0" y="0"/>
              <a:ext cx="7162800" cy="6858000"/>
            </a:xfrm>
            <a:prstGeom prst="rect">
              <a:avLst/>
            </a:prstGeom>
            <a:gradFill flip="none" rotWithShape="1">
              <a:gsLst>
                <a:gs pos="0">
                  <a:srgbClr val="010101">
                    <a:alpha val="51765"/>
                  </a:srgbClr>
                </a:gs>
                <a:gs pos="60000">
                  <a:srgbClr val="FEFEFE">
                    <a:alpha val="0"/>
                  </a:srgb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143000" y="0"/>
              <a:ext cx="8001000" cy="6858000"/>
            </a:xfrm>
            <a:prstGeom prst="rect">
              <a:avLst/>
            </a:prstGeom>
            <a:gradFill flip="none" rotWithShape="1">
              <a:gsLst>
                <a:gs pos="0">
                  <a:srgbClr val="010101">
                    <a:alpha val="56000"/>
                  </a:srgbClr>
                </a:gs>
                <a:gs pos="61000">
                  <a:srgbClr val="FEFEFE">
                    <a:alpha val="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Freeform 30"/>
          <p:cNvSpPr/>
          <p:nvPr/>
        </p:nvSpPr>
        <p:spPr>
          <a:xfrm rot="10800000">
            <a:off x="632177" y="6058038"/>
            <a:ext cx="7721601" cy="537210"/>
          </a:xfrm>
          <a:custGeom>
            <a:avLst/>
            <a:gdLst>
              <a:gd name="connsiteX0" fmla="*/ 0 w 7955280"/>
              <a:gd name="connsiteY0" fmla="*/ 495300 h 495300"/>
              <a:gd name="connsiteX1" fmla="*/ 169546 w 7955280"/>
              <a:gd name="connsiteY1" fmla="*/ 0 h 495300"/>
              <a:gd name="connsiteX2" fmla="*/ 7785734 w 7955280"/>
              <a:gd name="connsiteY2" fmla="*/ 0 h 495300"/>
              <a:gd name="connsiteX3" fmla="*/ 7955280 w 7955280"/>
              <a:gd name="connsiteY3" fmla="*/ 495300 h 495300"/>
              <a:gd name="connsiteX4" fmla="*/ 0 w 7955280"/>
              <a:gd name="connsiteY4" fmla="*/ 495300 h 495300"/>
              <a:gd name="connsiteX0" fmla="*/ 0 w 7955280"/>
              <a:gd name="connsiteY0" fmla="*/ 495300 h 495300"/>
              <a:gd name="connsiteX1" fmla="*/ 169546 w 7955280"/>
              <a:gd name="connsiteY1" fmla="*/ 0 h 495300"/>
              <a:gd name="connsiteX2" fmla="*/ 3966210 w 7955280"/>
              <a:gd name="connsiteY2" fmla="*/ 95250 h 495300"/>
              <a:gd name="connsiteX3" fmla="*/ 7785734 w 7955280"/>
              <a:gd name="connsiteY3" fmla="*/ 0 h 495300"/>
              <a:gd name="connsiteX4" fmla="*/ 7955280 w 7955280"/>
              <a:gd name="connsiteY4" fmla="*/ 495300 h 495300"/>
              <a:gd name="connsiteX5" fmla="*/ 0 w 7955280"/>
              <a:gd name="connsiteY5" fmla="*/ 495300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55280" h="495300">
                <a:moveTo>
                  <a:pt x="0" y="495300"/>
                </a:moveTo>
                <a:lnTo>
                  <a:pt x="169546" y="0"/>
                </a:lnTo>
                <a:lnTo>
                  <a:pt x="3966210" y="95250"/>
                </a:lnTo>
                <a:lnTo>
                  <a:pt x="7785734" y="0"/>
                </a:lnTo>
                <a:lnTo>
                  <a:pt x="7955280" y="495300"/>
                </a:lnTo>
                <a:lnTo>
                  <a:pt x="0" y="495300"/>
                </a:lnTo>
                <a:close/>
              </a:path>
            </a:pathLst>
          </a:custGeom>
          <a:gradFill flip="none" rotWithShape="1">
            <a:gsLst>
              <a:gs pos="30000">
                <a:srgbClr val="010101">
                  <a:alpha val="34000"/>
                </a:srgbClr>
              </a:gs>
              <a:gs pos="100000">
                <a:srgbClr val="010101">
                  <a:alpha val="26000"/>
                </a:srgbClr>
              </a:gs>
            </a:gsLst>
            <a:path path="circle">
              <a:fillToRect l="50000" t="50000" r="50000" b="50000"/>
            </a:path>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rot="21540000">
            <a:off x="749204" y="576868"/>
            <a:ext cx="3788941" cy="5722296"/>
          </a:xfrm>
          <a:prstGeom prst="rect">
            <a:avLst/>
          </a:prstGeom>
          <a:solidFill>
            <a:schemeClr val="bg1"/>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rot="21540000">
            <a:off x="745058" y="575769"/>
            <a:ext cx="3788941" cy="5722296"/>
          </a:xfrm>
          <a:prstGeom prst="rect">
            <a:avLst/>
          </a:prstGeom>
          <a:blipFill dpi="0" rotWithShape="1">
            <a:blip r:embed="rId2" cstate="print">
              <a:alphaModFix amt="20000"/>
              <a:grayscl/>
              <a:lum contrast="12000"/>
            </a:blip>
            <a:srcRect/>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p:cNvSpPr/>
          <p:nvPr/>
        </p:nvSpPr>
        <p:spPr>
          <a:xfrm rot="60000">
            <a:off x="4468872" y="605163"/>
            <a:ext cx="3788941" cy="5722296"/>
          </a:xfrm>
          <a:prstGeom prst="rect">
            <a:avLst/>
          </a:prstGeom>
          <a:solidFill>
            <a:schemeClr val="bg1"/>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p:cNvSpPr/>
          <p:nvPr/>
        </p:nvSpPr>
        <p:spPr>
          <a:xfrm rot="60000">
            <a:off x="4464768" y="603920"/>
            <a:ext cx="3788941" cy="5722296"/>
          </a:xfrm>
          <a:prstGeom prst="rect">
            <a:avLst/>
          </a:prstGeom>
          <a:blipFill dpi="0" rotWithShape="1">
            <a:blip r:embed="rId2" cstate="print">
              <a:alphaModFix amt="20000"/>
              <a:grayscl/>
              <a:lum contrast="12000"/>
            </a:blip>
            <a:srcRect/>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2" descr="C:\Users\Administrator\Desktop\Pushpin Dev\Assets\pushpinLeft.png"/>
          <p:cNvPicPr>
            <a:picLocks noChangeAspect="1" noChangeArrowheads="1"/>
          </p:cNvPicPr>
          <p:nvPr/>
        </p:nvPicPr>
        <p:blipFill>
          <a:blip r:embed="rId3" cstate="print"/>
          <a:srcRect/>
          <a:stretch>
            <a:fillRect/>
          </a:stretch>
        </p:blipFill>
        <p:spPr bwMode="auto">
          <a:xfrm rot="1435684">
            <a:off x="2371106" y="293953"/>
            <a:ext cx="567831" cy="567830"/>
          </a:xfrm>
          <a:prstGeom prst="rect">
            <a:avLst/>
          </a:prstGeom>
          <a:noFill/>
        </p:spPr>
      </p:pic>
      <p:pic>
        <p:nvPicPr>
          <p:cNvPr id="15" name="Picture 2" descr="C:\Users\Administrator\Desktop\Pushpin Dev\Assets\pushpinLeft.png"/>
          <p:cNvPicPr>
            <a:picLocks noChangeAspect="1" noChangeArrowheads="1"/>
          </p:cNvPicPr>
          <p:nvPr/>
        </p:nvPicPr>
        <p:blipFill>
          <a:blip r:embed="rId3" cstate="print"/>
          <a:srcRect/>
          <a:stretch>
            <a:fillRect/>
          </a:stretch>
        </p:blipFill>
        <p:spPr bwMode="auto">
          <a:xfrm rot="4096196">
            <a:off x="6279647" y="333163"/>
            <a:ext cx="566928" cy="566928"/>
          </a:xfrm>
          <a:prstGeom prst="rect">
            <a:avLst/>
          </a:prstGeom>
          <a:noFill/>
        </p:spPr>
      </p:pic>
      <p:sp>
        <p:nvSpPr>
          <p:cNvPr id="2" name="Title 1"/>
          <p:cNvSpPr>
            <a:spLocks noGrp="1"/>
          </p:cNvSpPr>
          <p:nvPr>
            <p:ph type="title"/>
          </p:nvPr>
        </p:nvSpPr>
        <p:spPr>
          <a:xfrm rot="-60000">
            <a:off x="1106424" y="2020824"/>
            <a:ext cx="3063240" cy="1499616"/>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p:cNvSpPr>
          <p:nvPr>
            <p:ph type="pic" idx="1"/>
          </p:nvPr>
        </p:nvSpPr>
        <p:spPr>
          <a:xfrm rot="60000">
            <a:off x="4898615" y="1207272"/>
            <a:ext cx="2913863" cy="4539412"/>
          </a:xfrm>
          <a:ln w="101600" cap="rnd">
            <a:solidFill>
              <a:srgbClr val="FFFFFF"/>
            </a:solidFill>
          </a:ln>
          <a:effectLst>
            <a:outerShdw blurRad="88900" dir="2700000" algn="tl" rotWithShape="0">
              <a:prstClr val="black">
                <a:alpha val="40000"/>
              </a:prstClr>
            </a:outerShdw>
          </a:effectLst>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rot="-60000">
            <a:off x="1152144" y="3621024"/>
            <a:ext cx="3044952" cy="210312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rot="60000">
            <a:off x="6345936" y="5888737"/>
            <a:ext cx="1213821" cy="365125"/>
          </a:xfrm>
        </p:spPr>
        <p:txBody>
          <a:bodyPr/>
          <a:lstStyle/>
          <a:p>
            <a:fld id="{9C21A397-1D19-4506-955F-BBCE1C33BADA}" type="datetimeFigureOut">
              <a:rPr lang="en-US" smtClean="0"/>
              <a:t>3/9/2026</a:t>
            </a:fld>
            <a:endParaRPr lang="en-US"/>
          </a:p>
        </p:txBody>
      </p:sp>
      <p:sp>
        <p:nvSpPr>
          <p:cNvPr id="6" name="Footer Placeholder 5"/>
          <p:cNvSpPr>
            <a:spLocks noGrp="1"/>
          </p:cNvSpPr>
          <p:nvPr>
            <p:ph type="ftr" sz="quarter" idx="11"/>
          </p:nvPr>
        </p:nvSpPr>
        <p:spPr>
          <a:xfrm rot="-60000">
            <a:off x="914569" y="5831037"/>
            <a:ext cx="3319043" cy="365125"/>
          </a:xfrm>
        </p:spPr>
        <p:txBody>
          <a:bodyPr/>
          <a:lstStyle/>
          <a:p>
            <a:endParaRPr lang="en-US"/>
          </a:p>
        </p:txBody>
      </p:sp>
      <p:sp>
        <p:nvSpPr>
          <p:cNvPr id="7" name="Slide Number Placeholder 6"/>
          <p:cNvSpPr>
            <a:spLocks noGrp="1"/>
          </p:cNvSpPr>
          <p:nvPr>
            <p:ph type="sldNum" sz="quarter" idx="12"/>
          </p:nvPr>
        </p:nvSpPr>
        <p:spPr>
          <a:xfrm rot="60000">
            <a:off x="7562089" y="5900026"/>
            <a:ext cx="554023" cy="365125"/>
          </a:xfrm>
        </p:spPr>
        <p:txBody>
          <a:bodyPr/>
          <a:lstStyle/>
          <a:p>
            <a:fld id="{2CC65CF0-959E-4A45-BEBE-B9AB39478CFC}"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C21A397-1D19-4506-955F-BBCE1C33BADA}"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C65CF0-959E-4A45-BEBE-B9AB39478CFC}"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1" y="925690"/>
            <a:ext cx="1430867" cy="4763911"/>
          </a:xfrm>
        </p:spPr>
        <p:txBody>
          <a:bodyPr vert="eaVert"/>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98221" y="1106312"/>
            <a:ext cx="5178779" cy="440266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C21A397-1D19-4506-955F-BBCE1C33BADA}"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C65CF0-959E-4A45-BEBE-B9AB39478CFC}"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15"/>
          <p:cNvGrpSpPr/>
          <p:nvPr/>
        </p:nvGrpSpPr>
        <p:grpSpPr>
          <a:xfrm>
            <a:off x="0" y="0"/>
            <a:ext cx="9144000" cy="6858000"/>
            <a:chOff x="0" y="0"/>
            <a:chExt cx="9144000" cy="6858000"/>
          </a:xfrm>
        </p:grpSpPr>
        <p:sp>
          <p:nvSpPr>
            <p:cNvPr id="8" name="Rectangle 7"/>
            <p:cNvSpPr/>
            <p:nvPr/>
          </p:nvSpPr>
          <p:spPr>
            <a:xfrm>
              <a:off x="0" y="0"/>
              <a:ext cx="7162800" cy="6858000"/>
            </a:xfrm>
            <a:prstGeom prst="rect">
              <a:avLst/>
            </a:prstGeom>
            <a:gradFill flip="none" rotWithShape="1">
              <a:gsLst>
                <a:gs pos="0">
                  <a:srgbClr val="010101">
                    <a:alpha val="51765"/>
                  </a:srgbClr>
                </a:gs>
                <a:gs pos="60000">
                  <a:srgbClr val="FEFEFE">
                    <a:alpha val="0"/>
                  </a:srgb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1143000" y="0"/>
              <a:ext cx="8001000" cy="6858000"/>
            </a:xfrm>
            <a:prstGeom prst="rect">
              <a:avLst/>
            </a:prstGeom>
            <a:gradFill flip="none" rotWithShape="1">
              <a:gsLst>
                <a:gs pos="0">
                  <a:srgbClr val="010101">
                    <a:alpha val="56000"/>
                  </a:srgbClr>
                </a:gs>
                <a:gs pos="61000">
                  <a:srgbClr val="FEFEFE">
                    <a:alpha val="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Freeform 9"/>
          <p:cNvSpPr/>
          <p:nvPr/>
        </p:nvSpPr>
        <p:spPr>
          <a:xfrm rot="10800000">
            <a:off x="628650" y="6069330"/>
            <a:ext cx="7920991" cy="537210"/>
          </a:xfrm>
          <a:custGeom>
            <a:avLst/>
            <a:gdLst>
              <a:gd name="connsiteX0" fmla="*/ 0 w 7955280"/>
              <a:gd name="connsiteY0" fmla="*/ 495300 h 495300"/>
              <a:gd name="connsiteX1" fmla="*/ 169546 w 7955280"/>
              <a:gd name="connsiteY1" fmla="*/ 0 h 495300"/>
              <a:gd name="connsiteX2" fmla="*/ 7785734 w 7955280"/>
              <a:gd name="connsiteY2" fmla="*/ 0 h 495300"/>
              <a:gd name="connsiteX3" fmla="*/ 7955280 w 7955280"/>
              <a:gd name="connsiteY3" fmla="*/ 495300 h 495300"/>
              <a:gd name="connsiteX4" fmla="*/ 0 w 7955280"/>
              <a:gd name="connsiteY4" fmla="*/ 495300 h 495300"/>
              <a:gd name="connsiteX0" fmla="*/ 0 w 7955280"/>
              <a:gd name="connsiteY0" fmla="*/ 495300 h 495300"/>
              <a:gd name="connsiteX1" fmla="*/ 169546 w 7955280"/>
              <a:gd name="connsiteY1" fmla="*/ 0 h 495300"/>
              <a:gd name="connsiteX2" fmla="*/ 3966210 w 7955280"/>
              <a:gd name="connsiteY2" fmla="*/ 95250 h 495300"/>
              <a:gd name="connsiteX3" fmla="*/ 7785734 w 7955280"/>
              <a:gd name="connsiteY3" fmla="*/ 0 h 495300"/>
              <a:gd name="connsiteX4" fmla="*/ 7955280 w 7955280"/>
              <a:gd name="connsiteY4" fmla="*/ 495300 h 495300"/>
              <a:gd name="connsiteX5" fmla="*/ 0 w 7955280"/>
              <a:gd name="connsiteY5" fmla="*/ 495300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55280" h="495300">
                <a:moveTo>
                  <a:pt x="0" y="495300"/>
                </a:moveTo>
                <a:lnTo>
                  <a:pt x="169546" y="0"/>
                </a:lnTo>
                <a:lnTo>
                  <a:pt x="3966210" y="95250"/>
                </a:lnTo>
                <a:lnTo>
                  <a:pt x="7785734" y="0"/>
                </a:lnTo>
                <a:lnTo>
                  <a:pt x="7955280" y="495300"/>
                </a:lnTo>
                <a:lnTo>
                  <a:pt x="0" y="495300"/>
                </a:lnTo>
                <a:close/>
              </a:path>
            </a:pathLst>
          </a:custGeom>
          <a:gradFill flip="none" rotWithShape="1">
            <a:gsLst>
              <a:gs pos="30000">
                <a:srgbClr val="010101">
                  <a:alpha val="34000"/>
                </a:srgbClr>
              </a:gs>
              <a:gs pos="100000">
                <a:srgbClr val="010101">
                  <a:alpha val="26000"/>
                </a:srgbClr>
              </a:gs>
            </a:gsLst>
            <a:path path="circle">
              <a:fillToRect l="50000" t="50000" r="50000" b="50000"/>
            </a:path>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731520" y="575310"/>
            <a:ext cx="7696200" cy="5715000"/>
          </a:xfrm>
          <a:prstGeom prst="rect">
            <a:avLst/>
          </a:prstGeom>
          <a:solidFill>
            <a:schemeClr val="bg1">
              <a:lumMod val="75000"/>
              <a:lumOff val="25000"/>
            </a:schemeClr>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731520" y="576072"/>
            <a:ext cx="7696200" cy="5715000"/>
          </a:xfrm>
          <a:prstGeom prst="rect">
            <a:avLst/>
          </a:prstGeom>
          <a:blipFill dpi="0" rotWithShape="1">
            <a:blip r:embed="rId13" cstate="print">
              <a:alphaModFix amt="20000"/>
              <a:grayscl/>
              <a:lum contrast="12000"/>
            </a:blip>
            <a:srcRect/>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2" descr="C:\Users\Administrator\Desktop\Pushpin Dev\Assets\pushpinLeft.png"/>
          <p:cNvPicPr>
            <a:picLocks noChangeAspect="1" noChangeArrowheads="1"/>
          </p:cNvPicPr>
          <p:nvPr/>
        </p:nvPicPr>
        <p:blipFill>
          <a:blip r:embed="rId14" cstate="print"/>
          <a:srcRect/>
          <a:stretch>
            <a:fillRect/>
          </a:stretch>
        </p:blipFill>
        <p:spPr bwMode="auto">
          <a:xfrm rot="1435684">
            <a:off x="543741" y="273091"/>
            <a:ext cx="567831" cy="567830"/>
          </a:xfrm>
          <a:prstGeom prst="rect">
            <a:avLst/>
          </a:prstGeom>
          <a:noFill/>
        </p:spPr>
      </p:pic>
      <p:pic>
        <p:nvPicPr>
          <p:cNvPr id="14" name="Picture 2" descr="C:\Users\Administrator\Desktop\Pushpin Dev\Assets\pushpinLeft.png"/>
          <p:cNvPicPr>
            <a:picLocks noChangeAspect="1" noChangeArrowheads="1"/>
          </p:cNvPicPr>
          <p:nvPr/>
        </p:nvPicPr>
        <p:blipFill>
          <a:blip r:embed="rId14" cstate="print"/>
          <a:srcRect/>
          <a:stretch>
            <a:fillRect/>
          </a:stretch>
        </p:blipFill>
        <p:spPr bwMode="auto">
          <a:xfrm rot="4096196">
            <a:off x="8115079" y="298163"/>
            <a:ext cx="566928" cy="566928"/>
          </a:xfrm>
          <a:prstGeom prst="rect">
            <a:avLst/>
          </a:prstGeom>
          <a:noFill/>
        </p:spPr>
      </p:pic>
      <p:sp>
        <p:nvSpPr>
          <p:cNvPr id="2" name="Title Placeholder 1"/>
          <p:cNvSpPr>
            <a:spLocks noGrp="1"/>
          </p:cNvSpPr>
          <p:nvPr>
            <p:ph type="title"/>
          </p:nvPr>
        </p:nvSpPr>
        <p:spPr>
          <a:xfrm>
            <a:off x="1095023" y="817582"/>
            <a:ext cx="6965245" cy="1202485"/>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463040" y="2119257"/>
            <a:ext cx="6196405" cy="3603812"/>
          </a:xfrm>
          <a:prstGeom prst="rect">
            <a:avLst/>
          </a:prstGeom>
        </p:spPr>
        <p:txBody>
          <a:bodyPr vert="horz" lIns="91440" tIns="45720" rIns="91440" bIns="45720" rtlCol="0"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454588" y="5809152"/>
            <a:ext cx="1213821" cy="365125"/>
          </a:xfrm>
          <a:prstGeom prst="rect">
            <a:avLst/>
          </a:prstGeom>
        </p:spPr>
        <p:txBody>
          <a:bodyPr vert="horz" lIns="91440" tIns="45720" rIns="91440" bIns="45720" rtlCol="0" anchor="ctr"/>
          <a:lstStyle>
            <a:lvl1pPr algn="r">
              <a:defRPr sz="1200">
                <a:solidFill>
                  <a:schemeClr val="tx2"/>
                </a:solidFill>
                <a:latin typeface="Rage Italic" pitchFamily="66" charset="0"/>
              </a:defRPr>
            </a:lvl1pPr>
          </a:lstStyle>
          <a:p>
            <a:fld id="{9C21A397-1D19-4506-955F-BBCE1C33BADA}" type="datetimeFigureOut">
              <a:rPr lang="en-US" smtClean="0"/>
              <a:t>3/9/2026</a:t>
            </a:fld>
            <a:endParaRPr lang="en-US"/>
          </a:p>
        </p:txBody>
      </p:sp>
      <p:sp>
        <p:nvSpPr>
          <p:cNvPr id="5" name="Footer Placeholder 4"/>
          <p:cNvSpPr>
            <a:spLocks noGrp="1"/>
          </p:cNvSpPr>
          <p:nvPr>
            <p:ph type="ftr" sz="quarter" idx="3"/>
          </p:nvPr>
        </p:nvSpPr>
        <p:spPr>
          <a:xfrm>
            <a:off x="914401" y="5809152"/>
            <a:ext cx="5540188" cy="365125"/>
          </a:xfrm>
          <a:prstGeom prst="rect">
            <a:avLst/>
          </a:prstGeom>
        </p:spPr>
        <p:txBody>
          <a:bodyPr vert="horz" lIns="91440" tIns="45720" rIns="91440" bIns="45720" rtlCol="0" anchor="ctr"/>
          <a:lstStyle>
            <a:lvl1pPr algn="l">
              <a:defRPr sz="1400">
                <a:solidFill>
                  <a:schemeClr val="tx2"/>
                </a:solidFill>
                <a:latin typeface="Rage Italic" pitchFamily="66" charset="0"/>
              </a:defRPr>
            </a:lvl1pPr>
          </a:lstStyle>
          <a:p>
            <a:endParaRPr lang="en-US"/>
          </a:p>
        </p:txBody>
      </p:sp>
      <p:sp>
        <p:nvSpPr>
          <p:cNvPr id="6" name="Slide Number Placeholder 5"/>
          <p:cNvSpPr>
            <a:spLocks noGrp="1"/>
          </p:cNvSpPr>
          <p:nvPr>
            <p:ph type="sldNum" sz="quarter" idx="4"/>
          </p:nvPr>
        </p:nvSpPr>
        <p:spPr>
          <a:xfrm>
            <a:off x="7670202" y="5809152"/>
            <a:ext cx="554023" cy="365125"/>
          </a:xfrm>
          <a:prstGeom prst="rect">
            <a:avLst/>
          </a:prstGeom>
        </p:spPr>
        <p:txBody>
          <a:bodyPr vert="horz" lIns="91440" tIns="45720" rIns="91440" bIns="45720" rtlCol="0" anchor="ctr"/>
          <a:lstStyle>
            <a:lvl1pPr algn="r">
              <a:defRPr sz="1400">
                <a:solidFill>
                  <a:schemeClr val="tx2"/>
                </a:solidFill>
                <a:latin typeface="Rage Italic" pitchFamily="66" charset="0"/>
              </a:defRPr>
            </a:lvl1pPr>
          </a:lstStyle>
          <a:p>
            <a:fld id="{2CC65CF0-959E-4A45-BEBE-B9AB39478CFC}"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2"/>
        </a:buClr>
        <a:buSzPct val="85000"/>
        <a:buFont typeface="Brush Script MT" pitchFamily="66" charset="0"/>
        <a:buChar char="O"/>
        <a:defRPr sz="2400" kern="1200">
          <a:solidFill>
            <a:schemeClr val="tx1"/>
          </a:solidFill>
          <a:latin typeface="+mn-lt"/>
          <a:ea typeface="+mn-ea"/>
          <a:cs typeface="+mn-cs"/>
        </a:defRPr>
      </a:lvl1pPr>
      <a:lvl2pPr marL="640080" indent="-274320" algn="l" defTabSz="914400" rtl="0" eaLnBrk="1" latinLnBrk="0" hangingPunct="1">
        <a:spcBef>
          <a:spcPct val="20000"/>
        </a:spcBef>
        <a:buClr>
          <a:schemeClr val="accent2"/>
        </a:buClr>
        <a:buSzPct val="85000"/>
        <a:buFont typeface="Brush Script MT" pitchFamily="66" charset="0"/>
        <a:buChar char="O"/>
        <a:defRPr sz="2200" kern="1200">
          <a:solidFill>
            <a:schemeClr val="tx1"/>
          </a:solidFill>
          <a:latin typeface="+mn-lt"/>
          <a:ea typeface="+mn-ea"/>
          <a:cs typeface="+mn-cs"/>
        </a:defRPr>
      </a:lvl2pPr>
      <a:lvl3pPr marL="914400" indent="-228600" algn="l" defTabSz="914400" rtl="0" eaLnBrk="1" latinLnBrk="0" hangingPunct="1">
        <a:spcBef>
          <a:spcPct val="20000"/>
        </a:spcBef>
        <a:buClr>
          <a:schemeClr val="accent2"/>
        </a:buClr>
        <a:buSzPct val="85000"/>
        <a:buFont typeface="Brush Script MT" pitchFamily="66" charset="0"/>
        <a:buChar char="O"/>
        <a:defRPr sz="2000" kern="1200">
          <a:solidFill>
            <a:schemeClr val="tx1"/>
          </a:solidFill>
          <a:latin typeface="+mn-lt"/>
          <a:ea typeface="+mn-ea"/>
          <a:cs typeface="+mn-cs"/>
        </a:defRPr>
      </a:lvl3pPr>
      <a:lvl4pPr marL="1280160" indent="-228600" algn="l" defTabSz="914400" rtl="0" eaLnBrk="1" latinLnBrk="0" hangingPunct="1">
        <a:spcBef>
          <a:spcPct val="20000"/>
        </a:spcBef>
        <a:buClr>
          <a:schemeClr val="accent2"/>
        </a:buClr>
        <a:buSzPct val="85000"/>
        <a:buFont typeface="Brush Script MT" pitchFamily="66" charset="0"/>
        <a:buChar char="O"/>
        <a:defRPr sz="1800" kern="1200">
          <a:solidFill>
            <a:schemeClr val="tx1"/>
          </a:solidFill>
          <a:latin typeface="+mn-lt"/>
          <a:ea typeface="+mn-ea"/>
          <a:cs typeface="+mn-cs"/>
        </a:defRPr>
      </a:lvl4pPr>
      <a:lvl5pPr marL="1645920" indent="-228600" algn="l" defTabSz="914400" rtl="0" eaLnBrk="1" latinLnBrk="0" hangingPunct="1">
        <a:spcBef>
          <a:spcPct val="20000"/>
        </a:spcBef>
        <a:buClr>
          <a:schemeClr val="accent2"/>
        </a:buClr>
        <a:buSzPct val="85000"/>
        <a:buFont typeface="Brush Script MT" pitchFamily="66" charset="0"/>
        <a:buChar char="O"/>
        <a:defRPr sz="1600" kern="1200">
          <a:solidFill>
            <a:schemeClr val="tx1"/>
          </a:solidFill>
          <a:latin typeface="+mn-lt"/>
          <a:ea typeface="+mn-ea"/>
          <a:cs typeface="+mn-cs"/>
        </a:defRPr>
      </a:lvl5pPr>
      <a:lvl6pPr marL="2011680" indent="-228600" algn="l" defTabSz="914400" rtl="0" eaLnBrk="1" latinLnBrk="0" hangingPunct="1">
        <a:spcBef>
          <a:spcPct val="20000"/>
        </a:spcBef>
        <a:buClr>
          <a:schemeClr val="accent2"/>
        </a:buClr>
        <a:buSzPct val="85000"/>
        <a:buFont typeface="Brush Script MT" pitchFamily="66" charset="0"/>
        <a:buChar char="O"/>
        <a:defRPr sz="1600" kern="1200">
          <a:solidFill>
            <a:schemeClr val="tx1"/>
          </a:solidFill>
          <a:latin typeface="+mn-lt"/>
          <a:ea typeface="+mn-ea"/>
          <a:cs typeface="+mn-cs"/>
        </a:defRPr>
      </a:lvl6pPr>
      <a:lvl7pPr marL="2377440" indent="-228600" algn="l" defTabSz="914400" rtl="0" eaLnBrk="1" latinLnBrk="0" hangingPunct="1">
        <a:spcBef>
          <a:spcPct val="20000"/>
        </a:spcBef>
        <a:buClr>
          <a:schemeClr val="accent2"/>
        </a:buClr>
        <a:buSzPct val="85000"/>
        <a:buFont typeface="Brush Script MT" pitchFamily="66" charset="0"/>
        <a:buChar char="O"/>
        <a:defRPr sz="1600" kern="1200">
          <a:solidFill>
            <a:schemeClr val="tx1"/>
          </a:solidFill>
          <a:latin typeface="+mn-lt"/>
          <a:ea typeface="+mn-ea"/>
          <a:cs typeface="+mn-cs"/>
        </a:defRPr>
      </a:lvl7pPr>
      <a:lvl8pPr marL="2743200" indent="-228600" algn="l" defTabSz="914400" rtl="0" eaLnBrk="1" latinLnBrk="0" hangingPunct="1">
        <a:spcBef>
          <a:spcPct val="20000"/>
        </a:spcBef>
        <a:buClr>
          <a:schemeClr val="accent2"/>
        </a:buClr>
        <a:buSzPct val="85000"/>
        <a:buFont typeface="Brush Script MT" pitchFamily="66" charset="0"/>
        <a:buChar char="O"/>
        <a:defRPr sz="1600" kern="1200">
          <a:solidFill>
            <a:schemeClr val="tx1"/>
          </a:solidFill>
          <a:latin typeface="+mn-lt"/>
          <a:ea typeface="+mn-ea"/>
          <a:cs typeface="+mn-cs"/>
        </a:defRPr>
      </a:lvl8pPr>
      <a:lvl9pPr marL="3108960" indent="-228600" algn="l" defTabSz="914400" rtl="0" eaLnBrk="1" latinLnBrk="0" hangingPunct="1">
        <a:spcBef>
          <a:spcPct val="20000"/>
        </a:spcBef>
        <a:buClr>
          <a:schemeClr val="accent2"/>
        </a:buClr>
        <a:buSzPct val="85000"/>
        <a:buFont typeface="Brush Script MT" pitchFamily="66" charset="0"/>
        <a:buChar char="O"/>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MACHINE LEARNING</a:t>
            </a:r>
            <a:endParaRPr lang="en-US" dirty="0"/>
          </a:p>
        </p:txBody>
      </p:sp>
      <p:sp>
        <p:nvSpPr>
          <p:cNvPr id="3" name="Subtitle 2"/>
          <p:cNvSpPr>
            <a:spLocks noGrp="1"/>
          </p:cNvSpPr>
          <p:nvPr>
            <p:ph type="subTitle" idx="1"/>
          </p:nvPr>
        </p:nvSpPr>
        <p:spPr/>
        <p:txBody>
          <a:bodyPr/>
          <a:lstStyle/>
          <a:p>
            <a:r>
              <a:rPr lang="en-US" b="1" dirty="0"/>
              <a:t>INTRODUCTION TO MACHINE </a:t>
            </a:r>
            <a:r>
              <a:rPr lang="en-US" b="1" dirty="0" smtClean="0"/>
              <a:t>LEARNING</a:t>
            </a:r>
          </a:p>
          <a:p>
            <a:r>
              <a:rPr lang="en-US" b="1" smtClean="0"/>
              <a:t>ENG W</a:t>
            </a:r>
            <a:r>
              <a:rPr lang="en-US" b="1" dirty="0"/>
              <a:t>. </a:t>
            </a:r>
            <a:r>
              <a:rPr lang="en-US" b="1"/>
              <a:t>T HOVE</a:t>
            </a:r>
          </a:p>
          <a:p>
            <a:endParaRPr lang="en-US" dirty="0"/>
          </a:p>
        </p:txBody>
      </p:sp>
    </p:spTree>
    <p:extLst>
      <p:ext uri="{BB962C8B-B14F-4D97-AF65-F5344CB8AC3E}">
        <p14:creationId xmlns:p14="http://schemas.microsoft.com/office/powerpoint/2010/main" val="280585163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1.Introduction</a:t>
            </a:r>
            <a:endParaRPr lang="en-US" b="1" dirty="0"/>
          </a:p>
        </p:txBody>
      </p:sp>
      <p:sp>
        <p:nvSpPr>
          <p:cNvPr id="3" name="Content Placeholder 2"/>
          <p:cNvSpPr>
            <a:spLocks noGrp="1"/>
          </p:cNvSpPr>
          <p:nvPr>
            <p:ph idx="1"/>
          </p:nvPr>
        </p:nvSpPr>
        <p:spPr>
          <a:xfrm>
            <a:off x="762000" y="2119256"/>
            <a:ext cx="7620000" cy="4129143"/>
          </a:xfrm>
        </p:spPr>
        <p:txBody>
          <a:bodyPr>
            <a:normAutofit lnSpcReduction="10000"/>
          </a:bodyPr>
          <a:lstStyle/>
          <a:p>
            <a:pPr marL="0" indent="0">
              <a:buNone/>
            </a:pPr>
            <a:r>
              <a:rPr lang="en-US" dirty="0" smtClean="0"/>
              <a:t> </a:t>
            </a:r>
            <a:r>
              <a:rPr lang="en-US" b="1" dirty="0" smtClean="0"/>
              <a:t>1.1 What Is Machine Learning?</a:t>
            </a:r>
          </a:p>
          <a:p>
            <a:pPr algn="just"/>
            <a:r>
              <a:rPr lang="en-US" dirty="0" smtClean="0"/>
              <a:t>Machine </a:t>
            </a:r>
            <a:r>
              <a:rPr lang="en-US" dirty="0"/>
              <a:t>learning is programming computers to optimize a performance criterion using example data or past experience. </a:t>
            </a:r>
            <a:endParaRPr lang="en-US" dirty="0" smtClean="0"/>
          </a:p>
          <a:p>
            <a:pPr algn="just"/>
            <a:r>
              <a:rPr lang="en-US" dirty="0" smtClean="0"/>
              <a:t>We </a:t>
            </a:r>
            <a:r>
              <a:rPr lang="en-US" dirty="0"/>
              <a:t>have a model defined up to some parameters, and learning is the execution of a computer program to optimize the parameters of the model using the training data or past experience. </a:t>
            </a:r>
            <a:endParaRPr lang="en-US" dirty="0" smtClean="0"/>
          </a:p>
          <a:p>
            <a:pPr algn="just"/>
            <a:r>
              <a:rPr lang="en-US" dirty="0" smtClean="0"/>
              <a:t>The </a:t>
            </a:r>
            <a:r>
              <a:rPr lang="en-US" dirty="0"/>
              <a:t>model may be predictive to make predictions in the future, or descriptive to gain knowledge from data, or both.</a:t>
            </a:r>
          </a:p>
        </p:txBody>
      </p:sp>
    </p:spTree>
    <p:extLst>
      <p:ext uri="{BB962C8B-B14F-4D97-AF65-F5344CB8AC3E}">
        <p14:creationId xmlns:p14="http://schemas.microsoft.com/office/powerpoint/2010/main" val="8772675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indent="0"/>
            <a:r>
              <a:rPr lang="en-US" b="1" dirty="0"/>
              <a:t>What Is Machine Learning?</a:t>
            </a:r>
          </a:p>
        </p:txBody>
      </p:sp>
      <p:sp>
        <p:nvSpPr>
          <p:cNvPr id="3" name="Content Placeholder 2"/>
          <p:cNvSpPr>
            <a:spLocks noGrp="1"/>
          </p:cNvSpPr>
          <p:nvPr>
            <p:ph idx="1"/>
          </p:nvPr>
        </p:nvSpPr>
        <p:spPr>
          <a:xfrm>
            <a:off x="762000" y="2119256"/>
            <a:ext cx="7620000" cy="4129143"/>
          </a:xfrm>
        </p:spPr>
        <p:txBody>
          <a:bodyPr>
            <a:normAutofit/>
          </a:bodyPr>
          <a:lstStyle/>
          <a:p>
            <a:pPr algn="just"/>
            <a:r>
              <a:rPr lang="en-US" dirty="0"/>
              <a:t>Arthur Samuel, an early American leader in the field of computer gaming and artificial intelligence, coined the term “Machine Learning” in 1959 while at IBM. </a:t>
            </a:r>
            <a:endParaRPr lang="en-US" dirty="0" smtClean="0"/>
          </a:p>
          <a:p>
            <a:pPr algn="just"/>
            <a:r>
              <a:rPr lang="en-US" dirty="0" smtClean="0"/>
              <a:t>He </a:t>
            </a:r>
            <a:r>
              <a:rPr lang="en-US" dirty="0"/>
              <a:t>defined machine learning as “the field of study that gives computers the ability to learn without being explicitly programmed.” </a:t>
            </a:r>
            <a:endParaRPr lang="en-US" dirty="0" smtClean="0"/>
          </a:p>
          <a:p>
            <a:pPr algn="just"/>
            <a:r>
              <a:rPr lang="en-US" dirty="0" smtClean="0"/>
              <a:t>However</a:t>
            </a:r>
            <a:r>
              <a:rPr lang="en-US" dirty="0"/>
              <a:t>, there is no universally accepted definition for machine learning. Different authors define the term differently.</a:t>
            </a:r>
          </a:p>
        </p:txBody>
      </p:sp>
    </p:spTree>
    <p:extLst>
      <p:ext uri="{BB962C8B-B14F-4D97-AF65-F5344CB8AC3E}">
        <p14:creationId xmlns:p14="http://schemas.microsoft.com/office/powerpoint/2010/main" val="79677270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indent="0"/>
            <a:r>
              <a:rPr lang="en-US" b="1" dirty="0"/>
              <a:t>What Is Machine Learning?</a:t>
            </a:r>
          </a:p>
        </p:txBody>
      </p:sp>
      <p:sp>
        <p:nvSpPr>
          <p:cNvPr id="3" name="Content Placeholder 2"/>
          <p:cNvSpPr>
            <a:spLocks noGrp="1"/>
          </p:cNvSpPr>
          <p:nvPr>
            <p:ph idx="1"/>
          </p:nvPr>
        </p:nvSpPr>
        <p:spPr>
          <a:xfrm>
            <a:off x="762000" y="2119256"/>
            <a:ext cx="7620000" cy="4205343"/>
          </a:xfrm>
        </p:spPr>
        <p:txBody>
          <a:bodyPr/>
          <a:lstStyle/>
          <a:p>
            <a:pPr marL="0" indent="0">
              <a:buNone/>
            </a:pPr>
            <a:r>
              <a:rPr lang="en-US" b="1" dirty="0"/>
              <a:t>Definition of learning </a:t>
            </a:r>
            <a:r>
              <a:rPr lang="en-US" b="1" dirty="0" smtClean="0"/>
              <a:t> </a:t>
            </a:r>
          </a:p>
          <a:p>
            <a:r>
              <a:rPr lang="en-US" dirty="0" smtClean="0"/>
              <a:t>A </a:t>
            </a:r>
            <a:r>
              <a:rPr lang="en-US" dirty="0"/>
              <a:t>computer program is said to learn from experience E with respect to some class of tasks T and performance measure P, if its performance at tasks T, as measured by P, improves with experience E.</a:t>
            </a:r>
          </a:p>
        </p:txBody>
      </p:sp>
    </p:spTree>
    <p:extLst>
      <p:ext uri="{BB962C8B-B14F-4D97-AF65-F5344CB8AC3E}">
        <p14:creationId xmlns:p14="http://schemas.microsoft.com/office/powerpoint/2010/main" val="274354314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indent="0"/>
            <a:r>
              <a:rPr lang="en-US" b="1" dirty="0"/>
              <a:t>What Is Machine Learning?</a:t>
            </a:r>
          </a:p>
        </p:txBody>
      </p:sp>
      <p:sp>
        <p:nvSpPr>
          <p:cNvPr id="3" name="Content Placeholder 2"/>
          <p:cNvSpPr>
            <a:spLocks noGrp="1"/>
          </p:cNvSpPr>
          <p:nvPr>
            <p:ph idx="1"/>
          </p:nvPr>
        </p:nvSpPr>
        <p:spPr>
          <a:xfrm>
            <a:off x="762000" y="2119256"/>
            <a:ext cx="7620000" cy="4129143"/>
          </a:xfrm>
        </p:spPr>
        <p:txBody>
          <a:bodyPr>
            <a:normAutofit fontScale="62500" lnSpcReduction="20000"/>
          </a:bodyPr>
          <a:lstStyle/>
          <a:p>
            <a:pPr marL="0" indent="0" algn="just">
              <a:buNone/>
            </a:pPr>
            <a:r>
              <a:rPr lang="en-US" b="1" dirty="0" smtClean="0"/>
              <a:t>Examples</a:t>
            </a:r>
          </a:p>
          <a:p>
            <a:pPr algn="just"/>
            <a:r>
              <a:rPr lang="en-US" b="1" dirty="0" smtClean="0"/>
              <a:t>Handwriting </a:t>
            </a:r>
            <a:r>
              <a:rPr lang="en-US" b="1" dirty="0"/>
              <a:t>recognition learning problem </a:t>
            </a:r>
            <a:endParaRPr lang="en-US" b="1" dirty="0" smtClean="0"/>
          </a:p>
          <a:p>
            <a:pPr algn="just">
              <a:buFont typeface="Wingdings" pitchFamily="2" charset="2"/>
              <a:buChar char="§"/>
            </a:pPr>
            <a:r>
              <a:rPr lang="en-US" b="1" dirty="0" smtClean="0"/>
              <a:t>Task </a:t>
            </a:r>
            <a:r>
              <a:rPr lang="en-US" b="1" dirty="0"/>
              <a:t>T</a:t>
            </a:r>
            <a:r>
              <a:rPr lang="en-US" b="1"/>
              <a:t>:</a:t>
            </a:r>
            <a:r>
              <a:rPr lang="en-US"/>
              <a:t> </a:t>
            </a:r>
            <a:r>
              <a:rPr lang="en-US" smtClean="0"/>
              <a:t>Recognizing </a:t>
            </a:r>
            <a:r>
              <a:rPr lang="en-US" dirty="0"/>
              <a:t>and classifying handwritten words within images </a:t>
            </a:r>
            <a:endParaRPr lang="en-US" dirty="0" smtClean="0"/>
          </a:p>
          <a:p>
            <a:pPr algn="just">
              <a:buFont typeface="Wingdings" pitchFamily="2" charset="2"/>
              <a:buChar char="§"/>
            </a:pPr>
            <a:r>
              <a:rPr lang="en-US" b="1" dirty="0" smtClean="0"/>
              <a:t>Performance </a:t>
            </a:r>
            <a:r>
              <a:rPr lang="en-US" b="1" dirty="0"/>
              <a:t>P:</a:t>
            </a:r>
            <a:r>
              <a:rPr lang="en-US" dirty="0"/>
              <a:t> Percent of words correctly </a:t>
            </a:r>
            <a:r>
              <a:rPr lang="en-US" dirty="0" smtClean="0"/>
              <a:t>classified</a:t>
            </a:r>
          </a:p>
          <a:p>
            <a:pPr algn="just">
              <a:buFont typeface="Wingdings" pitchFamily="2" charset="2"/>
              <a:buChar char="§"/>
            </a:pPr>
            <a:r>
              <a:rPr lang="en-US" b="1" dirty="0" smtClean="0"/>
              <a:t>Training </a:t>
            </a:r>
            <a:r>
              <a:rPr lang="en-US" b="1" dirty="0"/>
              <a:t>experience E</a:t>
            </a:r>
            <a:r>
              <a:rPr lang="en-US" dirty="0"/>
              <a:t>: A dataset of handwritten words with given classifications </a:t>
            </a:r>
            <a:endParaRPr lang="en-US" dirty="0" smtClean="0"/>
          </a:p>
          <a:p>
            <a:pPr algn="just"/>
            <a:r>
              <a:rPr lang="en-US" b="1" dirty="0" smtClean="0"/>
              <a:t>A </a:t>
            </a:r>
            <a:r>
              <a:rPr lang="en-US" b="1" dirty="0"/>
              <a:t>robot driving learning problem </a:t>
            </a:r>
            <a:r>
              <a:rPr lang="en-US" dirty="0" smtClean="0"/>
              <a:t>•</a:t>
            </a:r>
          </a:p>
          <a:p>
            <a:pPr algn="just">
              <a:buFont typeface="Wingdings" pitchFamily="2" charset="2"/>
              <a:buChar char="§"/>
            </a:pPr>
            <a:r>
              <a:rPr lang="en-US" dirty="0" smtClean="0"/>
              <a:t>Task </a:t>
            </a:r>
            <a:r>
              <a:rPr lang="en-US" dirty="0"/>
              <a:t>T: Driving on highways using vision sensors </a:t>
            </a:r>
            <a:endParaRPr lang="en-US" dirty="0" smtClean="0"/>
          </a:p>
          <a:p>
            <a:pPr algn="just">
              <a:buFont typeface="Wingdings" pitchFamily="2" charset="2"/>
              <a:buChar char="§"/>
            </a:pPr>
            <a:r>
              <a:rPr lang="en-US" dirty="0" smtClean="0"/>
              <a:t>Performance </a:t>
            </a:r>
            <a:r>
              <a:rPr lang="en-US" dirty="0"/>
              <a:t>measure P: Average distance traveled before an error </a:t>
            </a:r>
            <a:endParaRPr lang="en-US" dirty="0" smtClean="0"/>
          </a:p>
          <a:p>
            <a:pPr algn="just">
              <a:buFont typeface="Wingdings" pitchFamily="2" charset="2"/>
              <a:buChar char="§"/>
            </a:pPr>
            <a:r>
              <a:rPr lang="en-US" dirty="0" smtClean="0"/>
              <a:t>Training </a:t>
            </a:r>
            <a:r>
              <a:rPr lang="en-US" dirty="0"/>
              <a:t>experience: A sequence of images and steering commands recorded while observing a human driver </a:t>
            </a:r>
            <a:endParaRPr lang="en-US" dirty="0" smtClean="0"/>
          </a:p>
          <a:p>
            <a:pPr algn="just"/>
            <a:r>
              <a:rPr lang="en-US" b="1" dirty="0" smtClean="0"/>
              <a:t>A </a:t>
            </a:r>
            <a:r>
              <a:rPr lang="en-US" b="1" dirty="0"/>
              <a:t>chess learning problem </a:t>
            </a:r>
            <a:r>
              <a:rPr lang="en-US" dirty="0" smtClean="0"/>
              <a:t>•</a:t>
            </a:r>
          </a:p>
          <a:p>
            <a:pPr algn="just">
              <a:buFont typeface="Wingdings" pitchFamily="2" charset="2"/>
              <a:buChar char="§"/>
            </a:pPr>
            <a:r>
              <a:rPr lang="en-US" dirty="0" smtClean="0"/>
              <a:t> </a:t>
            </a:r>
            <a:r>
              <a:rPr lang="en-US" dirty="0"/>
              <a:t>Task T: Playing chess </a:t>
            </a:r>
            <a:endParaRPr lang="en-US" dirty="0" smtClean="0"/>
          </a:p>
          <a:p>
            <a:pPr algn="just">
              <a:buFont typeface="Wingdings" pitchFamily="2" charset="2"/>
              <a:buChar char="§"/>
            </a:pPr>
            <a:r>
              <a:rPr lang="en-US" dirty="0" smtClean="0"/>
              <a:t> </a:t>
            </a:r>
            <a:r>
              <a:rPr lang="en-US" dirty="0"/>
              <a:t>Performance measure P: Percent of games won against opponents </a:t>
            </a:r>
            <a:endParaRPr lang="en-US" dirty="0" smtClean="0"/>
          </a:p>
          <a:p>
            <a:pPr algn="just">
              <a:buFont typeface="Wingdings" pitchFamily="2" charset="2"/>
              <a:buChar char="§"/>
            </a:pPr>
            <a:r>
              <a:rPr lang="en-US" dirty="0" smtClean="0"/>
              <a:t>Training </a:t>
            </a:r>
            <a:r>
              <a:rPr lang="en-US" dirty="0"/>
              <a:t>experience E: Playing practice games against </a:t>
            </a:r>
            <a:r>
              <a:rPr lang="en-US" dirty="0" smtClean="0"/>
              <a:t>itself</a:t>
            </a:r>
          </a:p>
          <a:p>
            <a:pPr marL="0" indent="0" algn="just">
              <a:buNone/>
            </a:pPr>
            <a:r>
              <a:rPr lang="en-US" b="1" dirty="0"/>
              <a:t>Definition</a:t>
            </a:r>
            <a:r>
              <a:rPr lang="en-US" dirty="0"/>
              <a:t> </a:t>
            </a:r>
            <a:endParaRPr lang="en-US" dirty="0" smtClean="0"/>
          </a:p>
          <a:p>
            <a:pPr algn="just"/>
            <a:r>
              <a:rPr lang="en-US" dirty="0" smtClean="0"/>
              <a:t>A </a:t>
            </a:r>
            <a:r>
              <a:rPr lang="en-US" dirty="0"/>
              <a:t>computer program which learns from experience is called a machine learning program or simply a learning program. Such a program is sometimes also referred to as a learner. </a:t>
            </a:r>
          </a:p>
        </p:txBody>
      </p:sp>
    </p:spTree>
    <p:extLst>
      <p:ext uri="{BB962C8B-B14F-4D97-AF65-F5344CB8AC3E}">
        <p14:creationId xmlns:p14="http://schemas.microsoft.com/office/powerpoint/2010/main" val="295824056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1.2 Components </a:t>
            </a:r>
            <a:r>
              <a:rPr lang="en-US" b="1" dirty="0"/>
              <a:t>of Learning </a:t>
            </a:r>
          </a:p>
        </p:txBody>
      </p:sp>
      <p:sp>
        <p:nvSpPr>
          <p:cNvPr id="3" name="Content Placeholder 2"/>
          <p:cNvSpPr>
            <a:spLocks noGrp="1"/>
          </p:cNvSpPr>
          <p:nvPr>
            <p:ph idx="1"/>
          </p:nvPr>
        </p:nvSpPr>
        <p:spPr>
          <a:xfrm>
            <a:off x="762000" y="2119256"/>
            <a:ext cx="7620000" cy="4129143"/>
          </a:xfrm>
        </p:spPr>
        <p:txBody>
          <a:bodyPr>
            <a:normAutofit fontScale="92500" lnSpcReduction="10000"/>
          </a:bodyPr>
          <a:lstStyle/>
          <a:p>
            <a:pPr marL="0" indent="0">
              <a:buNone/>
            </a:pPr>
            <a:r>
              <a:rPr lang="en-US" b="1" dirty="0"/>
              <a:t>Basic components of learning process </a:t>
            </a:r>
            <a:endParaRPr lang="en-US" b="1" dirty="0" smtClean="0"/>
          </a:p>
          <a:p>
            <a:pPr algn="just"/>
            <a:r>
              <a:rPr lang="en-US" dirty="0" smtClean="0"/>
              <a:t>The </a:t>
            </a:r>
            <a:r>
              <a:rPr lang="en-US" dirty="0"/>
              <a:t>learning process, whether by a human or a machine, can be divided into four components, namely, </a:t>
            </a:r>
            <a:r>
              <a:rPr lang="en-US" b="1" dirty="0"/>
              <a:t>data storage, abstraction, generalization and evaluation. </a:t>
            </a:r>
            <a:endParaRPr lang="en-US" b="1" dirty="0" smtClean="0"/>
          </a:p>
          <a:p>
            <a:pPr algn="just"/>
            <a:endParaRPr lang="en-US" b="1" dirty="0" smtClean="0"/>
          </a:p>
          <a:p>
            <a:pPr algn="just"/>
            <a:endParaRPr lang="en-US" b="1" dirty="0"/>
          </a:p>
          <a:p>
            <a:pPr algn="just"/>
            <a:endParaRPr lang="en-US" b="1" dirty="0" smtClean="0"/>
          </a:p>
          <a:p>
            <a:pPr algn="just"/>
            <a:endParaRPr lang="en-US" b="1" dirty="0"/>
          </a:p>
          <a:p>
            <a:pPr algn="just"/>
            <a:endParaRPr lang="en-US" b="1" dirty="0" smtClean="0"/>
          </a:p>
          <a:p>
            <a:pPr algn="just"/>
            <a:endParaRPr lang="en-US" b="1" dirty="0"/>
          </a:p>
          <a:p>
            <a:pPr algn="ctr"/>
            <a:r>
              <a:rPr lang="en-US" b="1" dirty="0" smtClean="0"/>
              <a:t>Figure 1.1: Components of Learning Process</a:t>
            </a:r>
            <a:endParaRPr lang="en-US" b="1" dirty="0"/>
          </a:p>
          <a:p>
            <a:pPr algn="just"/>
            <a:endParaRPr lang="en-US" b="1" dirty="0" smtClean="0"/>
          </a:p>
          <a:p>
            <a:pPr algn="just"/>
            <a:endParaRPr lang="en-US" b="1"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4970" y="3505200"/>
            <a:ext cx="6413630"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3637966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Components of Learning </a:t>
            </a:r>
            <a:endParaRPr lang="en-US" dirty="0"/>
          </a:p>
        </p:txBody>
      </p:sp>
      <p:sp>
        <p:nvSpPr>
          <p:cNvPr id="3" name="Content Placeholder 2"/>
          <p:cNvSpPr>
            <a:spLocks noGrp="1"/>
          </p:cNvSpPr>
          <p:nvPr>
            <p:ph idx="1"/>
          </p:nvPr>
        </p:nvSpPr>
        <p:spPr>
          <a:xfrm>
            <a:off x="762000" y="2119256"/>
            <a:ext cx="7620000" cy="4281543"/>
          </a:xfrm>
        </p:spPr>
        <p:txBody>
          <a:bodyPr>
            <a:normAutofit fontScale="92500"/>
          </a:bodyPr>
          <a:lstStyle/>
          <a:p>
            <a:pPr marL="0" indent="0" algn="just">
              <a:buNone/>
            </a:pPr>
            <a:r>
              <a:rPr lang="en-US" b="1" dirty="0"/>
              <a:t>1. Data storage </a:t>
            </a:r>
            <a:endParaRPr lang="en-US" b="1" dirty="0" smtClean="0"/>
          </a:p>
          <a:p>
            <a:pPr algn="just"/>
            <a:r>
              <a:rPr lang="en-US" dirty="0" smtClean="0"/>
              <a:t>Facilities </a:t>
            </a:r>
            <a:r>
              <a:rPr lang="en-US" dirty="0"/>
              <a:t>for storing and retrieving huge amounts of data are an important component of the learning process. </a:t>
            </a:r>
            <a:endParaRPr lang="en-US" dirty="0" smtClean="0"/>
          </a:p>
          <a:p>
            <a:pPr algn="just"/>
            <a:r>
              <a:rPr lang="en-US" dirty="0" smtClean="0"/>
              <a:t>Humans </a:t>
            </a:r>
            <a:r>
              <a:rPr lang="en-US" dirty="0"/>
              <a:t>and computers alike utilize data storage as a foundation for advanced reasoning. </a:t>
            </a:r>
            <a:endParaRPr lang="en-US" dirty="0" smtClean="0"/>
          </a:p>
          <a:p>
            <a:pPr algn="just">
              <a:buFont typeface="Wingdings" pitchFamily="2" charset="2"/>
              <a:buChar char="§"/>
            </a:pPr>
            <a:r>
              <a:rPr lang="en-US" dirty="0" smtClean="0"/>
              <a:t>In </a:t>
            </a:r>
            <a:r>
              <a:rPr lang="en-US" dirty="0"/>
              <a:t>a human being, the data is stored in the brain and data is retrieved using electrochemical signals. </a:t>
            </a:r>
            <a:endParaRPr lang="en-US" dirty="0" smtClean="0"/>
          </a:p>
          <a:p>
            <a:pPr algn="just">
              <a:buFont typeface="Wingdings" pitchFamily="2" charset="2"/>
              <a:buChar char="§"/>
            </a:pPr>
            <a:r>
              <a:rPr lang="en-US" dirty="0" smtClean="0"/>
              <a:t>•Computers </a:t>
            </a:r>
            <a:r>
              <a:rPr lang="en-US" dirty="0"/>
              <a:t>use hard disk drives, flash memory, random access memory and similar devices to store data and use cables and other technology to retrieve data.</a:t>
            </a:r>
          </a:p>
        </p:txBody>
      </p:sp>
    </p:spTree>
    <p:extLst>
      <p:ext uri="{BB962C8B-B14F-4D97-AF65-F5344CB8AC3E}">
        <p14:creationId xmlns:p14="http://schemas.microsoft.com/office/powerpoint/2010/main" val="114322341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Components of Learning </a:t>
            </a:r>
            <a:endParaRPr lang="en-US" dirty="0"/>
          </a:p>
        </p:txBody>
      </p:sp>
      <p:sp>
        <p:nvSpPr>
          <p:cNvPr id="3" name="Content Placeholder 2"/>
          <p:cNvSpPr>
            <a:spLocks noGrp="1"/>
          </p:cNvSpPr>
          <p:nvPr>
            <p:ph idx="1"/>
          </p:nvPr>
        </p:nvSpPr>
        <p:spPr>
          <a:xfrm>
            <a:off x="762000" y="2119256"/>
            <a:ext cx="7620000" cy="4129143"/>
          </a:xfrm>
        </p:spPr>
        <p:txBody>
          <a:bodyPr>
            <a:normAutofit fontScale="85000" lnSpcReduction="10000"/>
          </a:bodyPr>
          <a:lstStyle/>
          <a:p>
            <a:pPr marL="0" indent="0">
              <a:buNone/>
            </a:pPr>
            <a:r>
              <a:rPr lang="en-US" b="1" dirty="0"/>
              <a:t>2. Abstraction </a:t>
            </a:r>
            <a:endParaRPr lang="en-US" b="1" dirty="0" smtClean="0"/>
          </a:p>
          <a:p>
            <a:r>
              <a:rPr lang="en-US" dirty="0" smtClean="0"/>
              <a:t>The </a:t>
            </a:r>
            <a:r>
              <a:rPr lang="en-US" dirty="0"/>
              <a:t>second component of the learning process is known as abstraction. </a:t>
            </a:r>
            <a:endParaRPr lang="en-US" dirty="0" smtClean="0"/>
          </a:p>
          <a:p>
            <a:r>
              <a:rPr lang="en-US" dirty="0" smtClean="0"/>
              <a:t>Abstraction </a:t>
            </a:r>
            <a:r>
              <a:rPr lang="en-US" dirty="0"/>
              <a:t>is the process of extracting knowledge about stored data. </a:t>
            </a:r>
            <a:endParaRPr lang="en-US" dirty="0" smtClean="0"/>
          </a:p>
          <a:p>
            <a:r>
              <a:rPr lang="en-US" dirty="0" smtClean="0"/>
              <a:t>This </a:t>
            </a:r>
            <a:r>
              <a:rPr lang="en-US" dirty="0"/>
              <a:t>involves creating general concepts about the data as a whole. </a:t>
            </a:r>
            <a:endParaRPr lang="en-US" dirty="0" smtClean="0"/>
          </a:p>
          <a:p>
            <a:r>
              <a:rPr lang="en-US" dirty="0" smtClean="0"/>
              <a:t>The </a:t>
            </a:r>
            <a:r>
              <a:rPr lang="en-US" dirty="0"/>
              <a:t>creation of knowledge involves application of known models and creation of new models. </a:t>
            </a:r>
            <a:endParaRPr lang="en-US" dirty="0" smtClean="0"/>
          </a:p>
          <a:p>
            <a:r>
              <a:rPr lang="en-US" dirty="0" smtClean="0"/>
              <a:t>The </a:t>
            </a:r>
            <a:r>
              <a:rPr lang="en-US" dirty="0"/>
              <a:t>process of fitting a model to a dataset is known as training. </a:t>
            </a:r>
            <a:endParaRPr lang="en-US" dirty="0" smtClean="0"/>
          </a:p>
          <a:p>
            <a:r>
              <a:rPr lang="en-US" dirty="0" smtClean="0"/>
              <a:t>When </a:t>
            </a:r>
            <a:r>
              <a:rPr lang="en-US" dirty="0"/>
              <a:t>the model has been trained, the data is transformed into an abstract form that summarizes the original information. </a:t>
            </a:r>
          </a:p>
        </p:txBody>
      </p:sp>
    </p:spTree>
    <p:extLst>
      <p:ext uri="{BB962C8B-B14F-4D97-AF65-F5344CB8AC3E}">
        <p14:creationId xmlns:p14="http://schemas.microsoft.com/office/powerpoint/2010/main" val="307791307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Components of Learning </a:t>
            </a:r>
            <a:endParaRPr lang="en-US" dirty="0"/>
          </a:p>
        </p:txBody>
      </p:sp>
      <p:sp>
        <p:nvSpPr>
          <p:cNvPr id="3" name="Content Placeholder 2"/>
          <p:cNvSpPr>
            <a:spLocks noGrp="1"/>
          </p:cNvSpPr>
          <p:nvPr>
            <p:ph idx="1"/>
          </p:nvPr>
        </p:nvSpPr>
        <p:spPr>
          <a:xfrm>
            <a:off x="762000" y="2119256"/>
            <a:ext cx="7620000" cy="4129143"/>
          </a:xfrm>
        </p:spPr>
        <p:txBody>
          <a:bodyPr>
            <a:normAutofit fontScale="92500"/>
          </a:bodyPr>
          <a:lstStyle/>
          <a:p>
            <a:pPr marL="0" indent="0">
              <a:buNone/>
            </a:pPr>
            <a:r>
              <a:rPr lang="en-US" b="1" dirty="0"/>
              <a:t>3.</a:t>
            </a:r>
            <a:r>
              <a:rPr lang="en-US" dirty="0"/>
              <a:t> </a:t>
            </a:r>
            <a:r>
              <a:rPr lang="en-US" b="1" dirty="0"/>
              <a:t>Generalization </a:t>
            </a:r>
            <a:endParaRPr lang="en-US" b="1" dirty="0" smtClean="0"/>
          </a:p>
          <a:p>
            <a:pPr algn="just"/>
            <a:r>
              <a:rPr lang="en-US" dirty="0" smtClean="0"/>
              <a:t>The </a:t>
            </a:r>
            <a:r>
              <a:rPr lang="en-US" dirty="0"/>
              <a:t>third component of the learning process is known as </a:t>
            </a:r>
            <a:r>
              <a:rPr lang="en-US" dirty="0" smtClean="0"/>
              <a:t>generalization. </a:t>
            </a:r>
          </a:p>
          <a:p>
            <a:pPr algn="just"/>
            <a:r>
              <a:rPr lang="en-US" dirty="0" smtClean="0"/>
              <a:t>The </a:t>
            </a:r>
            <a:r>
              <a:rPr lang="en-US" dirty="0"/>
              <a:t>term generalization describes the process of turning the knowledge about stored data into a form that can be utilized for future action. </a:t>
            </a:r>
            <a:endParaRPr lang="en-US" dirty="0" smtClean="0"/>
          </a:p>
          <a:p>
            <a:pPr algn="just"/>
            <a:r>
              <a:rPr lang="en-US" dirty="0" smtClean="0"/>
              <a:t>These </a:t>
            </a:r>
            <a:r>
              <a:rPr lang="en-US" dirty="0"/>
              <a:t>actions are to be carried out on tasks that are similar, but not identical, to those what have been seen before. </a:t>
            </a:r>
            <a:endParaRPr lang="en-US" dirty="0" smtClean="0"/>
          </a:p>
          <a:p>
            <a:pPr algn="just"/>
            <a:r>
              <a:rPr lang="en-US" dirty="0" smtClean="0"/>
              <a:t>In </a:t>
            </a:r>
            <a:r>
              <a:rPr lang="en-US" dirty="0"/>
              <a:t>generalization, the goal is to discover those properties of the data that will be most relevant to future tasks.</a:t>
            </a:r>
          </a:p>
        </p:txBody>
      </p:sp>
    </p:spTree>
    <p:extLst>
      <p:ext uri="{BB962C8B-B14F-4D97-AF65-F5344CB8AC3E}">
        <p14:creationId xmlns:p14="http://schemas.microsoft.com/office/powerpoint/2010/main" val="323549309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Components of Learning </a:t>
            </a:r>
            <a:endParaRPr lang="en-US" dirty="0"/>
          </a:p>
        </p:txBody>
      </p:sp>
      <p:sp>
        <p:nvSpPr>
          <p:cNvPr id="3" name="Content Placeholder 2"/>
          <p:cNvSpPr>
            <a:spLocks noGrp="1"/>
          </p:cNvSpPr>
          <p:nvPr>
            <p:ph idx="1"/>
          </p:nvPr>
        </p:nvSpPr>
        <p:spPr>
          <a:xfrm>
            <a:off x="685800" y="2119256"/>
            <a:ext cx="7696200" cy="4129143"/>
          </a:xfrm>
        </p:spPr>
        <p:txBody>
          <a:bodyPr/>
          <a:lstStyle/>
          <a:p>
            <a:pPr marL="0" indent="0">
              <a:buNone/>
            </a:pPr>
            <a:r>
              <a:rPr lang="en-US" b="1" dirty="0"/>
              <a:t>4. Evaluation </a:t>
            </a:r>
            <a:endParaRPr lang="en-US" b="1" dirty="0" smtClean="0"/>
          </a:p>
          <a:p>
            <a:r>
              <a:rPr lang="en-US" dirty="0" smtClean="0"/>
              <a:t>Evaluation </a:t>
            </a:r>
            <a:r>
              <a:rPr lang="en-US" dirty="0"/>
              <a:t>is the last component of the learning process. </a:t>
            </a:r>
            <a:endParaRPr lang="en-US" dirty="0" smtClean="0"/>
          </a:p>
          <a:p>
            <a:r>
              <a:rPr lang="en-US" dirty="0" smtClean="0"/>
              <a:t>It </a:t>
            </a:r>
            <a:r>
              <a:rPr lang="en-US" dirty="0"/>
              <a:t>is the process of giving feedback to the user to measure the utility of the learned knowledge. </a:t>
            </a:r>
            <a:endParaRPr lang="en-US" dirty="0" smtClean="0"/>
          </a:p>
          <a:p>
            <a:r>
              <a:rPr lang="en-US" dirty="0" smtClean="0"/>
              <a:t>This </a:t>
            </a:r>
            <a:r>
              <a:rPr lang="en-US" dirty="0"/>
              <a:t>feedback is then </a:t>
            </a:r>
            <a:r>
              <a:rPr lang="en-US" dirty="0" smtClean="0"/>
              <a:t>utilized </a:t>
            </a:r>
            <a:r>
              <a:rPr lang="en-US" dirty="0"/>
              <a:t>to effect improvements in the whole learning process</a:t>
            </a:r>
          </a:p>
        </p:txBody>
      </p:sp>
    </p:spTree>
    <p:extLst>
      <p:ext uri="{BB962C8B-B14F-4D97-AF65-F5344CB8AC3E}">
        <p14:creationId xmlns:p14="http://schemas.microsoft.com/office/powerpoint/2010/main" val="195557994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Components of Learning </a:t>
            </a:r>
            <a:endParaRPr lang="en-US" dirty="0"/>
          </a:p>
        </p:txBody>
      </p:sp>
      <p:sp>
        <p:nvSpPr>
          <p:cNvPr id="3" name="Content Placeholder 2"/>
          <p:cNvSpPr>
            <a:spLocks noGrp="1"/>
          </p:cNvSpPr>
          <p:nvPr>
            <p:ph idx="1"/>
          </p:nvPr>
        </p:nvSpPr>
        <p:spPr>
          <a:xfrm>
            <a:off x="685800" y="2119256"/>
            <a:ext cx="7696200" cy="4205343"/>
          </a:xfrm>
        </p:spPr>
        <p:txBody>
          <a:bodyPr/>
          <a:lstStyle/>
          <a:p>
            <a:pPr algn="just"/>
            <a:r>
              <a:rPr lang="en-US" dirty="0"/>
              <a:t>Applications of machine learning Application of machine learning methods to large databases is called data mining. </a:t>
            </a:r>
            <a:endParaRPr lang="en-US" dirty="0" smtClean="0"/>
          </a:p>
          <a:p>
            <a:pPr algn="just"/>
            <a:r>
              <a:rPr lang="en-US" dirty="0" smtClean="0"/>
              <a:t>In </a:t>
            </a:r>
            <a:r>
              <a:rPr lang="en-US" dirty="0"/>
              <a:t>data mining, a large volume of data is processed to construct a simple model with valuable use, for example, having high predictive accuracy. </a:t>
            </a:r>
          </a:p>
        </p:txBody>
      </p:sp>
    </p:spTree>
    <p:extLst>
      <p:ext uri="{BB962C8B-B14F-4D97-AF65-F5344CB8AC3E}">
        <p14:creationId xmlns:p14="http://schemas.microsoft.com/office/powerpoint/2010/main" val="401200591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Components of Learning </a:t>
            </a:r>
            <a:endParaRPr lang="en-US" dirty="0"/>
          </a:p>
        </p:txBody>
      </p:sp>
      <p:sp>
        <p:nvSpPr>
          <p:cNvPr id="3" name="Content Placeholder 2"/>
          <p:cNvSpPr>
            <a:spLocks noGrp="1"/>
          </p:cNvSpPr>
          <p:nvPr>
            <p:ph idx="1"/>
          </p:nvPr>
        </p:nvSpPr>
        <p:spPr>
          <a:xfrm>
            <a:off x="762000" y="2119256"/>
            <a:ext cx="7620000" cy="4205343"/>
          </a:xfrm>
        </p:spPr>
        <p:txBody>
          <a:bodyPr>
            <a:normAutofit fontScale="55000" lnSpcReduction="20000"/>
          </a:bodyPr>
          <a:lstStyle/>
          <a:p>
            <a:pPr marL="0" indent="0" algn="just">
              <a:buNone/>
            </a:pPr>
            <a:r>
              <a:rPr lang="en-US" b="1" dirty="0" smtClean="0"/>
              <a:t>Typical </a:t>
            </a:r>
            <a:r>
              <a:rPr lang="en-US" b="1" dirty="0"/>
              <a:t>applications of machine </a:t>
            </a:r>
            <a:r>
              <a:rPr lang="en-US" b="1" dirty="0" smtClean="0"/>
              <a:t>learning</a:t>
            </a:r>
          </a:p>
          <a:p>
            <a:pPr algn="just"/>
            <a:r>
              <a:rPr lang="en-US" dirty="0" smtClean="0"/>
              <a:t>1</a:t>
            </a:r>
            <a:r>
              <a:rPr lang="en-US" dirty="0"/>
              <a:t>. </a:t>
            </a:r>
            <a:r>
              <a:rPr lang="en-US" b="1" dirty="0"/>
              <a:t>In retail business, </a:t>
            </a:r>
            <a:r>
              <a:rPr lang="en-US" dirty="0"/>
              <a:t>machine learning is used to study consumer </a:t>
            </a:r>
            <a:r>
              <a:rPr lang="en-US" dirty="0" smtClean="0"/>
              <a:t>behavior. </a:t>
            </a:r>
          </a:p>
          <a:p>
            <a:pPr algn="just"/>
            <a:r>
              <a:rPr lang="en-US" dirty="0" smtClean="0"/>
              <a:t>2</a:t>
            </a:r>
            <a:r>
              <a:rPr lang="en-US" dirty="0"/>
              <a:t>. </a:t>
            </a:r>
            <a:r>
              <a:rPr lang="en-US" b="1" dirty="0"/>
              <a:t>In finance</a:t>
            </a:r>
            <a:r>
              <a:rPr lang="en-US" dirty="0"/>
              <a:t>, banks analyze their past data to build models to use in credit applications, fraud detection, and the stock market. </a:t>
            </a:r>
            <a:endParaRPr lang="en-US" dirty="0" smtClean="0"/>
          </a:p>
          <a:p>
            <a:pPr algn="just"/>
            <a:r>
              <a:rPr lang="en-US" dirty="0" smtClean="0"/>
              <a:t>3</a:t>
            </a:r>
            <a:r>
              <a:rPr lang="en-US" dirty="0"/>
              <a:t>. </a:t>
            </a:r>
            <a:r>
              <a:rPr lang="en-US" b="1" dirty="0" smtClean="0"/>
              <a:t>In manufacturing</a:t>
            </a:r>
            <a:r>
              <a:rPr lang="en-US" dirty="0"/>
              <a:t>, learning models are used for optimization, control, and troubleshooting</a:t>
            </a:r>
            <a:r>
              <a:rPr lang="en-US"/>
              <a:t>. </a:t>
            </a:r>
            <a:endParaRPr lang="en-US" smtClean="0"/>
          </a:p>
          <a:p>
            <a:pPr algn="just"/>
            <a:r>
              <a:rPr lang="en-US" smtClean="0"/>
              <a:t>4. </a:t>
            </a:r>
            <a:r>
              <a:rPr lang="en-US" b="1" smtClean="0"/>
              <a:t>In </a:t>
            </a:r>
            <a:r>
              <a:rPr lang="en-US" b="1" dirty="0"/>
              <a:t>medicine</a:t>
            </a:r>
            <a:r>
              <a:rPr lang="en-US" dirty="0"/>
              <a:t>, learning programs are used for medical diagnosis. </a:t>
            </a:r>
            <a:endParaRPr lang="en-US" dirty="0" smtClean="0"/>
          </a:p>
          <a:p>
            <a:pPr algn="just"/>
            <a:r>
              <a:rPr lang="en-US" dirty="0" smtClean="0"/>
              <a:t>5</a:t>
            </a:r>
            <a:r>
              <a:rPr lang="en-US" dirty="0"/>
              <a:t>. </a:t>
            </a:r>
            <a:r>
              <a:rPr lang="en-US" b="1" dirty="0"/>
              <a:t>In telecommunications</a:t>
            </a:r>
            <a:r>
              <a:rPr lang="en-US" dirty="0"/>
              <a:t>, call patterns are analyzed for network optimization and maximizing the quality of service. </a:t>
            </a:r>
            <a:endParaRPr lang="en-US" dirty="0" smtClean="0"/>
          </a:p>
          <a:p>
            <a:pPr algn="just"/>
            <a:r>
              <a:rPr lang="en-US" dirty="0" smtClean="0"/>
              <a:t>6</a:t>
            </a:r>
            <a:r>
              <a:rPr lang="en-US" dirty="0"/>
              <a:t>. </a:t>
            </a:r>
            <a:r>
              <a:rPr lang="en-US" b="1" dirty="0"/>
              <a:t>In science</a:t>
            </a:r>
            <a:r>
              <a:rPr lang="en-US" dirty="0"/>
              <a:t>, large amounts of data in physics, astronomy, and biology can only be analyzed fast enough by computers. The World Wide Web is huge; it is constantly growing and searching for relevant information cannot be done manually. </a:t>
            </a:r>
            <a:endParaRPr lang="en-US" dirty="0" smtClean="0"/>
          </a:p>
          <a:p>
            <a:pPr algn="just"/>
            <a:r>
              <a:rPr lang="en-US" dirty="0" smtClean="0"/>
              <a:t>7</a:t>
            </a:r>
            <a:r>
              <a:rPr lang="en-US" dirty="0"/>
              <a:t>. </a:t>
            </a:r>
            <a:r>
              <a:rPr lang="en-US" b="1" dirty="0"/>
              <a:t>In artificial intelligence</a:t>
            </a:r>
            <a:r>
              <a:rPr lang="en-US" dirty="0"/>
              <a:t>, it is used to teach a system to learn and adapt to changes so that the system designer need not foresee and provide solutions for all possible situations. </a:t>
            </a:r>
            <a:endParaRPr lang="en-US" dirty="0" smtClean="0"/>
          </a:p>
          <a:p>
            <a:pPr algn="just"/>
            <a:r>
              <a:rPr lang="en-US" dirty="0" smtClean="0"/>
              <a:t>8</a:t>
            </a:r>
            <a:r>
              <a:rPr lang="en-US" dirty="0"/>
              <a:t>. </a:t>
            </a:r>
            <a:r>
              <a:rPr lang="en-US" b="1" dirty="0" smtClean="0"/>
              <a:t>In </a:t>
            </a:r>
            <a:r>
              <a:rPr lang="en-US" b="1" dirty="0"/>
              <a:t>vision, speech recognition, and </a:t>
            </a:r>
            <a:r>
              <a:rPr lang="en-US" b="1" dirty="0" smtClean="0"/>
              <a:t>robotics</a:t>
            </a:r>
            <a:r>
              <a:rPr lang="en-US" dirty="0" smtClean="0"/>
              <a:t>, It </a:t>
            </a:r>
            <a:r>
              <a:rPr lang="en-US" dirty="0"/>
              <a:t>is used to find solutions to many problems </a:t>
            </a:r>
            <a:endParaRPr lang="en-US" dirty="0" smtClean="0"/>
          </a:p>
          <a:p>
            <a:pPr algn="just"/>
            <a:r>
              <a:rPr lang="en-US" dirty="0" smtClean="0"/>
              <a:t>9</a:t>
            </a:r>
            <a:r>
              <a:rPr lang="en-US" dirty="0"/>
              <a:t>. Machine learning methods are applied in the design of computer-controlled vehicles to steer correctly when driving on a variety of roads. </a:t>
            </a:r>
            <a:endParaRPr lang="en-US" dirty="0" smtClean="0"/>
          </a:p>
          <a:p>
            <a:pPr algn="just"/>
            <a:r>
              <a:rPr lang="en-US" dirty="0" smtClean="0"/>
              <a:t>10</a:t>
            </a:r>
            <a:r>
              <a:rPr lang="en-US" dirty="0"/>
              <a:t>. Machine learning methods have been used to develop </a:t>
            </a:r>
            <a:r>
              <a:rPr lang="en-US" dirty="0" err="1"/>
              <a:t>programmes</a:t>
            </a:r>
            <a:r>
              <a:rPr lang="en-US" dirty="0"/>
              <a:t> for playing games such as chess, backgammon and Go.</a:t>
            </a:r>
          </a:p>
        </p:txBody>
      </p:sp>
    </p:spTree>
    <p:extLst>
      <p:ext uri="{BB962C8B-B14F-4D97-AF65-F5344CB8AC3E}">
        <p14:creationId xmlns:p14="http://schemas.microsoft.com/office/powerpoint/2010/main" val="81686188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1.3 Learning </a:t>
            </a:r>
            <a:r>
              <a:rPr lang="en-US" b="1" dirty="0"/>
              <a:t>Models</a:t>
            </a:r>
          </a:p>
        </p:txBody>
      </p:sp>
      <p:sp>
        <p:nvSpPr>
          <p:cNvPr id="3" name="Content Placeholder 2"/>
          <p:cNvSpPr>
            <a:spLocks noGrp="1"/>
          </p:cNvSpPr>
          <p:nvPr>
            <p:ph idx="1"/>
          </p:nvPr>
        </p:nvSpPr>
        <p:spPr>
          <a:xfrm>
            <a:off x="762000" y="2119256"/>
            <a:ext cx="7620000" cy="4129143"/>
          </a:xfrm>
        </p:spPr>
        <p:txBody>
          <a:bodyPr>
            <a:normAutofit fontScale="92500" lnSpcReduction="10000"/>
          </a:bodyPr>
          <a:lstStyle/>
          <a:p>
            <a:r>
              <a:rPr lang="en-US" dirty="0"/>
              <a:t>Machine learning is concerned with using the right features to build the right models that achieve the right tasks. </a:t>
            </a:r>
            <a:endParaRPr lang="en-US" dirty="0" smtClean="0"/>
          </a:p>
          <a:p>
            <a:r>
              <a:rPr lang="en-US" dirty="0" smtClean="0"/>
              <a:t>The </a:t>
            </a:r>
            <a:r>
              <a:rPr lang="en-US" dirty="0"/>
              <a:t>basic idea of Learning models has divided into three categories. </a:t>
            </a:r>
            <a:endParaRPr lang="en-US" dirty="0" smtClean="0"/>
          </a:p>
          <a:p>
            <a:r>
              <a:rPr lang="en-US" dirty="0" smtClean="0"/>
              <a:t>For </a:t>
            </a:r>
            <a:r>
              <a:rPr lang="en-US" dirty="0"/>
              <a:t>a given problem, the collection of all possible outcomes represents the sample space or instance space. </a:t>
            </a:r>
            <a:endParaRPr lang="en-US" dirty="0" smtClean="0"/>
          </a:p>
          <a:p>
            <a:pPr>
              <a:buFont typeface="Wingdings" pitchFamily="2" charset="2"/>
              <a:buChar char="§"/>
            </a:pPr>
            <a:r>
              <a:rPr lang="en-US" dirty="0" smtClean="0"/>
              <a:t>Using </a:t>
            </a:r>
            <a:r>
              <a:rPr lang="en-US" dirty="0"/>
              <a:t>a Logical expression. (</a:t>
            </a:r>
            <a:r>
              <a:rPr lang="en-US" b="1" dirty="0"/>
              <a:t>Logical models</a:t>
            </a:r>
            <a:r>
              <a:rPr lang="en-US" dirty="0"/>
              <a:t>) </a:t>
            </a:r>
            <a:endParaRPr lang="en-US" dirty="0" smtClean="0"/>
          </a:p>
          <a:p>
            <a:pPr>
              <a:buFont typeface="Wingdings" pitchFamily="2" charset="2"/>
              <a:buChar char="§"/>
            </a:pPr>
            <a:r>
              <a:rPr lang="en-US" dirty="0" smtClean="0"/>
              <a:t>Using </a:t>
            </a:r>
            <a:r>
              <a:rPr lang="en-US" dirty="0"/>
              <a:t>the Geometry of the instance space. (</a:t>
            </a:r>
            <a:r>
              <a:rPr lang="en-US" b="1" dirty="0"/>
              <a:t>Geometric models</a:t>
            </a:r>
            <a:r>
              <a:rPr lang="en-US" dirty="0"/>
              <a:t>) </a:t>
            </a:r>
            <a:endParaRPr lang="en-US" dirty="0" smtClean="0"/>
          </a:p>
          <a:p>
            <a:pPr>
              <a:buFont typeface="Wingdings" pitchFamily="2" charset="2"/>
              <a:buChar char="§"/>
            </a:pPr>
            <a:r>
              <a:rPr lang="en-US" dirty="0" smtClean="0"/>
              <a:t>Using </a:t>
            </a:r>
            <a:r>
              <a:rPr lang="en-US" dirty="0"/>
              <a:t>Probability to classify the instance space. (</a:t>
            </a:r>
            <a:r>
              <a:rPr lang="en-US" b="1" dirty="0"/>
              <a:t>Probabilistic models</a:t>
            </a:r>
            <a:r>
              <a:rPr lang="en-US" dirty="0"/>
              <a:t>) </a:t>
            </a:r>
            <a:endParaRPr lang="en-US" dirty="0" smtClean="0"/>
          </a:p>
          <a:p>
            <a:pPr>
              <a:buFont typeface="Wingdings" pitchFamily="2" charset="2"/>
              <a:buChar char="§"/>
            </a:pPr>
            <a:r>
              <a:rPr lang="en-US" dirty="0" smtClean="0"/>
              <a:t>Grouping </a:t>
            </a:r>
            <a:r>
              <a:rPr lang="en-US" dirty="0"/>
              <a:t>and Grading</a:t>
            </a:r>
          </a:p>
        </p:txBody>
      </p:sp>
    </p:spTree>
    <p:extLst>
      <p:ext uri="{BB962C8B-B14F-4D97-AF65-F5344CB8AC3E}">
        <p14:creationId xmlns:p14="http://schemas.microsoft.com/office/powerpoint/2010/main" val="421871814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Learning Models</a:t>
            </a:r>
            <a:endParaRPr lang="en-US" dirty="0"/>
          </a:p>
        </p:txBody>
      </p:sp>
      <p:sp>
        <p:nvSpPr>
          <p:cNvPr id="3" name="Content Placeholder 2"/>
          <p:cNvSpPr>
            <a:spLocks noGrp="1"/>
          </p:cNvSpPr>
          <p:nvPr>
            <p:ph idx="1"/>
          </p:nvPr>
        </p:nvSpPr>
        <p:spPr>
          <a:xfrm>
            <a:off x="762000" y="2119256"/>
            <a:ext cx="7620000" cy="4129143"/>
          </a:xfrm>
        </p:spPr>
        <p:txBody>
          <a:bodyPr>
            <a:normAutofit lnSpcReduction="10000"/>
          </a:bodyPr>
          <a:lstStyle/>
          <a:p>
            <a:pPr marL="0" indent="0">
              <a:buNone/>
            </a:pPr>
            <a:r>
              <a:rPr lang="en-US" b="1" dirty="0" smtClean="0"/>
              <a:t>1.3.1 Logical </a:t>
            </a:r>
            <a:r>
              <a:rPr lang="en-US" b="1" dirty="0"/>
              <a:t>models </a:t>
            </a:r>
            <a:endParaRPr lang="en-US" b="1" dirty="0" smtClean="0"/>
          </a:p>
          <a:p>
            <a:pPr algn="just"/>
            <a:r>
              <a:rPr lang="en-US" dirty="0" smtClean="0"/>
              <a:t>Logical </a:t>
            </a:r>
            <a:r>
              <a:rPr lang="en-US" dirty="0"/>
              <a:t>models use a logical expression to divide the instance space into segments and hence construct grouping models. </a:t>
            </a:r>
            <a:endParaRPr lang="en-US" dirty="0" smtClean="0"/>
          </a:p>
          <a:p>
            <a:pPr algn="just"/>
            <a:r>
              <a:rPr lang="en-US" dirty="0" smtClean="0"/>
              <a:t>A </a:t>
            </a:r>
            <a:r>
              <a:rPr lang="en-US" dirty="0"/>
              <a:t>logical expression is an expression that returns a Boolean value, i.e., a True or False outcome. </a:t>
            </a:r>
            <a:endParaRPr lang="en-US" dirty="0" smtClean="0"/>
          </a:p>
          <a:p>
            <a:pPr algn="just"/>
            <a:r>
              <a:rPr lang="en-US" dirty="0" smtClean="0"/>
              <a:t>Once </a:t>
            </a:r>
            <a:r>
              <a:rPr lang="en-US" dirty="0"/>
              <a:t>the data is grouped using a logical expression, the data is divided into homogeneous groupings for the problem we are trying to solve. </a:t>
            </a:r>
            <a:endParaRPr lang="en-US" dirty="0" smtClean="0"/>
          </a:p>
          <a:p>
            <a:pPr algn="just">
              <a:buFont typeface="Wingdings" pitchFamily="2" charset="2"/>
              <a:buChar char="§"/>
            </a:pPr>
            <a:r>
              <a:rPr lang="en-US" dirty="0" smtClean="0"/>
              <a:t>For </a:t>
            </a:r>
            <a:r>
              <a:rPr lang="en-US" dirty="0"/>
              <a:t>example, for a classification problem, all the instances in the group belong to one class. </a:t>
            </a:r>
          </a:p>
        </p:txBody>
      </p:sp>
    </p:spTree>
    <p:extLst>
      <p:ext uri="{BB962C8B-B14F-4D97-AF65-F5344CB8AC3E}">
        <p14:creationId xmlns:p14="http://schemas.microsoft.com/office/powerpoint/2010/main" val="289608644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Learning Models</a:t>
            </a:r>
            <a:endParaRPr lang="en-US" dirty="0"/>
          </a:p>
        </p:txBody>
      </p:sp>
      <p:sp>
        <p:nvSpPr>
          <p:cNvPr id="3" name="Content Placeholder 2"/>
          <p:cNvSpPr>
            <a:spLocks noGrp="1"/>
          </p:cNvSpPr>
          <p:nvPr>
            <p:ph idx="1"/>
          </p:nvPr>
        </p:nvSpPr>
        <p:spPr>
          <a:xfrm>
            <a:off x="762000" y="2119256"/>
            <a:ext cx="7620000" cy="4129143"/>
          </a:xfrm>
        </p:spPr>
        <p:txBody>
          <a:bodyPr/>
          <a:lstStyle/>
          <a:p>
            <a:pPr algn="just"/>
            <a:r>
              <a:rPr lang="en-US" dirty="0"/>
              <a:t>There are mainly two kinds of logical models: </a:t>
            </a:r>
            <a:endParaRPr lang="en-US" dirty="0" smtClean="0"/>
          </a:p>
          <a:p>
            <a:pPr algn="just">
              <a:buFont typeface="Wingdings" pitchFamily="2" charset="2"/>
              <a:buChar char="§"/>
            </a:pPr>
            <a:r>
              <a:rPr lang="en-US" b="1" dirty="0" smtClean="0"/>
              <a:t>Tree </a:t>
            </a:r>
            <a:r>
              <a:rPr lang="en-US" b="1" dirty="0"/>
              <a:t>models </a:t>
            </a:r>
            <a:r>
              <a:rPr lang="en-US" dirty="0"/>
              <a:t>and </a:t>
            </a:r>
            <a:r>
              <a:rPr lang="en-US" b="1" dirty="0"/>
              <a:t>Rule models</a:t>
            </a:r>
            <a:r>
              <a:rPr lang="en-US" dirty="0"/>
              <a:t>. </a:t>
            </a:r>
            <a:endParaRPr lang="en-US" dirty="0" smtClean="0"/>
          </a:p>
          <a:p>
            <a:pPr algn="just"/>
            <a:r>
              <a:rPr lang="en-US" b="1" dirty="0" smtClean="0"/>
              <a:t>Rule </a:t>
            </a:r>
            <a:r>
              <a:rPr lang="en-US" b="1" dirty="0"/>
              <a:t>models </a:t>
            </a:r>
            <a:r>
              <a:rPr lang="en-US" dirty="0"/>
              <a:t>consist of a collection of implications or IF-THEN rules. </a:t>
            </a:r>
            <a:endParaRPr lang="en-US" dirty="0" smtClean="0"/>
          </a:p>
          <a:p>
            <a:pPr algn="just"/>
            <a:r>
              <a:rPr lang="en-US" dirty="0" smtClean="0"/>
              <a:t>For </a:t>
            </a:r>
            <a:r>
              <a:rPr lang="en-US" b="1" dirty="0" smtClean="0"/>
              <a:t>Tree-based </a:t>
            </a:r>
            <a:r>
              <a:rPr lang="en-US" b="1" dirty="0"/>
              <a:t>models</a:t>
            </a:r>
            <a:r>
              <a:rPr lang="en-US" dirty="0"/>
              <a:t>, the ‘if-part’ defines a segment and the ‘then-part’ defines the </a:t>
            </a:r>
            <a:r>
              <a:rPr lang="en-US" dirty="0" err="1"/>
              <a:t>behaviour</a:t>
            </a:r>
            <a:r>
              <a:rPr lang="en-US" dirty="0"/>
              <a:t> of the model for this segment. Rule models follow the same reasoning.</a:t>
            </a:r>
          </a:p>
        </p:txBody>
      </p:sp>
    </p:spTree>
    <p:extLst>
      <p:ext uri="{BB962C8B-B14F-4D97-AF65-F5344CB8AC3E}">
        <p14:creationId xmlns:p14="http://schemas.microsoft.com/office/powerpoint/2010/main" val="45849203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Learning Models</a:t>
            </a:r>
            <a:endParaRPr lang="en-US" dirty="0"/>
          </a:p>
        </p:txBody>
      </p:sp>
      <p:sp>
        <p:nvSpPr>
          <p:cNvPr id="3" name="Content Placeholder 2"/>
          <p:cNvSpPr>
            <a:spLocks noGrp="1"/>
          </p:cNvSpPr>
          <p:nvPr>
            <p:ph idx="1"/>
          </p:nvPr>
        </p:nvSpPr>
        <p:spPr>
          <a:xfrm>
            <a:off x="685800" y="2119256"/>
            <a:ext cx="7696200" cy="4129143"/>
          </a:xfrm>
        </p:spPr>
        <p:txBody>
          <a:bodyPr>
            <a:normAutofit fontScale="77500" lnSpcReduction="20000"/>
          </a:bodyPr>
          <a:lstStyle/>
          <a:p>
            <a:pPr marL="0" indent="0" algn="just">
              <a:buNone/>
            </a:pPr>
            <a:r>
              <a:rPr lang="en-US" b="1" dirty="0"/>
              <a:t>Logical models and Concept learning </a:t>
            </a:r>
            <a:endParaRPr lang="en-US" b="1" dirty="0" smtClean="0"/>
          </a:p>
          <a:p>
            <a:pPr algn="just"/>
            <a:r>
              <a:rPr lang="en-US" dirty="0" smtClean="0"/>
              <a:t>To </a:t>
            </a:r>
            <a:r>
              <a:rPr lang="en-US" dirty="0"/>
              <a:t>understand </a:t>
            </a:r>
            <a:r>
              <a:rPr lang="en-US" b="1" dirty="0"/>
              <a:t>logical models </a:t>
            </a:r>
            <a:r>
              <a:rPr lang="en-US" dirty="0"/>
              <a:t>further, we need to understand the idea of </a:t>
            </a:r>
            <a:r>
              <a:rPr lang="en-US" b="1" dirty="0"/>
              <a:t>Concept Learning</a:t>
            </a:r>
            <a:r>
              <a:rPr lang="en-US" dirty="0"/>
              <a:t>. </a:t>
            </a:r>
            <a:endParaRPr lang="en-US" dirty="0" smtClean="0"/>
          </a:p>
          <a:p>
            <a:pPr algn="just"/>
            <a:r>
              <a:rPr lang="en-US" b="1" dirty="0" smtClean="0"/>
              <a:t>Concept </a:t>
            </a:r>
            <a:r>
              <a:rPr lang="en-US" b="1" dirty="0"/>
              <a:t>Learning</a:t>
            </a:r>
            <a:r>
              <a:rPr lang="en-US" dirty="0"/>
              <a:t> involves learning logical expressions or concepts from </a:t>
            </a:r>
            <a:r>
              <a:rPr lang="en-US" dirty="0" smtClean="0"/>
              <a:t>examples and the </a:t>
            </a:r>
            <a:r>
              <a:rPr lang="en-US" dirty="0"/>
              <a:t>idea of </a:t>
            </a:r>
            <a:r>
              <a:rPr lang="en-US" b="1" dirty="0"/>
              <a:t>Concept Learning </a:t>
            </a:r>
            <a:r>
              <a:rPr lang="en-US" dirty="0"/>
              <a:t>fits in well with the idea of Machine learning, i.e., inferring a general function from specific training examples. </a:t>
            </a:r>
            <a:endParaRPr lang="en-US" dirty="0" smtClean="0"/>
          </a:p>
          <a:p>
            <a:pPr algn="just"/>
            <a:r>
              <a:rPr lang="en-US" b="1" dirty="0" smtClean="0"/>
              <a:t>Concept </a:t>
            </a:r>
            <a:r>
              <a:rPr lang="en-US" b="1" dirty="0"/>
              <a:t>learning </a:t>
            </a:r>
            <a:r>
              <a:rPr lang="en-US" dirty="0"/>
              <a:t>forms the basis of both </a:t>
            </a:r>
            <a:r>
              <a:rPr lang="en-US" b="1" dirty="0" smtClean="0"/>
              <a:t>Tree-based</a:t>
            </a:r>
            <a:r>
              <a:rPr lang="en-US" dirty="0" smtClean="0"/>
              <a:t> </a:t>
            </a:r>
            <a:r>
              <a:rPr lang="en-US" dirty="0"/>
              <a:t>and </a:t>
            </a:r>
            <a:r>
              <a:rPr lang="en-US" b="1" dirty="0" smtClean="0"/>
              <a:t>Rule-based</a:t>
            </a:r>
            <a:r>
              <a:rPr lang="en-US" dirty="0" smtClean="0"/>
              <a:t> </a:t>
            </a:r>
            <a:r>
              <a:rPr lang="en-US" dirty="0"/>
              <a:t>models. More formally, </a:t>
            </a:r>
            <a:r>
              <a:rPr lang="en-US" b="1" dirty="0"/>
              <a:t>Concept Learning</a:t>
            </a:r>
            <a:r>
              <a:rPr lang="en-US" dirty="0"/>
              <a:t> involves acquiring the definition of a general category from a given set of positive and negative training examples of the category. </a:t>
            </a:r>
            <a:endParaRPr lang="en-US" dirty="0" smtClean="0"/>
          </a:p>
          <a:p>
            <a:pPr algn="just"/>
            <a:r>
              <a:rPr lang="en-US" dirty="0" smtClean="0"/>
              <a:t>A </a:t>
            </a:r>
            <a:r>
              <a:rPr lang="en-US" dirty="0"/>
              <a:t>Formal Definition for </a:t>
            </a:r>
            <a:r>
              <a:rPr lang="en-US" b="1" dirty="0"/>
              <a:t>Concept Learning </a:t>
            </a:r>
            <a:r>
              <a:rPr lang="en-US" dirty="0"/>
              <a:t>is “</a:t>
            </a:r>
            <a:r>
              <a:rPr lang="en-US" b="1" dirty="0"/>
              <a:t>The inferring of a Boolean-valued function from training examples of its input and output</a:t>
            </a:r>
            <a:r>
              <a:rPr lang="en-US" dirty="0"/>
              <a:t>.” In </a:t>
            </a:r>
            <a:r>
              <a:rPr lang="en-US" b="1" dirty="0"/>
              <a:t>C</a:t>
            </a:r>
            <a:r>
              <a:rPr lang="en-US" b="1" dirty="0" smtClean="0"/>
              <a:t>oncept Learning</a:t>
            </a:r>
            <a:r>
              <a:rPr lang="en-US" dirty="0"/>
              <a:t>, we only learn a description for the positive class and label everything that doesn’t satisfy that description as negative. </a:t>
            </a:r>
          </a:p>
        </p:txBody>
      </p:sp>
    </p:spTree>
    <p:extLst>
      <p:ext uri="{BB962C8B-B14F-4D97-AF65-F5344CB8AC3E}">
        <p14:creationId xmlns:p14="http://schemas.microsoft.com/office/powerpoint/2010/main" val="316038945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Learning Models</a:t>
            </a:r>
            <a:endParaRPr lang="en-US" dirty="0"/>
          </a:p>
        </p:txBody>
      </p:sp>
      <p:sp>
        <p:nvSpPr>
          <p:cNvPr id="3" name="Content Placeholder 2"/>
          <p:cNvSpPr>
            <a:spLocks noGrp="1"/>
          </p:cNvSpPr>
          <p:nvPr>
            <p:ph idx="1"/>
          </p:nvPr>
        </p:nvSpPr>
        <p:spPr>
          <a:xfrm>
            <a:off x="762000" y="2119256"/>
            <a:ext cx="7620000" cy="4129143"/>
          </a:xfrm>
        </p:spPr>
        <p:txBody>
          <a:bodyPr/>
          <a:lstStyle/>
          <a:p>
            <a:pPr algn="just"/>
            <a:r>
              <a:rPr lang="en-US" sz="1800" dirty="0"/>
              <a:t>A Concept Learning Task called “Enjoy Sport” as shown above is defined by a set of data from some example days. Each data is described by six attributes. </a:t>
            </a:r>
            <a:endParaRPr lang="en-US" sz="1800" dirty="0" smtClean="0"/>
          </a:p>
          <a:p>
            <a:pPr algn="just"/>
            <a:r>
              <a:rPr lang="en-US" sz="1800" dirty="0" smtClean="0"/>
              <a:t>The </a:t>
            </a:r>
            <a:r>
              <a:rPr lang="en-US" sz="1800" dirty="0"/>
              <a:t>task is to learn to predict the value of Enjoy Sport for an arbitrary day based on the values of its attribute values.</a:t>
            </a:r>
            <a:endParaRPr lang="en-US" sz="1800" dirty="0" smtClean="0"/>
          </a:p>
          <a:p>
            <a:endParaRPr lang="en-US" dirty="0"/>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3581400"/>
            <a:ext cx="6123415" cy="272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1601049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Learning Models</a:t>
            </a:r>
            <a:endParaRPr lang="en-US" dirty="0"/>
          </a:p>
        </p:txBody>
      </p:sp>
      <p:sp>
        <p:nvSpPr>
          <p:cNvPr id="3" name="Content Placeholder 2"/>
          <p:cNvSpPr>
            <a:spLocks noGrp="1"/>
          </p:cNvSpPr>
          <p:nvPr>
            <p:ph idx="1"/>
          </p:nvPr>
        </p:nvSpPr>
        <p:spPr>
          <a:xfrm>
            <a:off x="762000" y="2119256"/>
            <a:ext cx="7620000" cy="4129143"/>
          </a:xfrm>
        </p:spPr>
        <p:txBody>
          <a:bodyPr>
            <a:normAutofit lnSpcReduction="10000"/>
          </a:bodyPr>
          <a:lstStyle/>
          <a:p>
            <a:pPr algn="just"/>
            <a:r>
              <a:rPr lang="en-US" dirty="0"/>
              <a:t>The problem can be represented by a series of hypotheses. </a:t>
            </a:r>
            <a:endParaRPr lang="en-US" dirty="0" smtClean="0"/>
          </a:p>
          <a:p>
            <a:pPr algn="just"/>
            <a:r>
              <a:rPr lang="en-US" dirty="0" smtClean="0"/>
              <a:t>Each </a:t>
            </a:r>
            <a:r>
              <a:rPr lang="en-US" dirty="0"/>
              <a:t>hypothesis is described by a conjunction of constraints on the attributes. </a:t>
            </a:r>
            <a:endParaRPr lang="en-US" dirty="0" smtClean="0"/>
          </a:p>
          <a:p>
            <a:pPr algn="just"/>
            <a:r>
              <a:rPr lang="en-US" dirty="0" smtClean="0"/>
              <a:t>The </a:t>
            </a:r>
            <a:r>
              <a:rPr lang="en-US" dirty="0"/>
              <a:t>training data represents a set of positive and negative examples of the target function. </a:t>
            </a:r>
            <a:endParaRPr lang="en-US" dirty="0" smtClean="0"/>
          </a:p>
          <a:p>
            <a:pPr algn="just"/>
            <a:r>
              <a:rPr lang="en-US" dirty="0" smtClean="0"/>
              <a:t>In </a:t>
            </a:r>
            <a:r>
              <a:rPr lang="en-US" dirty="0"/>
              <a:t>the example above, each hypothesis is a vector of six constraints, specifying the values of the six attributes – Sky, </a:t>
            </a:r>
            <a:r>
              <a:rPr lang="en-US" dirty="0" err="1"/>
              <a:t>AirTemp</a:t>
            </a:r>
            <a:r>
              <a:rPr lang="en-US" dirty="0"/>
              <a:t>, Humidity, Wind, Water, and Forecast. </a:t>
            </a:r>
            <a:endParaRPr lang="en-US" dirty="0" smtClean="0"/>
          </a:p>
          <a:p>
            <a:pPr algn="just"/>
            <a:r>
              <a:rPr lang="en-US" dirty="0" smtClean="0"/>
              <a:t>The </a:t>
            </a:r>
            <a:r>
              <a:rPr lang="en-US" dirty="0"/>
              <a:t>training phase involves learning the set of days (as a conjunction of attributes) for which Enjoy Sport = yes.</a:t>
            </a:r>
          </a:p>
        </p:txBody>
      </p:sp>
    </p:spTree>
    <p:extLst>
      <p:ext uri="{BB962C8B-B14F-4D97-AF65-F5344CB8AC3E}">
        <p14:creationId xmlns:p14="http://schemas.microsoft.com/office/powerpoint/2010/main" val="428314922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Learning Models</a:t>
            </a:r>
            <a:endParaRPr lang="en-US" dirty="0"/>
          </a:p>
        </p:txBody>
      </p:sp>
      <p:sp>
        <p:nvSpPr>
          <p:cNvPr id="3" name="Content Placeholder 2"/>
          <p:cNvSpPr>
            <a:spLocks noGrp="1"/>
          </p:cNvSpPr>
          <p:nvPr>
            <p:ph idx="1"/>
          </p:nvPr>
        </p:nvSpPr>
        <p:spPr>
          <a:xfrm>
            <a:off x="762000" y="2119256"/>
            <a:ext cx="7620000" cy="4205343"/>
          </a:xfrm>
        </p:spPr>
        <p:txBody>
          <a:bodyPr>
            <a:normAutofit fontScale="92500" lnSpcReduction="10000"/>
          </a:bodyPr>
          <a:lstStyle/>
          <a:p>
            <a:r>
              <a:rPr lang="en-US" dirty="0"/>
              <a:t>Thus, the problem can be formulated as</a:t>
            </a:r>
            <a:r>
              <a:rPr lang="en-US" dirty="0" smtClean="0"/>
              <a:t>: </a:t>
            </a:r>
          </a:p>
          <a:p>
            <a:pPr>
              <a:buFont typeface="Wingdings" pitchFamily="2" charset="2"/>
              <a:buChar char="§"/>
            </a:pPr>
            <a:r>
              <a:rPr lang="en-US" dirty="0" smtClean="0"/>
              <a:t>Given </a:t>
            </a:r>
            <a:r>
              <a:rPr lang="en-US" dirty="0"/>
              <a:t>instances X which represent a set of all possible days, each described by the attributes: </a:t>
            </a:r>
            <a:endParaRPr lang="en-US" dirty="0" smtClean="0"/>
          </a:p>
          <a:p>
            <a:pPr>
              <a:buFont typeface="Courier New" pitchFamily="49" charset="0"/>
              <a:buChar char="o"/>
            </a:pPr>
            <a:r>
              <a:rPr lang="en-US" dirty="0" smtClean="0"/>
              <a:t>Sky </a:t>
            </a:r>
            <a:r>
              <a:rPr lang="en-US" dirty="0"/>
              <a:t>– (values: Sunny, Cloudy, Rainy), </a:t>
            </a:r>
            <a:endParaRPr lang="en-US" dirty="0" smtClean="0"/>
          </a:p>
          <a:p>
            <a:pPr>
              <a:buFont typeface="Courier New" pitchFamily="49" charset="0"/>
              <a:buChar char="o"/>
            </a:pPr>
            <a:r>
              <a:rPr lang="en-US" dirty="0" err="1" smtClean="0"/>
              <a:t>AirTemp</a:t>
            </a:r>
            <a:r>
              <a:rPr lang="en-US" dirty="0" smtClean="0"/>
              <a:t> </a:t>
            </a:r>
            <a:r>
              <a:rPr lang="en-US" dirty="0"/>
              <a:t>– (values: Warm, Cold), </a:t>
            </a:r>
            <a:endParaRPr lang="en-US" dirty="0" smtClean="0"/>
          </a:p>
          <a:p>
            <a:pPr>
              <a:buFont typeface="Courier New" pitchFamily="49" charset="0"/>
              <a:buChar char="o"/>
            </a:pPr>
            <a:r>
              <a:rPr lang="en-US" dirty="0" smtClean="0"/>
              <a:t>Humidity </a:t>
            </a:r>
            <a:r>
              <a:rPr lang="en-US" dirty="0"/>
              <a:t>– (values: Normal, High), </a:t>
            </a:r>
            <a:endParaRPr lang="en-US" dirty="0" smtClean="0"/>
          </a:p>
          <a:p>
            <a:pPr>
              <a:buFont typeface="Courier New" pitchFamily="49" charset="0"/>
              <a:buChar char="o"/>
            </a:pPr>
            <a:r>
              <a:rPr lang="en-US" dirty="0" smtClean="0"/>
              <a:t>Wind </a:t>
            </a:r>
            <a:r>
              <a:rPr lang="en-US" dirty="0"/>
              <a:t>– (values: Strong, Weak), </a:t>
            </a:r>
            <a:endParaRPr lang="en-US" dirty="0" smtClean="0"/>
          </a:p>
          <a:p>
            <a:pPr>
              <a:buFont typeface="Courier New" pitchFamily="49" charset="0"/>
              <a:buChar char="o"/>
            </a:pPr>
            <a:r>
              <a:rPr lang="en-US" dirty="0" smtClean="0"/>
              <a:t>Water </a:t>
            </a:r>
            <a:r>
              <a:rPr lang="en-US" dirty="0"/>
              <a:t>– (values: Warm, Cold), </a:t>
            </a:r>
            <a:endParaRPr lang="en-US" dirty="0" smtClean="0"/>
          </a:p>
          <a:p>
            <a:pPr>
              <a:buFont typeface="Courier New" pitchFamily="49" charset="0"/>
              <a:buChar char="o"/>
            </a:pPr>
            <a:r>
              <a:rPr lang="en-US" dirty="0" smtClean="0"/>
              <a:t>Forecast </a:t>
            </a:r>
            <a:r>
              <a:rPr lang="en-US" dirty="0"/>
              <a:t>– (values: Same, Change). </a:t>
            </a:r>
            <a:endParaRPr lang="en-US" dirty="0" smtClean="0"/>
          </a:p>
          <a:p>
            <a:r>
              <a:rPr lang="en-US" dirty="0" smtClean="0"/>
              <a:t>Try </a:t>
            </a:r>
            <a:r>
              <a:rPr lang="en-US" dirty="0"/>
              <a:t>to identify a function that can predict the target variable Enjoy Sport as yes/no, i.e., 1 or 0.</a:t>
            </a:r>
          </a:p>
        </p:txBody>
      </p:sp>
    </p:spTree>
    <p:extLst>
      <p:ext uri="{BB962C8B-B14F-4D97-AF65-F5344CB8AC3E}">
        <p14:creationId xmlns:p14="http://schemas.microsoft.com/office/powerpoint/2010/main" val="138995902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Learning Models</a:t>
            </a:r>
            <a:endParaRPr lang="en-US" dirty="0"/>
          </a:p>
        </p:txBody>
      </p:sp>
      <p:sp>
        <p:nvSpPr>
          <p:cNvPr id="3" name="Content Placeholder 2"/>
          <p:cNvSpPr>
            <a:spLocks noGrp="1"/>
          </p:cNvSpPr>
          <p:nvPr>
            <p:ph idx="1"/>
          </p:nvPr>
        </p:nvSpPr>
        <p:spPr>
          <a:xfrm>
            <a:off x="685800" y="2119256"/>
            <a:ext cx="7696200" cy="4205343"/>
          </a:xfrm>
        </p:spPr>
        <p:txBody>
          <a:bodyPr>
            <a:normAutofit fontScale="62500" lnSpcReduction="20000"/>
          </a:bodyPr>
          <a:lstStyle/>
          <a:p>
            <a:pPr marL="0" indent="0" algn="just">
              <a:buNone/>
            </a:pPr>
            <a:r>
              <a:rPr lang="en-US" b="1" dirty="0"/>
              <a:t>1.3.2 Geometric models </a:t>
            </a:r>
            <a:endParaRPr lang="en-US" b="1" dirty="0" smtClean="0"/>
          </a:p>
          <a:p>
            <a:pPr algn="just"/>
            <a:r>
              <a:rPr lang="en-US" dirty="0" smtClean="0"/>
              <a:t>In </a:t>
            </a:r>
            <a:r>
              <a:rPr lang="en-US" dirty="0"/>
              <a:t>the previous section, we have seen that with logical models, such as decision trees, a logical expression is used to partition the instance space. </a:t>
            </a:r>
            <a:endParaRPr lang="en-US" dirty="0" smtClean="0"/>
          </a:p>
          <a:p>
            <a:pPr algn="just"/>
            <a:r>
              <a:rPr lang="en-US" dirty="0" smtClean="0"/>
              <a:t>Two </a:t>
            </a:r>
            <a:r>
              <a:rPr lang="en-US" dirty="0"/>
              <a:t>instances are similar when they end up in the same logical segment. In this section, we consider models that define similarity by considering the geometry of the instance space. </a:t>
            </a:r>
            <a:endParaRPr lang="en-US" dirty="0" smtClean="0"/>
          </a:p>
          <a:p>
            <a:pPr algn="just"/>
            <a:r>
              <a:rPr lang="en-US" dirty="0" smtClean="0"/>
              <a:t>In </a:t>
            </a:r>
            <a:r>
              <a:rPr lang="en-US" dirty="0"/>
              <a:t>Geometric models, features could be described as points in two dimensions (x- and y-axis) or a three-dimensional space (x, y, and z). </a:t>
            </a:r>
            <a:endParaRPr lang="en-US" dirty="0" smtClean="0"/>
          </a:p>
          <a:p>
            <a:pPr algn="just"/>
            <a:r>
              <a:rPr lang="en-US" dirty="0" smtClean="0"/>
              <a:t>Even </a:t>
            </a:r>
            <a:r>
              <a:rPr lang="en-US" dirty="0"/>
              <a:t>when features are not 5 intrinsically geometric, they could be </a:t>
            </a:r>
            <a:r>
              <a:rPr lang="en-US" dirty="0" err="1"/>
              <a:t>modelled</a:t>
            </a:r>
            <a:r>
              <a:rPr lang="en-US" dirty="0"/>
              <a:t> in a geometric manner (for example, temperature as a function of time can be </a:t>
            </a:r>
            <a:r>
              <a:rPr lang="en-US" dirty="0" err="1"/>
              <a:t>modelled</a:t>
            </a:r>
            <a:r>
              <a:rPr lang="en-US" dirty="0"/>
              <a:t> in two axes). </a:t>
            </a:r>
            <a:endParaRPr lang="en-US" dirty="0" smtClean="0"/>
          </a:p>
          <a:p>
            <a:pPr algn="just"/>
            <a:r>
              <a:rPr lang="en-US" dirty="0" smtClean="0"/>
              <a:t>In </a:t>
            </a:r>
            <a:r>
              <a:rPr lang="en-US" dirty="0"/>
              <a:t>geometric models, there are two ways we could impose similarity. </a:t>
            </a:r>
            <a:endParaRPr lang="en-US" dirty="0" smtClean="0"/>
          </a:p>
          <a:p>
            <a:pPr algn="just">
              <a:buFont typeface="Wingdings" pitchFamily="2" charset="2"/>
              <a:buChar char="§"/>
            </a:pPr>
            <a:r>
              <a:rPr lang="en-US" dirty="0" smtClean="0"/>
              <a:t>We </a:t>
            </a:r>
            <a:r>
              <a:rPr lang="en-US" dirty="0"/>
              <a:t>could use geometric concepts like lines or planes to segment (classify) the instance space. These are called Linear models. </a:t>
            </a:r>
            <a:endParaRPr lang="en-US" dirty="0" smtClean="0"/>
          </a:p>
          <a:p>
            <a:pPr algn="just">
              <a:buFont typeface="Wingdings" pitchFamily="2" charset="2"/>
              <a:buChar char="§"/>
            </a:pPr>
            <a:r>
              <a:rPr lang="en-US" dirty="0" smtClean="0"/>
              <a:t>Alternatively</a:t>
            </a:r>
            <a:r>
              <a:rPr lang="en-US" dirty="0"/>
              <a:t>, we can use the geometric notion of distance to represent similarity. </a:t>
            </a:r>
            <a:endParaRPr lang="en-US" dirty="0" smtClean="0"/>
          </a:p>
          <a:p>
            <a:pPr algn="just"/>
            <a:r>
              <a:rPr lang="en-US" dirty="0" smtClean="0"/>
              <a:t>In </a:t>
            </a:r>
            <a:r>
              <a:rPr lang="en-US" dirty="0"/>
              <a:t>this case, if two points are close together, they have similar values for features and thus can be classed as similar. We call such models as Distance-based models. </a:t>
            </a:r>
          </a:p>
        </p:txBody>
      </p:sp>
    </p:spTree>
    <p:extLst>
      <p:ext uri="{BB962C8B-B14F-4D97-AF65-F5344CB8AC3E}">
        <p14:creationId xmlns:p14="http://schemas.microsoft.com/office/powerpoint/2010/main" val="208997837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Learning Models</a:t>
            </a:r>
            <a:endParaRPr lang="en-US" dirty="0"/>
          </a:p>
        </p:txBody>
      </p:sp>
      <p:sp>
        <p:nvSpPr>
          <p:cNvPr id="3" name="Content Placeholder 2"/>
          <p:cNvSpPr>
            <a:spLocks noGrp="1"/>
          </p:cNvSpPr>
          <p:nvPr>
            <p:ph idx="1"/>
          </p:nvPr>
        </p:nvSpPr>
        <p:spPr>
          <a:xfrm>
            <a:off x="685800" y="2119256"/>
            <a:ext cx="7696200" cy="4205343"/>
          </a:xfrm>
        </p:spPr>
        <p:txBody>
          <a:bodyPr>
            <a:normAutofit/>
          </a:bodyPr>
          <a:lstStyle/>
          <a:p>
            <a:pPr algn="just"/>
            <a:r>
              <a:rPr lang="en-US" sz="1800" dirty="0"/>
              <a:t>Linear models Linear models are relatively simple. In this case, the function is represented as a linear combination of its inputs. </a:t>
            </a:r>
            <a:endParaRPr lang="en-US" sz="1800" dirty="0" smtClean="0"/>
          </a:p>
          <a:p>
            <a:pPr algn="just"/>
            <a:r>
              <a:rPr lang="en-US" sz="1800" dirty="0" smtClean="0"/>
              <a:t>Thus</a:t>
            </a:r>
            <a:r>
              <a:rPr lang="en-US" sz="1800" dirty="0"/>
              <a:t>, if x1 and x2 are two scalars or vectors of the same dimension and a and b are arbitrary scalars, then ax1 + bx2 represents a linear combination of x1 and x2. </a:t>
            </a:r>
            <a:endParaRPr lang="en-US" sz="1800" dirty="0" smtClean="0"/>
          </a:p>
          <a:p>
            <a:pPr algn="just"/>
            <a:r>
              <a:rPr lang="en-US" sz="1800" dirty="0" smtClean="0"/>
              <a:t>In </a:t>
            </a:r>
            <a:r>
              <a:rPr lang="en-US" sz="1800" dirty="0"/>
              <a:t>the simplest case where f(x) represents a straight line, we have an equation of the form f (x) = mx + c where c represents the intercept and m represents the slope</a:t>
            </a:r>
            <a:r>
              <a:rPr lang="en-US" sz="1800" dirty="0" smtClean="0"/>
              <a:t>.</a:t>
            </a:r>
          </a:p>
          <a:p>
            <a:endParaRPr lang="en-US" dirty="0" smtClean="0"/>
          </a:p>
          <a:p>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90925" y="4343400"/>
            <a:ext cx="1666875" cy="1901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0834642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Learning Models</a:t>
            </a:r>
            <a:endParaRPr lang="en-US" dirty="0"/>
          </a:p>
        </p:txBody>
      </p:sp>
      <p:sp>
        <p:nvSpPr>
          <p:cNvPr id="3" name="Content Placeholder 2"/>
          <p:cNvSpPr>
            <a:spLocks noGrp="1"/>
          </p:cNvSpPr>
          <p:nvPr>
            <p:ph idx="1"/>
          </p:nvPr>
        </p:nvSpPr>
        <p:spPr>
          <a:xfrm>
            <a:off x="762000" y="2119256"/>
            <a:ext cx="7620000" cy="4129143"/>
          </a:xfrm>
        </p:spPr>
        <p:txBody>
          <a:bodyPr>
            <a:normAutofit/>
          </a:bodyPr>
          <a:lstStyle/>
          <a:p>
            <a:pPr algn="just"/>
            <a:r>
              <a:rPr lang="en-US" dirty="0"/>
              <a:t>Linear models are parametric, which means that they have a fixed form with a small number of numeric parameters that need to be learned from data. </a:t>
            </a:r>
            <a:endParaRPr lang="en-US" dirty="0" smtClean="0"/>
          </a:p>
          <a:p>
            <a:pPr algn="just"/>
            <a:r>
              <a:rPr lang="en-US" dirty="0" smtClean="0"/>
              <a:t>For </a:t>
            </a:r>
            <a:r>
              <a:rPr lang="en-US" dirty="0"/>
              <a:t>example, in f (x) = mx + c, m and c are the parameters that we are trying to learn from the data. </a:t>
            </a:r>
            <a:endParaRPr lang="en-US" dirty="0" smtClean="0"/>
          </a:p>
          <a:p>
            <a:pPr algn="just"/>
            <a:r>
              <a:rPr lang="en-US" dirty="0" smtClean="0"/>
              <a:t>This </a:t>
            </a:r>
            <a:r>
              <a:rPr lang="en-US" dirty="0"/>
              <a:t>technique is different from tree or rule models, where the structure of the model (e.g., which features to use in the tree, and where) is not fixed in advance. </a:t>
            </a:r>
          </a:p>
        </p:txBody>
      </p:sp>
    </p:spTree>
    <p:extLst>
      <p:ext uri="{BB962C8B-B14F-4D97-AF65-F5344CB8AC3E}">
        <p14:creationId xmlns:p14="http://schemas.microsoft.com/office/powerpoint/2010/main" val="55462768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Learning Models</a:t>
            </a:r>
            <a:endParaRPr lang="en-US" dirty="0"/>
          </a:p>
        </p:txBody>
      </p:sp>
      <p:sp>
        <p:nvSpPr>
          <p:cNvPr id="3" name="Content Placeholder 2"/>
          <p:cNvSpPr>
            <a:spLocks noGrp="1"/>
          </p:cNvSpPr>
          <p:nvPr>
            <p:ph idx="1"/>
          </p:nvPr>
        </p:nvSpPr>
        <p:spPr>
          <a:xfrm>
            <a:off x="685800" y="2119256"/>
            <a:ext cx="7696200" cy="4129143"/>
          </a:xfrm>
        </p:spPr>
        <p:txBody>
          <a:bodyPr>
            <a:normAutofit fontScale="92500" lnSpcReduction="20000"/>
          </a:bodyPr>
          <a:lstStyle/>
          <a:p>
            <a:pPr algn="just"/>
            <a:r>
              <a:rPr lang="en-US" dirty="0"/>
              <a:t>Linear models are stable, i.e., small variations in the training data have only a limited impact on the learned model. </a:t>
            </a:r>
            <a:endParaRPr lang="en-US" dirty="0" smtClean="0"/>
          </a:p>
          <a:p>
            <a:pPr algn="just"/>
            <a:r>
              <a:rPr lang="en-US" dirty="0" smtClean="0"/>
              <a:t>In </a:t>
            </a:r>
            <a:r>
              <a:rPr lang="en-US" dirty="0"/>
              <a:t>contrast, tree models tend to vary more with the training data, as the choice of a different split at the root of the tree typically means that the rest of the tree is different as well. </a:t>
            </a:r>
            <a:endParaRPr lang="en-US" dirty="0" smtClean="0"/>
          </a:p>
          <a:p>
            <a:pPr algn="just"/>
            <a:r>
              <a:rPr lang="en-US" dirty="0" smtClean="0"/>
              <a:t>As </a:t>
            </a:r>
            <a:r>
              <a:rPr lang="en-US" dirty="0"/>
              <a:t>a result of having relatively few parameters, Linear models have low variance and high bias. </a:t>
            </a:r>
            <a:endParaRPr lang="en-US" dirty="0" smtClean="0"/>
          </a:p>
          <a:p>
            <a:pPr algn="just"/>
            <a:r>
              <a:rPr lang="en-US" dirty="0" smtClean="0"/>
              <a:t>This </a:t>
            </a:r>
            <a:r>
              <a:rPr lang="en-US" dirty="0"/>
              <a:t>implies that Linear models are less likely to </a:t>
            </a:r>
            <a:r>
              <a:rPr lang="en-US" dirty="0" smtClean="0"/>
              <a:t>over fit </a:t>
            </a:r>
            <a:r>
              <a:rPr lang="en-US" dirty="0"/>
              <a:t>the training data than some other models. </a:t>
            </a:r>
            <a:endParaRPr lang="en-US" dirty="0" smtClean="0"/>
          </a:p>
          <a:p>
            <a:pPr algn="just"/>
            <a:r>
              <a:rPr lang="en-US" dirty="0" smtClean="0"/>
              <a:t>However</a:t>
            </a:r>
            <a:r>
              <a:rPr lang="en-US" dirty="0"/>
              <a:t>, they are more likely to </a:t>
            </a:r>
            <a:r>
              <a:rPr lang="en-US" dirty="0" smtClean="0"/>
              <a:t>under fit. </a:t>
            </a:r>
            <a:r>
              <a:rPr lang="en-US" dirty="0"/>
              <a:t>For example, if we want to learn the boundaries between countries based on </a:t>
            </a:r>
            <a:r>
              <a:rPr lang="en-US" dirty="0" smtClean="0"/>
              <a:t>labeled </a:t>
            </a:r>
            <a:r>
              <a:rPr lang="en-US" dirty="0"/>
              <a:t>data, then linear models are not likely to give a good approximation. </a:t>
            </a:r>
          </a:p>
        </p:txBody>
      </p:sp>
    </p:spTree>
    <p:extLst>
      <p:ext uri="{BB962C8B-B14F-4D97-AF65-F5344CB8AC3E}">
        <p14:creationId xmlns:p14="http://schemas.microsoft.com/office/powerpoint/2010/main" val="169061753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Learning Models</a:t>
            </a:r>
            <a:endParaRPr lang="en-US" dirty="0"/>
          </a:p>
        </p:txBody>
      </p:sp>
      <p:sp>
        <p:nvSpPr>
          <p:cNvPr id="3" name="Content Placeholder 2"/>
          <p:cNvSpPr>
            <a:spLocks noGrp="1"/>
          </p:cNvSpPr>
          <p:nvPr>
            <p:ph idx="1"/>
          </p:nvPr>
        </p:nvSpPr>
        <p:spPr>
          <a:xfrm>
            <a:off x="762000" y="2119256"/>
            <a:ext cx="7620000" cy="4129143"/>
          </a:xfrm>
        </p:spPr>
        <p:txBody>
          <a:bodyPr>
            <a:normAutofit fontScale="92500"/>
          </a:bodyPr>
          <a:lstStyle/>
          <a:p>
            <a:pPr marL="0" indent="0" algn="just">
              <a:buNone/>
            </a:pPr>
            <a:r>
              <a:rPr lang="en-US" b="1" dirty="0"/>
              <a:t>Distance-based models </a:t>
            </a:r>
            <a:endParaRPr lang="en-US" b="1" dirty="0" smtClean="0"/>
          </a:p>
          <a:p>
            <a:pPr algn="just"/>
            <a:r>
              <a:rPr lang="en-US" dirty="0" smtClean="0"/>
              <a:t>Distance-based </a:t>
            </a:r>
            <a:r>
              <a:rPr lang="en-US" dirty="0"/>
              <a:t>models are the second class of Geometric models. </a:t>
            </a:r>
            <a:endParaRPr lang="en-US" dirty="0" smtClean="0"/>
          </a:p>
          <a:p>
            <a:pPr algn="just"/>
            <a:r>
              <a:rPr lang="en-US" dirty="0" smtClean="0"/>
              <a:t>Like </a:t>
            </a:r>
            <a:r>
              <a:rPr lang="en-US" dirty="0"/>
              <a:t>Linear models, </a:t>
            </a:r>
            <a:r>
              <a:rPr lang="en-US" dirty="0" smtClean="0"/>
              <a:t>distance based </a:t>
            </a:r>
            <a:r>
              <a:rPr lang="en-US" dirty="0"/>
              <a:t>models are based on the geometry of data. As the name implies, distance-based models work on the concept of distance. </a:t>
            </a:r>
            <a:endParaRPr lang="en-US" dirty="0" smtClean="0"/>
          </a:p>
          <a:p>
            <a:pPr algn="just"/>
            <a:r>
              <a:rPr lang="en-US" dirty="0" smtClean="0"/>
              <a:t>In </a:t>
            </a:r>
            <a:r>
              <a:rPr lang="en-US" dirty="0"/>
              <a:t>the context of Machine learning, the concept of distance is not based on merely the physical distance between two points. </a:t>
            </a:r>
            <a:endParaRPr lang="en-US" dirty="0" smtClean="0"/>
          </a:p>
          <a:p>
            <a:pPr algn="just"/>
            <a:r>
              <a:rPr lang="en-US" dirty="0" smtClean="0"/>
              <a:t>Instead</a:t>
            </a:r>
            <a:r>
              <a:rPr lang="en-US" dirty="0"/>
              <a:t>, we could think of the distance between two points considering the mode of transport between two points. </a:t>
            </a:r>
          </a:p>
        </p:txBody>
      </p:sp>
    </p:spTree>
    <p:extLst>
      <p:ext uri="{BB962C8B-B14F-4D97-AF65-F5344CB8AC3E}">
        <p14:creationId xmlns:p14="http://schemas.microsoft.com/office/powerpoint/2010/main" val="399825088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Learning Models</a:t>
            </a:r>
            <a:endParaRPr lang="en-US" dirty="0"/>
          </a:p>
        </p:txBody>
      </p:sp>
      <p:sp>
        <p:nvSpPr>
          <p:cNvPr id="3" name="Content Placeholder 2"/>
          <p:cNvSpPr>
            <a:spLocks noGrp="1"/>
          </p:cNvSpPr>
          <p:nvPr>
            <p:ph idx="1"/>
          </p:nvPr>
        </p:nvSpPr>
        <p:spPr>
          <a:xfrm>
            <a:off x="762000" y="2133600"/>
            <a:ext cx="7620000" cy="4191000"/>
          </a:xfrm>
        </p:spPr>
        <p:txBody>
          <a:bodyPr>
            <a:normAutofit/>
          </a:bodyPr>
          <a:lstStyle/>
          <a:p>
            <a:pPr algn="just"/>
            <a:r>
              <a:rPr lang="en-US" sz="2000" dirty="0"/>
              <a:t>Travelling between two cities by plane 6 covers less distance physically than by train because a plane is unrestricted. </a:t>
            </a:r>
            <a:endParaRPr lang="en-US" sz="2000" dirty="0" smtClean="0"/>
          </a:p>
          <a:p>
            <a:pPr algn="just"/>
            <a:r>
              <a:rPr lang="en-US" sz="2000" dirty="0" smtClean="0"/>
              <a:t>Similarly</a:t>
            </a:r>
            <a:r>
              <a:rPr lang="en-US" sz="2000" dirty="0"/>
              <a:t>, in chess, the concept of distance depends on the piece used – for example, a Bishop can move diagonally. </a:t>
            </a:r>
            <a:endParaRPr lang="en-US" sz="2000" dirty="0" smtClean="0"/>
          </a:p>
          <a:p>
            <a:pPr algn="just"/>
            <a:r>
              <a:rPr lang="en-US" sz="2000" dirty="0" smtClean="0"/>
              <a:t>Thus</a:t>
            </a:r>
            <a:r>
              <a:rPr lang="en-US" sz="2000" dirty="0"/>
              <a:t>, depending on the entity and the mode of travel, the concept of distance can be experienced differently. </a:t>
            </a:r>
            <a:endParaRPr lang="en-US" sz="2000" dirty="0" smtClean="0"/>
          </a:p>
          <a:p>
            <a:pPr algn="just"/>
            <a:r>
              <a:rPr lang="en-US" sz="2000" dirty="0" smtClean="0"/>
              <a:t>The </a:t>
            </a:r>
            <a:r>
              <a:rPr lang="en-US" sz="2000" dirty="0"/>
              <a:t>distance metrics commonly used are </a:t>
            </a:r>
            <a:r>
              <a:rPr lang="en-US" sz="2000" b="1" dirty="0"/>
              <a:t>Euclidean</a:t>
            </a:r>
            <a:r>
              <a:rPr lang="en-US" sz="2000" dirty="0"/>
              <a:t>, </a:t>
            </a:r>
            <a:r>
              <a:rPr lang="en-US" sz="2000" b="1" dirty="0" err="1"/>
              <a:t>Minkowski</a:t>
            </a:r>
            <a:r>
              <a:rPr lang="en-US" sz="2000" dirty="0"/>
              <a:t>, </a:t>
            </a:r>
            <a:r>
              <a:rPr lang="en-US" sz="2000" b="1" dirty="0"/>
              <a:t>Manhattan</a:t>
            </a:r>
            <a:r>
              <a:rPr lang="en-US" sz="2000" dirty="0"/>
              <a:t>, and </a:t>
            </a:r>
            <a:r>
              <a:rPr lang="en-US" sz="2000" b="1" dirty="0" err="1"/>
              <a:t>Mahalanobis</a:t>
            </a:r>
            <a:r>
              <a:rPr lang="en-US" sz="2000" dirty="0" smtClean="0"/>
              <a:t>.</a:t>
            </a:r>
          </a:p>
          <a:p>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4125" y="5038725"/>
            <a:ext cx="4095750" cy="1209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7219903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Learning Models</a:t>
            </a:r>
            <a:endParaRPr lang="en-US" dirty="0"/>
          </a:p>
        </p:txBody>
      </p:sp>
      <p:sp>
        <p:nvSpPr>
          <p:cNvPr id="3" name="Content Placeholder 2"/>
          <p:cNvSpPr>
            <a:spLocks noGrp="1"/>
          </p:cNvSpPr>
          <p:nvPr>
            <p:ph idx="1"/>
          </p:nvPr>
        </p:nvSpPr>
        <p:spPr>
          <a:xfrm>
            <a:off x="762000" y="2119256"/>
            <a:ext cx="7620000" cy="4205343"/>
          </a:xfrm>
        </p:spPr>
        <p:txBody>
          <a:bodyPr>
            <a:normAutofit/>
          </a:bodyPr>
          <a:lstStyle/>
          <a:p>
            <a:pPr algn="just"/>
            <a:r>
              <a:rPr lang="en-US" dirty="0"/>
              <a:t>Distance is applied through the concept of </a:t>
            </a:r>
            <a:r>
              <a:rPr lang="en-US" dirty="0" err="1"/>
              <a:t>neighbours</a:t>
            </a:r>
            <a:r>
              <a:rPr lang="en-US" dirty="0"/>
              <a:t> and </a:t>
            </a:r>
            <a:r>
              <a:rPr lang="en-US" dirty="0" err="1" smtClean="0"/>
              <a:t>exemples</a:t>
            </a:r>
            <a:r>
              <a:rPr lang="en-US" dirty="0"/>
              <a:t>. </a:t>
            </a:r>
            <a:r>
              <a:rPr lang="en-US" dirty="0" err="1"/>
              <a:t>Neighbours</a:t>
            </a:r>
            <a:r>
              <a:rPr lang="en-US" dirty="0"/>
              <a:t> are points in proximity with respect to the distance measure expressed through exemplars. </a:t>
            </a:r>
            <a:endParaRPr lang="en-US" dirty="0" smtClean="0"/>
          </a:p>
          <a:p>
            <a:pPr algn="just">
              <a:buFont typeface="Wingdings" pitchFamily="2" charset="2"/>
              <a:buChar char="§"/>
            </a:pPr>
            <a:r>
              <a:rPr lang="en-US" dirty="0" err="1" smtClean="0"/>
              <a:t>Exemples</a:t>
            </a:r>
            <a:r>
              <a:rPr lang="en-US" dirty="0" smtClean="0"/>
              <a:t> </a:t>
            </a:r>
            <a:r>
              <a:rPr lang="en-US" dirty="0"/>
              <a:t>are either centroids that find a </a:t>
            </a:r>
            <a:r>
              <a:rPr lang="en-US" dirty="0" err="1"/>
              <a:t>centre</a:t>
            </a:r>
            <a:r>
              <a:rPr lang="en-US" dirty="0"/>
              <a:t> of mass according to a chosen distance metric or </a:t>
            </a:r>
            <a:r>
              <a:rPr lang="en-US" dirty="0" err="1"/>
              <a:t>medoids</a:t>
            </a:r>
            <a:r>
              <a:rPr lang="en-US" dirty="0"/>
              <a:t> that find the most centrally located data point. </a:t>
            </a:r>
            <a:endParaRPr lang="en-US" dirty="0" smtClean="0"/>
          </a:p>
          <a:p>
            <a:pPr algn="just"/>
            <a:r>
              <a:rPr lang="en-US" dirty="0" smtClean="0"/>
              <a:t>The </a:t>
            </a:r>
            <a:r>
              <a:rPr lang="en-US" dirty="0"/>
              <a:t>most commonly used centroid is the arithmetic mean, which </a:t>
            </a:r>
            <a:r>
              <a:rPr lang="en-US" dirty="0" err="1"/>
              <a:t>minimises</a:t>
            </a:r>
            <a:r>
              <a:rPr lang="en-US" dirty="0"/>
              <a:t> squared Euclidean distance to all other points. </a:t>
            </a:r>
            <a:endParaRPr lang="en-US" dirty="0" smtClean="0"/>
          </a:p>
        </p:txBody>
      </p:sp>
    </p:spTree>
    <p:extLst>
      <p:ext uri="{BB962C8B-B14F-4D97-AF65-F5344CB8AC3E}">
        <p14:creationId xmlns:p14="http://schemas.microsoft.com/office/powerpoint/2010/main" val="7026040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Learning Models</a:t>
            </a:r>
            <a:endParaRPr lang="en-US" dirty="0"/>
          </a:p>
        </p:txBody>
      </p:sp>
      <p:sp>
        <p:nvSpPr>
          <p:cNvPr id="3" name="Content Placeholder 2"/>
          <p:cNvSpPr>
            <a:spLocks noGrp="1"/>
          </p:cNvSpPr>
          <p:nvPr>
            <p:ph idx="1"/>
          </p:nvPr>
        </p:nvSpPr>
        <p:spPr>
          <a:xfrm>
            <a:off x="762000" y="2119256"/>
            <a:ext cx="7620000" cy="4129143"/>
          </a:xfrm>
        </p:spPr>
        <p:txBody>
          <a:bodyPr>
            <a:normAutofit fontScale="85000" lnSpcReduction="10000"/>
          </a:bodyPr>
          <a:lstStyle/>
          <a:p>
            <a:pPr algn="just"/>
            <a:r>
              <a:rPr lang="en-US" b="1" dirty="0"/>
              <a:t>Notes: </a:t>
            </a:r>
          </a:p>
          <a:p>
            <a:pPr algn="just">
              <a:buFont typeface="Wingdings" pitchFamily="2" charset="2"/>
              <a:buChar char="§"/>
            </a:pPr>
            <a:r>
              <a:rPr lang="en-US" dirty="0"/>
              <a:t>The centroid represents the geometric </a:t>
            </a:r>
            <a:r>
              <a:rPr lang="en-US" dirty="0" err="1"/>
              <a:t>centre</a:t>
            </a:r>
            <a:r>
              <a:rPr lang="en-US" dirty="0"/>
              <a:t> of a plane figure, i.e., the arithmetic mean position of all the points in the figure from the centroid point. This definition extends to any object in n-dimensional space: its centroid is the mean position of all the points. </a:t>
            </a:r>
          </a:p>
          <a:p>
            <a:pPr algn="just">
              <a:buFont typeface="Wingdings" pitchFamily="2" charset="2"/>
              <a:buChar char="§"/>
            </a:pPr>
            <a:r>
              <a:rPr lang="en-US" dirty="0" err="1"/>
              <a:t>Medoids</a:t>
            </a:r>
            <a:r>
              <a:rPr lang="en-US" dirty="0"/>
              <a:t> are similar in concept to means or centroids. </a:t>
            </a:r>
            <a:r>
              <a:rPr lang="en-US" dirty="0" err="1"/>
              <a:t>Medoids</a:t>
            </a:r>
            <a:r>
              <a:rPr lang="en-US" dirty="0"/>
              <a:t> are most commonly used on data when a mean or centroid cannot be defined. They are used in contexts where the centroid is not representative of the dataset, such as in image </a:t>
            </a:r>
            <a:r>
              <a:rPr lang="en-US" dirty="0" smtClean="0"/>
              <a:t>data</a:t>
            </a:r>
          </a:p>
          <a:p>
            <a:pPr algn="just"/>
            <a:r>
              <a:rPr lang="en-US" dirty="0" smtClean="0"/>
              <a:t>Examples </a:t>
            </a:r>
            <a:r>
              <a:rPr lang="en-US" dirty="0"/>
              <a:t>of distance-based models include the nearest-</a:t>
            </a:r>
            <a:r>
              <a:rPr lang="en-US" dirty="0" err="1"/>
              <a:t>neighbour</a:t>
            </a:r>
            <a:r>
              <a:rPr lang="en-US" dirty="0"/>
              <a:t> models, which use the training data as exemplars – for example, in classification. The K-means clustering algorithm also uses exemplars to create clusters of similar data points.</a:t>
            </a:r>
          </a:p>
        </p:txBody>
      </p:sp>
    </p:spTree>
    <p:extLst>
      <p:ext uri="{BB962C8B-B14F-4D97-AF65-F5344CB8AC3E}">
        <p14:creationId xmlns:p14="http://schemas.microsoft.com/office/powerpoint/2010/main" val="382798593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Learning Models</a:t>
            </a:r>
            <a:endParaRPr lang="en-US" dirty="0"/>
          </a:p>
        </p:txBody>
      </p:sp>
      <p:sp>
        <p:nvSpPr>
          <p:cNvPr id="3" name="Content Placeholder 2"/>
          <p:cNvSpPr>
            <a:spLocks noGrp="1"/>
          </p:cNvSpPr>
          <p:nvPr>
            <p:ph idx="1"/>
          </p:nvPr>
        </p:nvSpPr>
        <p:spPr>
          <a:xfrm>
            <a:off x="762000" y="2119256"/>
            <a:ext cx="7620000" cy="4205343"/>
          </a:xfrm>
        </p:spPr>
        <p:txBody>
          <a:bodyPr>
            <a:normAutofit/>
          </a:bodyPr>
          <a:lstStyle/>
          <a:p>
            <a:pPr marL="0" indent="0" algn="just">
              <a:buNone/>
            </a:pPr>
            <a:r>
              <a:rPr lang="en-US" b="1" dirty="0"/>
              <a:t>1.3.3 Probabilistic models </a:t>
            </a:r>
            <a:endParaRPr lang="en-US" b="1" dirty="0" smtClean="0"/>
          </a:p>
          <a:p>
            <a:pPr algn="just"/>
            <a:r>
              <a:rPr lang="en-US" dirty="0" smtClean="0"/>
              <a:t>The </a:t>
            </a:r>
            <a:r>
              <a:rPr lang="en-US" dirty="0"/>
              <a:t>third family of machine learning algorithms is the probabilistic models. </a:t>
            </a:r>
            <a:endParaRPr lang="en-US" dirty="0" smtClean="0"/>
          </a:p>
          <a:p>
            <a:pPr algn="just"/>
            <a:r>
              <a:rPr lang="en-US" dirty="0" smtClean="0"/>
              <a:t>We </a:t>
            </a:r>
            <a:r>
              <a:rPr lang="en-US" dirty="0"/>
              <a:t>have seen before that the k-nearest </a:t>
            </a:r>
            <a:r>
              <a:rPr lang="en-US" dirty="0" err="1"/>
              <a:t>neighbour</a:t>
            </a:r>
            <a:r>
              <a:rPr lang="en-US" dirty="0"/>
              <a:t> algorithm uses the idea of distance (e.g., Euclidian distance) to classify entities, and logical models use a logical expression to partition the instance space. </a:t>
            </a:r>
            <a:endParaRPr lang="en-US" dirty="0" smtClean="0"/>
          </a:p>
          <a:p>
            <a:pPr algn="just"/>
            <a:r>
              <a:rPr lang="en-US" dirty="0" smtClean="0"/>
              <a:t>In </a:t>
            </a:r>
            <a:r>
              <a:rPr lang="en-US" dirty="0"/>
              <a:t>this section, we see how the probabilistic models use the idea of probability to classify new entities.</a:t>
            </a:r>
          </a:p>
        </p:txBody>
      </p:sp>
    </p:spTree>
    <p:extLst>
      <p:ext uri="{BB962C8B-B14F-4D97-AF65-F5344CB8AC3E}">
        <p14:creationId xmlns:p14="http://schemas.microsoft.com/office/powerpoint/2010/main" val="256950344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Learning Models</a:t>
            </a:r>
            <a:endParaRPr lang="en-US" dirty="0"/>
          </a:p>
        </p:txBody>
      </p:sp>
      <p:sp>
        <p:nvSpPr>
          <p:cNvPr id="3" name="Content Placeholder 2"/>
          <p:cNvSpPr>
            <a:spLocks noGrp="1"/>
          </p:cNvSpPr>
          <p:nvPr>
            <p:ph idx="1"/>
          </p:nvPr>
        </p:nvSpPr>
        <p:spPr>
          <a:xfrm>
            <a:off x="762000" y="2119256"/>
            <a:ext cx="7620000" cy="4129143"/>
          </a:xfrm>
        </p:spPr>
        <p:txBody>
          <a:bodyPr>
            <a:normAutofit fontScale="77500" lnSpcReduction="20000"/>
          </a:bodyPr>
          <a:lstStyle/>
          <a:p>
            <a:pPr algn="just"/>
            <a:r>
              <a:rPr lang="en-US" dirty="0"/>
              <a:t>Probabilistic models see features and target variables as random variables. </a:t>
            </a:r>
            <a:endParaRPr lang="en-US" dirty="0" smtClean="0"/>
          </a:p>
          <a:p>
            <a:pPr algn="just"/>
            <a:r>
              <a:rPr lang="en-US" dirty="0" smtClean="0"/>
              <a:t>The </a:t>
            </a:r>
            <a:r>
              <a:rPr lang="en-US" dirty="0"/>
              <a:t>process of </a:t>
            </a:r>
            <a:r>
              <a:rPr lang="en-US" dirty="0" err="1"/>
              <a:t>modelling</a:t>
            </a:r>
            <a:r>
              <a:rPr lang="en-US" dirty="0"/>
              <a:t> represents and manipulates the level of uncertainty with respect to these variables. </a:t>
            </a:r>
            <a:endParaRPr lang="en-US" dirty="0" smtClean="0"/>
          </a:p>
          <a:p>
            <a:pPr algn="just"/>
            <a:r>
              <a:rPr lang="en-US" dirty="0" smtClean="0"/>
              <a:t>There </a:t>
            </a:r>
            <a:r>
              <a:rPr lang="en-US" dirty="0"/>
              <a:t>are two types of probabilistic models: </a:t>
            </a:r>
            <a:r>
              <a:rPr lang="en-US" b="1" dirty="0"/>
              <a:t>Predictive</a:t>
            </a:r>
            <a:r>
              <a:rPr lang="en-US" dirty="0"/>
              <a:t> and </a:t>
            </a:r>
            <a:r>
              <a:rPr lang="en-US" b="1" dirty="0"/>
              <a:t>Generative</a:t>
            </a:r>
            <a:r>
              <a:rPr lang="en-US" dirty="0"/>
              <a:t>. </a:t>
            </a:r>
            <a:endParaRPr lang="en-US" dirty="0" smtClean="0"/>
          </a:p>
          <a:p>
            <a:pPr algn="just"/>
            <a:r>
              <a:rPr lang="en-US" b="1" dirty="0" smtClean="0"/>
              <a:t>Predictive </a:t>
            </a:r>
            <a:r>
              <a:rPr lang="en-US" b="1" dirty="0"/>
              <a:t>probability models </a:t>
            </a:r>
            <a:r>
              <a:rPr lang="en-US" dirty="0"/>
              <a:t>use the idea of a conditional probability distribution P (Y |X) from which Y can be predicted from X. </a:t>
            </a:r>
            <a:endParaRPr lang="en-US" dirty="0" smtClean="0"/>
          </a:p>
          <a:p>
            <a:pPr algn="just"/>
            <a:r>
              <a:rPr lang="en-US" b="1" dirty="0" smtClean="0"/>
              <a:t>Generative </a:t>
            </a:r>
            <a:r>
              <a:rPr lang="en-US" b="1" dirty="0"/>
              <a:t>models </a:t>
            </a:r>
            <a:r>
              <a:rPr lang="en-US" dirty="0"/>
              <a:t>estimate the joint distribution P (Y, X). </a:t>
            </a:r>
            <a:endParaRPr lang="en-US" dirty="0" smtClean="0"/>
          </a:p>
          <a:p>
            <a:pPr algn="just"/>
            <a:r>
              <a:rPr lang="en-US" dirty="0" smtClean="0"/>
              <a:t>Once </a:t>
            </a:r>
            <a:r>
              <a:rPr lang="en-US" dirty="0"/>
              <a:t>we know the joint distribution for the generative models, we can derive any conditional or marginal distribution involving the same variables. Thus, the generative model is capable of creating new data points and their labels, knowing the joint probability distribution. </a:t>
            </a:r>
            <a:endParaRPr lang="en-US" dirty="0" smtClean="0"/>
          </a:p>
          <a:p>
            <a:pPr algn="just"/>
            <a:r>
              <a:rPr lang="en-US" dirty="0" smtClean="0"/>
              <a:t>The </a:t>
            </a:r>
            <a:r>
              <a:rPr lang="en-US" dirty="0"/>
              <a:t>joint distribution looks for a relationship between two variables. Once this relationship is inferred, it is possible to infer new data points. Naïve Bayes is an example of a probabilistic classifier.</a:t>
            </a:r>
          </a:p>
        </p:txBody>
      </p:sp>
    </p:spTree>
    <p:extLst>
      <p:ext uri="{BB962C8B-B14F-4D97-AF65-F5344CB8AC3E}">
        <p14:creationId xmlns:p14="http://schemas.microsoft.com/office/powerpoint/2010/main" val="84257988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Learning Models</a:t>
            </a:r>
            <a:endParaRPr lang="en-US" dirty="0"/>
          </a:p>
        </p:txBody>
      </p:sp>
      <p:sp>
        <p:nvSpPr>
          <p:cNvPr id="3" name="Content Placeholder 2"/>
          <p:cNvSpPr>
            <a:spLocks noGrp="1"/>
          </p:cNvSpPr>
          <p:nvPr>
            <p:ph idx="1"/>
          </p:nvPr>
        </p:nvSpPr>
        <p:spPr>
          <a:xfrm>
            <a:off x="685800" y="2119256"/>
            <a:ext cx="7696200" cy="4205343"/>
          </a:xfrm>
        </p:spPr>
        <p:txBody>
          <a:bodyPr>
            <a:normAutofit fontScale="85000" lnSpcReduction="20000"/>
          </a:bodyPr>
          <a:lstStyle/>
          <a:p>
            <a:pPr algn="just"/>
            <a:r>
              <a:rPr lang="en-US" dirty="0"/>
              <a:t>We can do this using the Bayes rule defined as </a:t>
            </a:r>
            <a:endParaRPr lang="en-US" dirty="0" smtClean="0"/>
          </a:p>
          <a:p>
            <a:pPr algn="just"/>
            <a:endParaRPr lang="en-US" dirty="0"/>
          </a:p>
          <a:p>
            <a:pPr algn="just"/>
            <a:endParaRPr lang="en-US" dirty="0" smtClean="0"/>
          </a:p>
          <a:p>
            <a:pPr algn="just"/>
            <a:r>
              <a:rPr lang="en-US" dirty="0" smtClean="0"/>
              <a:t> </a:t>
            </a:r>
            <a:r>
              <a:rPr lang="en-US" dirty="0"/>
              <a:t>The Naïve Bayes algorithm is based on the idea of Conditional Probability. </a:t>
            </a:r>
            <a:endParaRPr lang="en-US" dirty="0" smtClean="0"/>
          </a:p>
          <a:p>
            <a:pPr algn="just"/>
            <a:r>
              <a:rPr lang="en-US" dirty="0" smtClean="0"/>
              <a:t>Conditional </a:t>
            </a:r>
            <a:r>
              <a:rPr lang="en-US" dirty="0"/>
              <a:t>probability is based on finding the probability that something will happen, given that something else has already happened. </a:t>
            </a:r>
            <a:endParaRPr lang="en-US" dirty="0" smtClean="0"/>
          </a:p>
          <a:p>
            <a:pPr algn="just"/>
            <a:r>
              <a:rPr lang="en-US" dirty="0" smtClean="0"/>
              <a:t>The </a:t>
            </a:r>
            <a:r>
              <a:rPr lang="en-US" dirty="0"/>
              <a:t>task of the algorithm then is to look at the evidence and to determine the likelihood of a specific class and assign a label accordingly to each entity. </a:t>
            </a:r>
            <a:endParaRPr lang="en-US" dirty="0" smtClean="0"/>
          </a:p>
          <a:p>
            <a:pPr algn="just"/>
            <a:r>
              <a:rPr lang="en-US" dirty="0" smtClean="0"/>
              <a:t>Some </a:t>
            </a:r>
            <a:r>
              <a:rPr lang="en-US" dirty="0"/>
              <a:t>broad categories of models: Geometric models Probabilistic models Logical models E.g. K-nearest neighbors, linear regression, support vector machine, logistic regression, … Naïve Bayes, Gaussian process regression, conditional random field, …</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2838" y="2362200"/>
            <a:ext cx="1838325" cy="704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2537195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Learning Models</a:t>
            </a:r>
            <a:endParaRPr lang="en-US" dirty="0"/>
          </a:p>
        </p:txBody>
      </p:sp>
      <p:sp>
        <p:nvSpPr>
          <p:cNvPr id="3" name="Content Placeholder 2"/>
          <p:cNvSpPr>
            <a:spLocks noGrp="1"/>
          </p:cNvSpPr>
          <p:nvPr>
            <p:ph idx="1"/>
          </p:nvPr>
        </p:nvSpPr>
        <p:spPr>
          <a:xfrm>
            <a:off x="762000" y="2119256"/>
            <a:ext cx="7620000" cy="4129143"/>
          </a:xfrm>
        </p:spPr>
        <p:txBody>
          <a:bodyPr>
            <a:normAutofit/>
          </a:bodyPr>
          <a:lstStyle/>
          <a:p>
            <a:pPr marL="0" indent="0">
              <a:buNone/>
            </a:pPr>
            <a:r>
              <a:rPr lang="en-US" b="1" dirty="0"/>
              <a:t>1.3.4 Grouping and Grading </a:t>
            </a:r>
            <a:endParaRPr lang="en-US" b="1" dirty="0" smtClean="0"/>
          </a:p>
          <a:p>
            <a:r>
              <a:rPr lang="en-US" dirty="0" smtClean="0"/>
              <a:t>Grading </a:t>
            </a:r>
            <a:r>
              <a:rPr lang="en-US" dirty="0" err="1"/>
              <a:t>vs</a:t>
            </a:r>
            <a:r>
              <a:rPr lang="en-US" dirty="0"/>
              <a:t> grouping is an orthogonal categorization to geometric-probabilistic-logical-compositional. </a:t>
            </a:r>
            <a:endParaRPr lang="en-US" dirty="0" smtClean="0"/>
          </a:p>
          <a:p>
            <a:pPr algn="just">
              <a:buFont typeface="Wingdings" pitchFamily="2" charset="2"/>
              <a:buChar char="§"/>
            </a:pPr>
            <a:r>
              <a:rPr lang="en-US" dirty="0" smtClean="0"/>
              <a:t>Grouping </a:t>
            </a:r>
            <a:r>
              <a:rPr lang="en-US" dirty="0"/>
              <a:t>models break the instance space up into groups or segments and in each segment apply a very simple method (such as majority class). </a:t>
            </a:r>
            <a:r>
              <a:rPr lang="en-US" dirty="0" smtClean="0"/>
              <a:t> </a:t>
            </a:r>
          </a:p>
          <a:p>
            <a:pPr algn="just">
              <a:buFont typeface="Courier New" pitchFamily="49" charset="0"/>
              <a:buChar char="o"/>
            </a:pPr>
            <a:r>
              <a:rPr lang="en-US" dirty="0" smtClean="0"/>
              <a:t>E.g</a:t>
            </a:r>
            <a:r>
              <a:rPr lang="en-US" dirty="0"/>
              <a:t>. decision tree, KNN. </a:t>
            </a:r>
            <a:endParaRPr lang="en-US" dirty="0" smtClean="0"/>
          </a:p>
          <a:p>
            <a:pPr algn="just">
              <a:buFont typeface="Wingdings" pitchFamily="2" charset="2"/>
              <a:buChar char="§"/>
            </a:pPr>
            <a:r>
              <a:rPr lang="en-US" dirty="0" smtClean="0"/>
              <a:t>Grading </a:t>
            </a:r>
            <a:r>
              <a:rPr lang="en-US" dirty="0"/>
              <a:t>models form one global model over the instance space. </a:t>
            </a:r>
            <a:r>
              <a:rPr lang="en-US" dirty="0" smtClean="0"/>
              <a:t> </a:t>
            </a:r>
          </a:p>
          <a:p>
            <a:pPr algn="just">
              <a:buFont typeface="Courier New" pitchFamily="49" charset="0"/>
              <a:buChar char="o"/>
            </a:pPr>
            <a:r>
              <a:rPr lang="en-US" dirty="0" smtClean="0"/>
              <a:t>E.g</a:t>
            </a:r>
            <a:r>
              <a:rPr lang="en-US" dirty="0"/>
              <a:t>. Linear classifiers – Neural networks</a:t>
            </a:r>
          </a:p>
        </p:txBody>
      </p:sp>
    </p:spTree>
    <p:extLst>
      <p:ext uri="{BB962C8B-B14F-4D97-AF65-F5344CB8AC3E}">
        <p14:creationId xmlns:p14="http://schemas.microsoft.com/office/powerpoint/2010/main" val="408901294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609600"/>
            <a:ext cx="7696199" cy="685800"/>
          </a:xfrm>
        </p:spPr>
        <p:txBody>
          <a:bodyPr>
            <a:normAutofit/>
          </a:bodyPr>
          <a:lstStyle/>
          <a:p>
            <a:r>
              <a:rPr lang="en-US" sz="3600" b="1" dirty="0"/>
              <a:t>1.4 Designing a Learning System</a:t>
            </a:r>
          </a:p>
        </p:txBody>
      </p:sp>
      <p:sp>
        <p:nvSpPr>
          <p:cNvPr id="3" name="Content Placeholder 2"/>
          <p:cNvSpPr>
            <a:spLocks noGrp="1"/>
          </p:cNvSpPr>
          <p:nvPr>
            <p:ph idx="1"/>
          </p:nvPr>
        </p:nvSpPr>
        <p:spPr>
          <a:xfrm>
            <a:off x="685800" y="1143000"/>
            <a:ext cx="7696200" cy="5181599"/>
          </a:xfrm>
        </p:spPr>
        <p:txBody>
          <a:bodyPr>
            <a:normAutofit/>
          </a:bodyPr>
          <a:lstStyle/>
          <a:p>
            <a:pPr algn="just"/>
            <a:r>
              <a:rPr lang="en-US" sz="1400" dirty="0" smtClean="0"/>
              <a:t>For </a:t>
            </a:r>
            <a:r>
              <a:rPr lang="en-US" sz="1400" dirty="0"/>
              <a:t>any learning system, we must be knowing the three elements — T (Task), P (Performance Measure), and E (Training Experience). </a:t>
            </a:r>
            <a:endParaRPr lang="en-US" sz="1400" dirty="0" smtClean="0"/>
          </a:p>
          <a:p>
            <a:pPr algn="just"/>
            <a:r>
              <a:rPr lang="en-US" sz="1400" dirty="0" smtClean="0"/>
              <a:t>At </a:t>
            </a:r>
            <a:r>
              <a:rPr lang="en-US" sz="1400" dirty="0"/>
              <a:t>a high level, the process of learning system looks as below. The learning process starts with task T, performance measure P and training experience E and objective are to find an unknown target function. </a:t>
            </a:r>
            <a:endParaRPr lang="en-US" sz="1400" dirty="0" smtClean="0"/>
          </a:p>
          <a:p>
            <a:pPr algn="just"/>
            <a:r>
              <a:rPr lang="en-US" sz="1400" dirty="0" smtClean="0"/>
              <a:t>The </a:t>
            </a:r>
            <a:r>
              <a:rPr lang="en-US" sz="1400" dirty="0"/>
              <a:t>target function is an exact knowledge to be learned from the training experience and its unknown. </a:t>
            </a:r>
          </a:p>
          <a:p>
            <a:pPr algn="just"/>
            <a:r>
              <a:rPr lang="en-US" sz="1400" dirty="0" smtClean="0"/>
              <a:t>For example, in a case of credit approval, the learning system will have customer application records as experience and task would be to classify whether the given customer application is eligible for a loan. So in this case, the training examples can be represented as (x1,y1)(x2,y2)..(</a:t>
            </a:r>
            <a:r>
              <a:rPr lang="en-US" sz="1400" dirty="0" err="1" smtClean="0"/>
              <a:t>xn,yn</a:t>
            </a:r>
            <a:r>
              <a:rPr lang="en-US" sz="1400" dirty="0" smtClean="0"/>
              <a:t>) where X represents customer application details and y represents the status of credit approval.</a:t>
            </a:r>
            <a:endParaRPr lang="en-US" sz="1400"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1224" y="3886200"/>
            <a:ext cx="4981576" cy="2386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0589837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Designing a Learning System</a:t>
            </a:r>
            <a:endParaRPr lang="en-US" dirty="0"/>
          </a:p>
        </p:txBody>
      </p:sp>
      <p:sp>
        <p:nvSpPr>
          <p:cNvPr id="3" name="Content Placeholder 2"/>
          <p:cNvSpPr>
            <a:spLocks noGrp="1"/>
          </p:cNvSpPr>
          <p:nvPr>
            <p:ph idx="1"/>
          </p:nvPr>
        </p:nvSpPr>
        <p:spPr>
          <a:xfrm>
            <a:off x="685800" y="2119256"/>
            <a:ext cx="7696200" cy="4205343"/>
          </a:xfrm>
        </p:spPr>
        <p:txBody>
          <a:bodyPr/>
          <a:lstStyle/>
          <a:p>
            <a:pPr marL="0" indent="0" algn="just">
              <a:buNone/>
            </a:pPr>
            <a:r>
              <a:rPr lang="en-US" b="1" dirty="0"/>
              <a:t>With these details, what is that exact knowledge to be learned from the training experience? </a:t>
            </a:r>
            <a:endParaRPr lang="en-US" b="1" dirty="0" smtClean="0"/>
          </a:p>
          <a:p>
            <a:pPr algn="just"/>
            <a:r>
              <a:rPr lang="en-US" dirty="0" smtClean="0"/>
              <a:t>So </a:t>
            </a:r>
            <a:r>
              <a:rPr lang="en-US" dirty="0"/>
              <a:t>the target function to be learned in the credit approval learning system is a mapping function f:X →y. </a:t>
            </a:r>
            <a:endParaRPr lang="en-US" dirty="0" smtClean="0"/>
          </a:p>
          <a:p>
            <a:pPr algn="just"/>
            <a:r>
              <a:rPr lang="en-US" dirty="0" smtClean="0"/>
              <a:t>This </a:t>
            </a:r>
            <a:r>
              <a:rPr lang="en-US" dirty="0"/>
              <a:t>function represents the exact knowledge defining the relationship between input variable X and output variable y.</a:t>
            </a:r>
          </a:p>
        </p:txBody>
      </p:sp>
    </p:spTree>
    <p:extLst>
      <p:ext uri="{BB962C8B-B14F-4D97-AF65-F5344CB8AC3E}">
        <p14:creationId xmlns:p14="http://schemas.microsoft.com/office/powerpoint/2010/main" val="393041280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Designing a Learning System</a:t>
            </a:r>
            <a:endParaRPr lang="en-US" dirty="0"/>
          </a:p>
        </p:txBody>
      </p:sp>
      <p:sp>
        <p:nvSpPr>
          <p:cNvPr id="3" name="Content Placeholder 2"/>
          <p:cNvSpPr>
            <a:spLocks noGrp="1"/>
          </p:cNvSpPr>
          <p:nvPr>
            <p:ph idx="1"/>
          </p:nvPr>
        </p:nvSpPr>
        <p:spPr>
          <a:xfrm>
            <a:off x="685800" y="2119256"/>
            <a:ext cx="7696200" cy="4205343"/>
          </a:xfrm>
        </p:spPr>
        <p:txBody>
          <a:bodyPr>
            <a:normAutofit fontScale="70000" lnSpcReduction="20000"/>
          </a:bodyPr>
          <a:lstStyle/>
          <a:p>
            <a:pPr marL="0" indent="0">
              <a:buNone/>
            </a:pPr>
            <a:r>
              <a:rPr lang="en-US" b="1" dirty="0"/>
              <a:t>Design of a learning system </a:t>
            </a:r>
            <a:endParaRPr lang="en-US" b="1" dirty="0" smtClean="0"/>
          </a:p>
          <a:p>
            <a:r>
              <a:rPr lang="en-US" dirty="0" smtClean="0"/>
              <a:t>Just </a:t>
            </a:r>
            <a:r>
              <a:rPr lang="en-US" dirty="0"/>
              <a:t>now we looked into the learning process and also understood the goal of the learning. When we want to design a learning system that follows the learning process, we need to consider a few design choices. The design choices will be to decide the following key components: </a:t>
            </a:r>
            <a:endParaRPr lang="en-US" dirty="0" smtClean="0"/>
          </a:p>
          <a:p>
            <a:pPr marL="457200" indent="-457200">
              <a:buFont typeface="+mj-lt"/>
              <a:buAutoNum type="arabicPeriod"/>
            </a:pPr>
            <a:r>
              <a:rPr lang="en-US" dirty="0" smtClean="0"/>
              <a:t>Type </a:t>
            </a:r>
            <a:r>
              <a:rPr lang="en-US" dirty="0"/>
              <a:t>of training experience </a:t>
            </a:r>
            <a:endParaRPr lang="en-US" dirty="0" smtClean="0"/>
          </a:p>
          <a:p>
            <a:pPr marL="457200" indent="-457200">
              <a:buFont typeface="+mj-lt"/>
              <a:buAutoNum type="arabicPeriod"/>
            </a:pPr>
            <a:r>
              <a:rPr lang="en-US" dirty="0" smtClean="0"/>
              <a:t>Choosing </a:t>
            </a:r>
            <a:r>
              <a:rPr lang="en-US" dirty="0"/>
              <a:t>the Target Function </a:t>
            </a:r>
            <a:endParaRPr lang="en-US" dirty="0" smtClean="0"/>
          </a:p>
          <a:p>
            <a:pPr marL="457200" indent="-457200">
              <a:buFont typeface="+mj-lt"/>
              <a:buAutoNum type="arabicPeriod"/>
            </a:pPr>
            <a:r>
              <a:rPr lang="en-US" dirty="0" smtClean="0"/>
              <a:t>Choosing </a:t>
            </a:r>
            <a:r>
              <a:rPr lang="en-US" dirty="0"/>
              <a:t>a representation for the Target Function </a:t>
            </a:r>
            <a:endParaRPr lang="en-US" dirty="0" smtClean="0"/>
          </a:p>
          <a:p>
            <a:pPr marL="457200" indent="-457200">
              <a:buFont typeface="+mj-lt"/>
              <a:buAutoNum type="arabicPeriod"/>
            </a:pPr>
            <a:r>
              <a:rPr lang="en-US" dirty="0" smtClean="0"/>
              <a:t>Choosing </a:t>
            </a:r>
            <a:r>
              <a:rPr lang="en-US" dirty="0"/>
              <a:t>an approximation algorithm for the Target Function </a:t>
            </a:r>
            <a:endParaRPr lang="en-US" dirty="0" smtClean="0"/>
          </a:p>
          <a:p>
            <a:pPr marL="457200" indent="-457200">
              <a:buFont typeface="+mj-lt"/>
              <a:buAutoNum type="arabicPeriod"/>
            </a:pPr>
            <a:r>
              <a:rPr lang="en-US" dirty="0" smtClean="0"/>
              <a:t>The </a:t>
            </a:r>
            <a:r>
              <a:rPr lang="en-US" dirty="0"/>
              <a:t>final Design </a:t>
            </a:r>
            <a:endParaRPr lang="en-US" dirty="0" smtClean="0"/>
          </a:p>
          <a:p>
            <a:r>
              <a:rPr lang="en-US" dirty="0" smtClean="0"/>
              <a:t>We </a:t>
            </a:r>
            <a:r>
              <a:rPr lang="en-US" dirty="0"/>
              <a:t>will look into the game - checkers learning problem and apply the above design choices. For a checkers learning problem, the three elements will be, </a:t>
            </a:r>
            <a:endParaRPr lang="en-US" dirty="0" smtClean="0"/>
          </a:p>
          <a:p>
            <a:pPr marL="457200" indent="-457200">
              <a:buFont typeface="+mj-lt"/>
              <a:buAutoNum type="arabicPeriod"/>
            </a:pPr>
            <a:r>
              <a:rPr lang="en-US" dirty="0" smtClean="0"/>
              <a:t>Task </a:t>
            </a:r>
            <a:r>
              <a:rPr lang="en-US" dirty="0"/>
              <a:t>T: To play checkers </a:t>
            </a:r>
            <a:endParaRPr lang="en-US" dirty="0" smtClean="0"/>
          </a:p>
          <a:p>
            <a:pPr marL="457200" indent="-457200">
              <a:buFont typeface="+mj-lt"/>
              <a:buAutoNum type="arabicPeriod"/>
            </a:pPr>
            <a:r>
              <a:rPr lang="en-US" dirty="0" smtClean="0"/>
              <a:t>Performance </a:t>
            </a:r>
            <a:r>
              <a:rPr lang="en-US" dirty="0"/>
              <a:t>measure P: Total percent of the game won in the tournament. </a:t>
            </a:r>
            <a:endParaRPr lang="en-US" dirty="0" smtClean="0"/>
          </a:p>
          <a:p>
            <a:pPr marL="457200" indent="-457200">
              <a:buFont typeface="+mj-lt"/>
              <a:buAutoNum type="arabicPeriod"/>
            </a:pPr>
            <a:r>
              <a:rPr lang="en-US" dirty="0" smtClean="0"/>
              <a:t>Training </a:t>
            </a:r>
            <a:r>
              <a:rPr lang="en-US" dirty="0"/>
              <a:t>experience E: A set of games played against </a:t>
            </a:r>
            <a:r>
              <a:rPr lang="en-US" dirty="0" smtClean="0"/>
              <a:t>itself</a:t>
            </a:r>
            <a:endParaRPr lang="en-US" dirty="0"/>
          </a:p>
        </p:txBody>
      </p:sp>
    </p:spTree>
    <p:extLst>
      <p:ext uri="{BB962C8B-B14F-4D97-AF65-F5344CB8AC3E}">
        <p14:creationId xmlns:p14="http://schemas.microsoft.com/office/powerpoint/2010/main" val="88035497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Designing a Learning System</a:t>
            </a:r>
            <a:endParaRPr lang="en-US" dirty="0"/>
          </a:p>
        </p:txBody>
      </p:sp>
      <p:sp>
        <p:nvSpPr>
          <p:cNvPr id="3" name="Content Placeholder 2"/>
          <p:cNvSpPr>
            <a:spLocks noGrp="1"/>
          </p:cNvSpPr>
          <p:nvPr>
            <p:ph idx="1"/>
          </p:nvPr>
        </p:nvSpPr>
        <p:spPr>
          <a:xfrm>
            <a:off x="762000" y="2119256"/>
            <a:ext cx="7620000" cy="4129143"/>
          </a:xfrm>
        </p:spPr>
        <p:txBody>
          <a:bodyPr>
            <a:normAutofit fontScale="70000" lnSpcReduction="20000"/>
          </a:bodyPr>
          <a:lstStyle/>
          <a:p>
            <a:pPr marL="0" indent="0" algn="just">
              <a:buNone/>
            </a:pPr>
            <a:r>
              <a:rPr lang="en-US" b="1" dirty="0"/>
              <a:t>1.4.1 Type of training experience </a:t>
            </a:r>
            <a:endParaRPr lang="en-US" b="1" dirty="0" smtClean="0"/>
          </a:p>
          <a:p>
            <a:pPr algn="just"/>
            <a:r>
              <a:rPr lang="en-US" dirty="0" smtClean="0"/>
              <a:t>During </a:t>
            </a:r>
            <a:r>
              <a:rPr lang="en-US" dirty="0"/>
              <a:t>the design of the checker's learning system, the type of training experience available for a learning system will have a significant effect on the success or failure of the learning. </a:t>
            </a:r>
            <a:endParaRPr lang="en-US" dirty="0" smtClean="0"/>
          </a:p>
          <a:p>
            <a:pPr marL="0" indent="0" algn="just">
              <a:buNone/>
            </a:pPr>
            <a:r>
              <a:rPr lang="en-US" b="1" dirty="0" smtClean="0"/>
              <a:t>1.Direct </a:t>
            </a:r>
            <a:r>
              <a:rPr lang="en-US" b="1" dirty="0"/>
              <a:t>or Indirect training experience </a:t>
            </a:r>
            <a:r>
              <a:rPr lang="en-US" dirty="0"/>
              <a:t>— In the case of direct training experience, an individual board states and correct move for each board state are given. </a:t>
            </a:r>
            <a:endParaRPr lang="en-US" dirty="0" smtClean="0"/>
          </a:p>
          <a:p>
            <a:pPr algn="just"/>
            <a:r>
              <a:rPr lang="en-US" dirty="0" smtClean="0"/>
              <a:t>In </a:t>
            </a:r>
            <a:r>
              <a:rPr lang="en-US" dirty="0"/>
              <a:t>case of indirect training experience, the move sequences for a game and the final result (win, loss or draw) are given for a number of games. How to assign credit or blame to individual moves is the credit assignment problem. </a:t>
            </a:r>
          </a:p>
          <a:p>
            <a:pPr marL="0" indent="0" algn="just">
              <a:buNone/>
            </a:pPr>
            <a:r>
              <a:rPr lang="en-US" b="1" dirty="0" smtClean="0"/>
              <a:t>2</a:t>
            </a:r>
            <a:r>
              <a:rPr lang="en-US" b="1" dirty="0"/>
              <a:t>. Teacher or Not — Supervised </a:t>
            </a:r>
            <a:r>
              <a:rPr lang="en-US" dirty="0"/>
              <a:t>— The training experience will be labeled, which means, all the board states will be labeled with the correct move. </a:t>
            </a:r>
            <a:endParaRPr lang="en-US" dirty="0" smtClean="0"/>
          </a:p>
          <a:p>
            <a:pPr algn="just"/>
            <a:r>
              <a:rPr lang="en-US" dirty="0" smtClean="0"/>
              <a:t>So </a:t>
            </a:r>
            <a:r>
              <a:rPr lang="en-US" dirty="0"/>
              <a:t>the learning takes place in the presence of a supervisor or a teacher. </a:t>
            </a:r>
            <a:r>
              <a:rPr lang="en-US" b="1" dirty="0"/>
              <a:t>Unsupervised </a:t>
            </a:r>
            <a:r>
              <a:rPr lang="en-US" dirty="0"/>
              <a:t>— The training experience will be unlabeled, which means, all the board states will not have the moves. </a:t>
            </a:r>
            <a:endParaRPr lang="en-US" dirty="0" smtClean="0"/>
          </a:p>
          <a:p>
            <a:pPr algn="just"/>
            <a:r>
              <a:rPr lang="en-US" dirty="0" smtClean="0"/>
              <a:t>So </a:t>
            </a:r>
            <a:r>
              <a:rPr lang="en-US" dirty="0"/>
              <a:t>the learner generates random games and plays against itself with no supervision or teacher involvement. </a:t>
            </a:r>
          </a:p>
        </p:txBody>
      </p:sp>
    </p:spTree>
    <p:extLst>
      <p:ext uri="{BB962C8B-B14F-4D97-AF65-F5344CB8AC3E}">
        <p14:creationId xmlns:p14="http://schemas.microsoft.com/office/powerpoint/2010/main" val="346644936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Designing a Learning System</a:t>
            </a:r>
            <a:endParaRPr lang="en-US" dirty="0"/>
          </a:p>
        </p:txBody>
      </p:sp>
      <p:sp>
        <p:nvSpPr>
          <p:cNvPr id="3" name="Content Placeholder 2"/>
          <p:cNvSpPr>
            <a:spLocks noGrp="1"/>
          </p:cNvSpPr>
          <p:nvPr>
            <p:ph idx="1"/>
          </p:nvPr>
        </p:nvSpPr>
        <p:spPr>
          <a:xfrm>
            <a:off x="762000" y="2119256"/>
            <a:ext cx="7620000" cy="4129143"/>
          </a:xfrm>
        </p:spPr>
        <p:txBody>
          <a:bodyPr>
            <a:normAutofit fontScale="92500" lnSpcReduction="10000"/>
          </a:bodyPr>
          <a:lstStyle/>
          <a:p>
            <a:pPr algn="just"/>
            <a:r>
              <a:rPr lang="en-US" b="1" dirty="0"/>
              <a:t>Semi-supervised</a:t>
            </a:r>
            <a:r>
              <a:rPr lang="en-US" dirty="0"/>
              <a:t> — Learner generates game states and asks the teacher for help in finding the correct move if the board state is confusing. </a:t>
            </a:r>
            <a:endParaRPr lang="en-US" dirty="0" smtClean="0"/>
          </a:p>
          <a:p>
            <a:pPr marL="0" indent="0" algn="just">
              <a:buNone/>
            </a:pPr>
            <a:r>
              <a:rPr lang="en-US" b="1" dirty="0" smtClean="0"/>
              <a:t>3</a:t>
            </a:r>
            <a:r>
              <a:rPr lang="en-US" b="1" dirty="0"/>
              <a:t>. Is the training experience good </a:t>
            </a:r>
            <a:r>
              <a:rPr lang="en-US" dirty="0"/>
              <a:t>— Do the training examples represent the distribution of examples over which the final system performance will be measured? Performance is best when training examples and test examples are from the same/a similar distribution. The checker player learns by playing against oneself. Its experience is indirect. It may not encounter moves that are common in human expert play. Once the proper training experience is available, the next design step will be choosing the Target Function.</a:t>
            </a:r>
          </a:p>
        </p:txBody>
      </p:sp>
    </p:spTree>
    <p:extLst>
      <p:ext uri="{BB962C8B-B14F-4D97-AF65-F5344CB8AC3E}">
        <p14:creationId xmlns:p14="http://schemas.microsoft.com/office/powerpoint/2010/main" val="402605306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Designing a Learning System</a:t>
            </a:r>
            <a:endParaRPr lang="en-US" dirty="0"/>
          </a:p>
        </p:txBody>
      </p:sp>
      <p:sp>
        <p:nvSpPr>
          <p:cNvPr id="3" name="Content Placeholder 2"/>
          <p:cNvSpPr>
            <a:spLocks noGrp="1"/>
          </p:cNvSpPr>
          <p:nvPr>
            <p:ph idx="1"/>
          </p:nvPr>
        </p:nvSpPr>
        <p:spPr>
          <a:xfrm>
            <a:off x="762000" y="2119256"/>
            <a:ext cx="7620000" cy="4205343"/>
          </a:xfrm>
        </p:spPr>
        <p:txBody>
          <a:bodyPr>
            <a:normAutofit fontScale="70000" lnSpcReduction="20000"/>
          </a:bodyPr>
          <a:lstStyle/>
          <a:p>
            <a:pPr marL="0" indent="0" algn="just">
              <a:buNone/>
            </a:pPr>
            <a:r>
              <a:rPr lang="en-US" b="1" dirty="0"/>
              <a:t>1.4.2 Choosing the Target Function </a:t>
            </a:r>
            <a:endParaRPr lang="en-US" b="1" dirty="0" smtClean="0"/>
          </a:p>
          <a:p>
            <a:pPr algn="just"/>
            <a:r>
              <a:rPr lang="en-US" dirty="0" smtClean="0"/>
              <a:t>When </a:t>
            </a:r>
            <a:r>
              <a:rPr lang="en-US" dirty="0"/>
              <a:t>you are playing the checkers game, at any moment of time, you make a decision on choosing the best move from different possibilities. You think and apply the learning that you have gained from the experience. </a:t>
            </a:r>
            <a:endParaRPr lang="en-US" dirty="0" smtClean="0"/>
          </a:p>
          <a:p>
            <a:pPr algn="just"/>
            <a:r>
              <a:rPr lang="en-US" dirty="0" smtClean="0"/>
              <a:t>Here </a:t>
            </a:r>
            <a:r>
              <a:rPr lang="en-US" dirty="0"/>
              <a:t>the learning is, for a specific board, you move a checker such that your board state tends towards the winning situation. </a:t>
            </a:r>
            <a:endParaRPr lang="en-US" dirty="0" smtClean="0"/>
          </a:p>
          <a:p>
            <a:pPr algn="just"/>
            <a:r>
              <a:rPr lang="en-US" dirty="0" smtClean="0"/>
              <a:t>Now </a:t>
            </a:r>
            <a:r>
              <a:rPr lang="en-US" dirty="0"/>
              <a:t>the same learning has to be defined in terms of the target function. Here there are 2 considerations — </a:t>
            </a:r>
            <a:r>
              <a:rPr lang="en-US" b="1" dirty="0"/>
              <a:t>direct</a:t>
            </a:r>
            <a:r>
              <a:rPr lang="en-US" dirty="0"/>
              <a:t> and </a:t>
            </a:r>
            <a:r>
              <a:rPr lang="en-US" b="1" dirty="0"/>
              <a:t>indirect experience</a:t>
            </a:r>
            <a:r>
              <a:rPr lang="en-US" dirty="0"/>
              <a:t>. </a:t>
            </a:r>
            <a:endParaRPr lang="en-US" dirty="0" smtClean="0"/>
          </a:p>
          <a:p>
            <a:pPr algn="just">
              <a:buFont typeface="Wingdings" pitchFamily="2" charset="2"/>
              <a:buChar char="§"/>
            </a:pPr>
            <a:r>
              <a:rPr lang="en-US" dirty="0" smtClean="0"/>
              <a:t>During </a:t>
            </a:r>
            <a:r>
              <a:rPr lang="en-US" dirty="0"/>
              <a:t>the </a:t>
            </a:r>
            <a:r>
              <a:rPr lang="en-US" b="1" dirty="0"/>
              <a:t>direct experience</a:t>
            </a:r>
            <a:r>
              <a:rPr lang="en-US" dirty="0"/>
              <a:t>, the checkers learning system, it needs only to learn how to choose the best move among some large search space. We need to find a target function that will help us choose the best move among alternatives. Let us call this function </a:t>
            </a:r>
            <a:r>
              <a:rPr lang="en-US" dirty="0" err="1"/>
              <a:t>ChooseMove</a:t>
            </a:r>
            <a:r>
              <a:rPr lang="en-US" dirty="0"/>
              <a:t> and use the notation </a:t>
            </a:r>
            <a:r>
              <a:rPr lang="en-US" dirty="0" err="1"/>
              <a:t>ChooseMove</a:t>
            </a:r>
            <a:r>
              <a:rPr lang="en-US" dirty="0"/>
              <a:t> : B →M to indicate that this function accepts as input any board from the set of legal board states B and produces as output some move from the set of legal moves M. </a:t>
            </a:r>
            <a:endParaRPr lang="en-US" dirty="0" smtClean="0"/>
          </a:p>
          <a:p>
            <a:pPr algn="just">
              <a:buFont typeface="Wingdings" pitchFamily="2" charset="2"/>
              <a:buChar char="§"/>
            </a:pPr>
            <a:r>
              <a:rPr lang="en-US" dirty="0" smtClean="0"/>
              <a:t>When </a:t>
            </a:r>
            <a:r>
              <a:rPr lang="en-US" dirty="0"/>
              <a:t>there is an </a:t>
            </a:r>
            <a:r>
              <a:rPr lang="en-US" b="1" dirty="0"/>
              <a:t>indirect experience</a:t>
            </a:r>
            <a:r>
              <a:rPr lang="en-US" dirty="0"/>
              <a:t>, it becomes difficult to learn such function. How about assigning a real score to the board state. </a:t>
            </a:r>
          </a:p>
        </p:txBody>
      </p:sp>
    </p:spTree>
    <p:extLst>
      <p:ext uri="{BB962C8B-B14F-4D97-AF65-F5344CB8AC3E}">
        <p14:creationId xmlns:p14="http://schemas.microsoft.com/office/powerpoint/2010/main" val="241203134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9377" y="685800"/>
            <a:ext cx="6965245" cy="1011218"/>
          </a:xfrm>
        </p:spPr>
        <p:txBody>
          <a:bodyPr>
            <a:normAutofit fontScale="90000"/>
          </a:bodyPr>
          <a:lstStyle/>
          <a:p>
            <a:r>
              <a:rPr lang="en-US" b="1" dirty="0"/>
              <a:t>Designing a Learning System</a:t>
            </a:r>
            <a:endParaRPr lang="en-US" dirty="0"/>
          </a:p>
        </p:txBody>
      </p:sp>
      <p:sp>
        <p:nvSpPr>
          <p:cNvPr id="3" name="Content Placeholder 2"/>
          <p:cNvSpPr>
            <a:spLocks noGrp="1"/>
          </p:cNvSpPr>
          <p:nvPr>
            <p:ph idx="1"/>
          </p:nvPr>
        </p:nvSpPr>
        <p:spPr>
          <a:xfrm>
            <a:off x="762000" y="1676400"/>
            <a:ext cx="7620000" cy="4571999"/>
          </a:xfrm>
        </p:spPr>
        <p:txBody>
          <a:bodyPr>
            <a:normAutofit/>
          </a:bodyPr>
          <a:lstStyle/>
          <a:p>
            <a:pPr algn="just"/>
            <a:r>
              <a:rPr lang="en-US" sz="2000" dirty="0"/>
              <a:t>So the function be V : B →R indicating that this accepts as input any board from the set of legal board states B and produces an output a real score. This function assigns the higher scores to better board states. </a:t>
            </a:r>
            <a:endParaRPr lang="en-US" sz="2000" dirty="0" smtClean="0"/>
          </a:p>
          <a:p>
            <a:pPr algn="just"/>
            <a:endParaRPr lang="en-US" sz="2000" dirty="0"/>
          </a:p>
          <a:p>
            <a:pPr algn="just"/>
            <a:endParaRPr lang="en-US" dirty="0" smtClean="0"/>
          </a:p>
          <a:p>
            <a:pPr algn="just"/>
            <a:endParaRPr lang="en-US" dirty="0" smtClean="0"/>
          </a:p>
          <a:p>
            <a:pPr algn="just"/>
            <a:endParaRPr lang="en-US" dirty="0"/>
          </a:p>
          <a:p>
            <a:pPr algn="just"/>
            <a:endParaRPr lang="en-US" dirty="0" smtClean="0"/>
          </a:p>
          <a:p>
            <a:pPr algn="just"/>
            <a:endParaRPr lang="en-US" dirty="0"/>
          </a:p>
          <a:p>
            <a:pPr algn="just"/>
            <a:r>
              <a:rPr lang="en-US" sz="2000" dirty="0" smtClean="0"/>
              <a:t>If </a:t>
            </a:r>
            <a:r>
              <a:rPr lang="en-US" sz="2000" dirty="0"/>
              <a:t>the system can successfully learn such a target function V, then it can easily use it to select the best move from any board position</a:t>
            </a: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5475" y="2990850"/>
            <a:ext cx="5353050" cy="2571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7691576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Designing a Learning System</a:t>
            </a:r>
            <a:endParaRPr lang="en-US" dirty="0"/>
          </a:p>
        </p:txBody>
      </p:sp>
      <p:sp>
        <p:nvSpPr>
          <p:cNvPr id="3" name="Content Placeholder 2"/>
          <p:cNvSpPr>
            <a:spLocks noGrp="1"/>
          </p:cNvSpPr>
          <p:nvPr>
            <p:ph idx="1"/>
          </p:nvPr>
        </p:nvSpPr>
        <p:spPr>
          <a:xfrm>
            <a:off x="762000" y="2119256"/>
            <a:ext cx="7620000" cy="4129143"/>
          </a:xfrm>
        </p:spPr>
        <p:txBody>
          <a:bodyPr>
            <a:normAutofit fontScale="85000" lnSpcReduction="10000"/>
          </a:bodyPr>
          <a:lstStyle/>
          <a:p>
            <a:pPr algn="just"/>
            <a:r>
              <a:rPr lang="en-US" dirty="0"/>
              <a:t>Let us therefore define the target value V(b) for an arbitrary board state b in B, as follows: </a:t>
            </a:r>
            <a:endParaRPr lang="en-US" dirty="0" smtClean="0"/>
          </a:p>
          <a:p>
            <a:pPr marL="457200" indent="-457200" algn="just">
              <a:buAutoNum type="arabicPeriod"/>
            </a:pPr>
            <a:r>
              <a:rPr lang="en-US" dirty="0" smtClean="0"/>
              <a:t>If </a:t>
            </a:r>
            <a:r>
              <a:rPr lang="en-US" dirty="0"/>
              <a:t>b is a final board state that is won, then V(b) = 100 </a:t>
            </a:r>
            <a:endParaRPr lang="en-US" dirty="0" smtClean="0"/>
          </a:p>
          <a:p>
            <a:pPr marL="457200" indent="-457200" algn="just">
              <a:buAutoNum type="arabicPeriod"/>
            </a:pPr>
            <a:r>
              <a:rPr lang="en-US" dirty="0" smtClean="0"/>
              <a:t>If </a:t>
            </a:r>
            <a:r>
              <a:rPr lang="en-US" dirty="0"/>
              <a:t>b is a final board state that is lost, then V(b) = -100 </a:t>
            </a:r>
            <a:endParaRPr lang="en-US" dirty="0" smtClean="0"/>
          </a:p>
          <a:p>
            <a:pPr marL="457200" indent="-457200" algn="just">
              <a:buAutoNum type="arabicPeriod"/>
            </a:pPr>
            <a:r>
              <a:rPr lang="en-US" dirty="0" smtClean="0"/>
              <a:t>If </a:t>
            </a:r>
            <a:r>
              <a:rPr lang="en-US" dirty="0"/>
              <a:t>b is a final board state that is drawn, then V(b) = 0 </a:t>
            </a:r>
            <a:endParaRPr lang="en-US" dirty="0" smtClean="0"/>
          </a:p>
          <a:p>
            <a:pPr marL="457200" indent="-457200" algn="just">
              <a:buAutoNum type="arabicPeriod"/>
            </a:pPr>
            <a:r>
              <a:rPr lang="en-US" dirty="0" smtClean="0"/>
              <a:t>If </a:t>
            </a:r>
            <a:r>
              <a:rPr lang="en-US" dirty="0"/>
              <a:t>b is a not a final state in the game, then V (b) = V (b’), where b’ is the best final board state that can be achieved starting from b and playing optimally until the end of the game. </a:t>
            </a:r>
            <a:endParaRPr lang="en-US" dirty="0" smtClean="0"/>
          </a:p>
          <a:p>
            <a:pPr algn="just"/>
            <a:r>
              <a:rPr lang="en-US" dirty="0" smtClean="0"/>
              <a:t>The </a:t>
            </a:r>
            <a:r>
              <a:rPr lang="en-US" dirty="0"/>
              <a:t>(4) is a recursive definition and to determine the value of V(b) for a particular board state, it performs the search ahead for the optimal line of play, all the way to the end of the game. </a:t>
            </a:r>
            <a:endParaRPr lang="en-US" dirty="0" smtClean="0"/>
          </a:p>
          <a:p>
            <a:pPr algn="just"/>
            <a:r>
              <a:rPr lang="en-US" dirty="0" smtClean="0"/>
              <a:t>So </a:t>
            </a:r>
            <a:r>
              <a:rPr lang="en-US" dirty="0"/>
              <a:t>this definition is not efficiently computable by our checkers playing program, we say that it is a nonoperational definition.</a:t>
            </a:r>
          </a:p>
        </p:txBody>
      </p:sp>
    </p:spTree>
    <p:extLst>
      <p:ext uri="{BB962C8B-B14F-4D97-AF65-F5344CB8AC3E}">
        <p14:creationId xmlns:p14="http://schemas.microsoft.com/office/powerpoint/2010/main" val="173996928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Designing a Learning System</a:t>
            </a:r>
            <a:endParaRPr lang="en-US" dirty="0"/>
          </a:p>
        </p:txBody>
      </p:sp>
      <p:sp>
        <p:nvSpPr>
          <p:cNvPr id="3" name="Content Placeholder 2"/>
          <p:cNvSpPr>
            <a:spLocks noGrp="1"/>
          </p:cNvSpPr>
          <p:nvPr>
            <p:ph idx="1"/>
          </p:nvPr>
        </p:nvSpPr>
        <p:spPr>
          <a:xfrm>
            <a:off x="762000" y="2119256"/>
            <a:ext cx="7620000" cy="4129143"/>
          </a:xfrm>
        </p:spPr>
        <p:txBody>
          <a:bodyPr>
            <a:normAutofit/>
          </a:bodyPr>
          <a:lstStyle/>
          <a:p>
            <a:pPr algn="just"/>
            <a:r>
              <a:rPr lang="en-US" b="1" dirty="0"/>
              <a:t>The goal of learning, in this case, is to discover an operational description of V ; that is, a description that can be used by the checkers-playing program to evaluate states and select moves within realistic time bounds</a:t>
            </a:r>
            <a:r>
              <a:rPr lang="en-US" dirty="0"/>
              <a:t>. </a:t>
            </a:r>
            <a:endParaRPr lang="en-US" dirty="0" smtClean="0"/>
          </a:p>
          <a:p>
            <a:pPr algn="just"/>
            <a:r>
              <a:rPr lang="en-US" dirty="0" smtClean="0"/>
              <a:t>It </a:t>
            </a:r>
            <a:r>
              <a:rPr lang="en-US" dirty="0"/>
              <a:t>may be very difficult in general to learn such an operational form of V perfectly. We expect learning algorithms to acquire only some approximation to the target function ^V.</a:t>
            </a:r>
          </a:p>
        </p:txBody>
      </p:sp>
    </p:spTree>
    <p:extLst>
      <p:ext uri="{BB962C8B-B14F-4D97-AF65-F5344CB8AC3E}">
        <p14:creationId xmlns:p14="http://schemas.microsoft.com/office/powerpoint/2010/main" val="219069679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Designing a Learning System</a:t>
            </a:r>
            <a:endParaRPr lang="en-US" dirty="0"/>
          </a:p>
        </p:txBody>
      </p:sp>
      <p:sp>
        <p:nvSpPr>
          <p:cNvPr id="3" name="Content Placeholder 2"/>
          <p:cNvSpPr>
            <a:spLocks noGrp="1"/>
          </p:cNvSpPr>
          <p:nvPr>
            <p:ph idx="1"/>
          </p:nvPr>
        </p:nvSpPr>
        <p:spPr>
          <a:xfrm>
            <a:off x="762000" y="2119256"/>
            <a:ext cx="7620000" cy="4129143"/>
          </a:xfrm>
        </p:spPr>
        <p:txBody>
          <a:bodyPr>
            <a:normAutofit fontScale="77500" lnSpcReduction="20000"/>
          </a:bodyPr>
          <a:lstStyle/>
          <a:p>
            <a:pPr marL="0" indent="0">
              <a:buNone/>
            </a:pPr>
            <a:r>
              <a:rPr lang="en-US" b="1" dirty="0"/>
              <a:t>1.4.3 Choosing a representation for the Target Function </a:t>
            </a:r>
            <a:endParaRPr lang="en-US" b="1" dirty="0" smtClean="0"/>
          </a:p>
          <a:p>
            <a:pPr algn="just"/>
            <a:r>
              <a:rPr lang="en-US" dirty="0" smtClean="0"/>
              <a:t>Now </a:t>
            </a:r>
            <a:r>
              <a:rPr lang="en-US" dirty="0"/>
              <a:t>that we have specified the ideal target function V, we must choose a representation that the learning program will use to describe the function ^V that it will learn. </a:t>
            </a:r>
            <a:endParaRPr lang="en-US" dirty="0" smtClean="0"/>
          </a:p>
          <a:p>
            <a:pPr algn="just"/>
            <a:r>
              <a:rPr lang="en-US" dirty="0" smtClean="0"/>
              <a:t>As </a:t>
            </a:r>
            <a:r>
              <a:rPr lang="en-US" dirty="0"/>
              <a:t>with earlier design choices, we again have many options. </a:t>
            </a:r>
            <a:endParaRPr lang="en-US" dirty="0" smtClean="0"/>
          </a:p>
          <a:p>
            <a:pPr algn="just"/>
            <a:r>
              <a:rPr lang="en-US" dirty="0" smtClean="0"/>
              <a:t>We </a:t>
            </a:r>
            <a:r>
              <a:rPr lang="en-US" dirty="0"/>
              <a:t>could, for example, allow the program to represent using a large table with a distinct entry specifying the value for each distinct board state. </a:t>
            </a:r>
            <a:endParaRPr lang="en-US" dirty="0" smtClean="0"/>
          </a:p>
          <a:p>
            <a:pPr algn="just"/>
            <a:r>
              <a:rPr lang="en-US" dirty="0" smtClean="0"/>
              <a:t>Or </a:t>
            </a:r>
            <a:r>
              <a:rPr lang="en-US" dirty="0"/>
              <a:t>we could allow it to represent using a collection of rules that match against features of the board state, or a quadratic polynomial function of predefined board features, or an artificial neural network. In general, this choice of representation involves a crucial tradeoff. </a:t>
            </a:r>
            <a:endParaRPr lang="en-US" dirty="0" smtClean="0"/>
          </a:p>
          <a:p>
            <a:pPr algn="just"/>
            <a:r>
              <a:rPr lang="en-US" dirty="0" smtClean="0"/>
              <a:t>On </a:t>
            </a:r>
            <a:r>
              <a:rPr lang="en-US" dirty="0"/>
              <a:t>one hand, we wish to pick a very expressive representation to allow representing as close an approximation as possible to the ideal target function V. </a:t>
            </a:r>
          </a:p>
        </p:txBody>
      </p:sp>
    </p:spTree>
    <p:extLst>
      <p:ext uri="{BB962C8B-B14F-4D97-AF65-F5344CB8AC3E}">
        <p14:creationId xmlns:p14="http://schemas.microsoft.com/office/powerpoint/2010/main" val="312882404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Designing a Learning System</a:t>
            </a:r>
            <a:endParaRPr lang="en-US" dirty="0"/>
          </a:p>
        </p:txBody>
      </p:sp>
      <p:sp>
        <p:nvSpPr>
          <p:cNvPr id="3" name="Content Placeholder 2"/>
          <p:cNvSpPr>
            <a:spLocks noGrp="1"/>
          </p:cNvSpPr>
          <p:nvPr>
            <p:ph idx="1"/>
          </p:nvPr>
        </p:nvSpPr>
        <p:spPr>
          <a:xfrm>
            <a:off x="762000" y="2119256"/>
            <a:ext cx="7620000" cy="4129143"/>
          </a:xfrm>
        </p:spPr>
        <p:txBody>
          <a:bodyPr>
            <a:normAutofit fontScale="70000" lnSpcReduction="20000"/>
          </a:bodyPr>
          <a:lstStyle/>
          <a:p>
            <a:pPr algn="just"/>
            <a:r>
              <a:rPr lang="en-US" dirty="0"/>
              <a:t>On the other hand, the more expressive the representation, the more training data the program will require in order to choose among the alternative hypotheses it can represent. </a:t>
            </a:r>
            <a:endParaRPr lang="en-US" dirty="0" smtClean="0"/>
          </a:p>
          <a:p>
            <a:pPr algn="just"/>
            <a:r>
              <a:rPr lang="en-US" dirty="0" smtClean="0"/>
              <a:t>To </a:t>
            </a:r>
            <a:r>
              <a:rPr lang="en-US" dirty="0"/>
              <a:t>keep the discussion brief, let us choose a simple representation: for any given board state, the function ^V will be calculated as a linear combination of the following board features:  x1(b) — number of black pieces on board b </a:t>
            </a:r>
            <a:endParaRPr lang="en-US" dirty="0" smtClean="0"/>
          </a:p>
          <a:p>
            <a:pPr algn="just"/>
            <a:r>
              <a:rPr lang="en-US" dirty="0" smtClean="0"/>
              <a:t>x2(b</a:t>
            </a:r>
            <a:r>
              <a:rPr lang="en-US" dirty="0"/>
              <a:t>) — number of red pieces on b </a:t>
            </a:r>
            <a:endParaRPr lang="en-US" dirty="0" smtClean="0"/>
          </a:p>
          <a:p>
            <a:pPr algn="just"/>
            <a:r>
              <a:rPr lang="en-US" dirty="0" smtClean="0"/>
              <a:t>x3(b</a:t>
            </a:r>
            <a:r>
              <a:rPr lang="en-US" dirty="0"/>
              <a:t>) — number of black kings on b </a:t>
            </a:r>
            <a:endParaRPr lang="en-US" dirty="0" smtClean="0"/>
          </a:p>
          <a:p>
            <a:pPr algn="just"/>
            <a:r>
              <a:rPr lang="en-US" dirty="0" smtClean="0"/>
              <a:t>x4(b</a:t>
            </a:r>
            <a:r>
              <a:rPr lang="en-US" dirty="0"/>
              <a:t>) — number of red kings on b </a:t>
            </a:r>
            <a:endParaRPr lang="en-US" dirty="0" smtClean="0"/>
          </a:p>
          <a:p>
            <a:pPr algn="just"/>
            <a:r>
              <a:rPr lang="en-US" dirty="0" smtClean="0"/>
              <a:t>x5(b</a:t>
            </a:r>
            <a:r>
              <a:rPr lang="en-US" dirty="0"/>
              <a:t>) — number of red pieces threatened by black (i.e., which can be taken on black’s next turn) </a:t>
            </a:r>
            <a:endParaRPr lang="en-US" dirty="0" smtClean="0"/>
          </a:p>
          <a:p>
            <a:pPr algn="just"/>
            <a:r>
              <a:rPr lang="en-US" dirty="0" smtClean="0"/>
              <a:t>x6(b</a:t>
            </a:r>
            <a:r>
              <a:rPr lang="en-US" dirty="0"/>
              <a:t>) — number of black pieces threatened by red ^V = w0 + w1 · x1(b) + w2 · x2(b) + w3 · x3(b) + w4 · x4(b) +w5 · x5(b) + w6 · x6(b) </a:t>
            </a:r>
            <a:endParaRPr lang="en-US" dirty="0" smtClean="0"/>
          </a:p>
          <a:p>
            <a:pPr algn="just"/>
            <a:r>
              <a:rPr lang="en-US" dirty="0" smtClean="0"/>
              <a:t>Where </a:t>
            </a:r>
            <a:r>
              <a:rPr lang="en-US" dirty="0"/>
              <a:t>w0 through w6 are numerical coefficients or weights to be obtained by a learning algorithm. Weights w1 to w6 will determine the relative importance of different board features</a:t>
            </a:r>
          </a:p>
        </p:txBody>
      </p:sp>
    </p:spTree>
    <p:extLst>
      <p:ext uri="{BB962C8B-B14F-4D97-AF65-F5344CB8AC3E}">
        <p14:creationId xmlns:p14="http://schemas.microsoft.com/office/powerpoint/2010/main" val="41540026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Designing a Learning System</a:t>
            </a:r>
            <a:endParaRPr lang="en-US" dirty="0"/>
          </a:p>
        </p:txBody>
      </p:sp>
      <p:sp>
        <p:nvSpPr>
          <p:cNvPr id="3" name="Content Placeholder 2"/>
          <p:cNvSpPr>
            <a:spLocks noGrp="1"/>
          </p:cNvSpPr>
          <p:nvPr>
            <p:ph idx="1"/>
          </p:nvPr>
        </p:nvSpPr>
        <p:spPr>
          <a:xfrm>
            <a:off x="762000" y="2119256"/>
            <a:ext cx="7620000" cy="4129143"/>
          </a:xfrm>
        </p:spPr>
        <p:txBody>
          <a:bodyPr>
            <a:normAutofit fontScale="85000" lnSpcReduction="10000"/>
          </a:bodyPr>
          <a:lstStyle/>
          <a:p>
            <a:pPr algn="just"/>
            <a:r>
              <a:rPr lang="en-US" dirty="0"/>
              <a:t>Specification of the Machine Learning Problem at this time — Till now we worked on choosing the type of training experience, choosing the target function and its representation. </a:t>
            </a:r>
            <a:endParaRPr lang="en-US" dirty="0" smtClean="0"/>
          </a:p>
          <a:p>
            <a:pPr algn="just">
              <a:buFont typeface="Wingdings" pitchFamily="2" charset="2"/>
              <a:buChar char="§"/>
            </a:pPr>
            <a:r>
              <a:rPr lang="en-US" dirty="0" smtClean="0"/>
              <a:t>The </a:t>
            </a:r>
            <a:r>
              <a:rPr lang="en-US" dirty="0"/>
              <a:t>checkers learning task can be summarized as below. </a:t>
            </a:r>
            <a:endParaRPr lang="en-US" dirty="0" smtClean="0"/>
          </a:p>
          <a:p>
            <a:pPr algn="just">
              <a:buFont typeface="Wingdings" pitchFamily="2" charset="2"/>
              <a:buChar char="§"/>
            </a:pPr>
            <a:r>
              <a:rPr lang="en-US" dirty="0" smtClean="0"/>
              <a:t>Task </a:t>
            </a:r>
            <a:r>
              <a:rPr lang="en-US" dirty="0"/>
              <a:t>T : Play Checkers </a:t>
            </a:r>
            <a:endParaRPr lang="en-US" dirty="0" smtClean="0"/>
          </a:p>
          <a:p>
            <a:pPr algn="just">
              <a:buFont typeface="Wingdings" pitchFamily="2" charset="2"/>
              <a:buChar char="§"/>
            </a:pPr>
            <a:r>
              <a:rPr lang="en-US" dirty="0" smtClean="0"/>
              <a:t>Performance </a:t>
            </a:r>
            <a:r>
              <a:rPr lang="en-US" dirty="0"/>
              <a:t>Measure : % of games won in world tournament </a:t>
            </a:r>
            <a:endParaRPr lang="en-US" dirty="0" smtClean="0"/>
          </a:p>
          <a:p>
            <a:pPr algn="just">
              <a:buFont typeface="Wingdings" pitchFamily="2" charset="2"/>
              <a:buChar char="§"/>
            </a:pPr>
            <a:r>
              <a:rPr lang="en-US" dirty="0" smtClean="0"/>
              <a:t>Training </a:t>
            </a:r>
            <a:r>
              <a:rPr lang="en-US" dirty="0"/>
              <a:t>Experience E : opportunity to play against itself </a:t>
            </a:r>
            <a:endParaRPr lang="en-US" dirty="0" smtClean="0"/>
          </a:p>
          <a:p>
            <a:pPr algn="just">
              <a:buFont typeface="Wingdings" pitchFamily="2" charset="2"/>
              <a:buChar char="§"/>
            </a:pPr>
            <a:r>
              <a:rPr lang="en-US" dirty="0" smtClean="0"/>
              <a:t>Target </a:t>
            </a:r>
            <a:r>
              <a:rPr lang="en-US" dirty="0"/>
              <a:t>Function : V : Board → R </a:t>
            </a:r>
            <a:endParaRPr lang="en-US" dirty="0" smtClean="0"/>
          </a:p>
          <a:p>
            <a:pPr algn="just">
              <a:buFont typeface="Wingdings" pitchFamily="2" charset="2"/>
              <a:buChar char="§"/>
            </a:pPr>
            <a:r>
              <a:rPr lang="en-US" dirty="0" smtClean="0"/>
              <a:t>Target </a:t>
            </a:r>
            <a:r>
              <a:rPr lang="en-US" dirty="0"/>
              <a:t>Function Representation : ^V = w0 + w1 · x1(b) + w2 · x2(b) + w3 · x3(b) + w4 · x4(b) +w5 · x5(b) + w6 · x6(b) </a:t>
            </a:r>
            <a:endParaRPr lang="en-US" dirty="0" smtClean="0"/>
          </a:p>
          <a:p>
            <a:pPr algn="just"/>
            <a:r>
              <a:rPr lang="en-US" dirty="0" smtClean="0"/>
              <a:t>The </a:t>
            </a:r>
            <a:r>
              <a:rPr lang="en-US" dirty="0"/>
              <a:t>first three items above correspond to the specification of the learning </a:t>
            </a:r>
            <a:r>
              <a:rPr lang="en-US" dirty="0" err="1"/>
              <a:t>task,whereas</a:t>
            </a:r>
            <a:r>
              <a:rPr lang="en-US" dirty="0"/>
              <a:t> the final two items constitute design choices for the implementation of the learning program.</a:t>
            </a:r>
          </a:p>
        </p:txBody>
      </p:sp>
    </p:spTree>
    <p:extLst>
      <p:ext uri="{BB962C8B-B14F-4D97-AF65-F5344CB8AC3E}">
        <p14:creationId xmlns:p14="http://schemas.microsoft.com/office/powerpoint/2010/main" val="40466289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817583"/>
            <a:ext cx="6965245" cy="935018"/>
          </a:xfrm>
        </p:spPr>
        <p:txBody>
          <a:bodyPr>
            <a:normAutofit fontScale="90000"/>
          </a:bodyPr>
          <a:lstStyle/>
          <a:p>
            <a:r>
              <a:rPr lang="en-US" b="1" dirty="0"/>
              <a:t>Designing a Learning System</a:t>
            </a:r>
            <a:endParaRPr lang="en-US" dirty="0"/>
          </a:p>
        </p:txBody>
      </p:sp>
      <p:sp>
        <p:nvSpPr>
          <p:cNvPr id="3" name="Content Placeholder 2"/>
          <p:cNvSpPr>
            <a:spLocks noGrp="1"/>
          </p:cNvSpPr>
          <p:nvPr>
            <p:ph idx="1"/>
          </p:nvPr>
        </p:nvSpPr>
        <p:spPr>
          <a:xfrm>
            <a:off x="762000" y="1752600"/>
            <a:ext cx="7620000" cy="4495799"/>
          </a:xfrm>
        </p:spPr>
        <p:txBody>
          <a:bodyPr/>
          <a:lstStyle/>
          <a:p>
            <a:pPr marL="0" indent="0">
              <a:buNone/>
            </a:pPr>
            <a:r>
              <a:rPr lang="en-US" b="1" dirty="0"/>
              <a:t>1.4.4 Choosing an approximation algorithm for the Target Function </a:t>
            </a:r>
            <a:endParaRPr lang="en-US" b="1" dirty="0" smtClean="0"/>
          </a:p>
          <a:p>
            <a:pPr marL="0" indent="0">
              <a:buNone/>
            </a:pPr>
            <a:r>
              <a:rPr lang="en-US" dirty="0" smtClean="0"/>
              <a:t>Generating </a:t>
            </a:r>
            <a:r>
              <a:rPr lang="en-US" dirty="0"/>
              <a:t>training data — To train our learning program, we need a set of training data, each describing a specific board </a:t>
            </a:r>
            <a:r>
              <a:rPr lang="en-US" dirty="0" smtClean="0"/>
              <a:t>state b </a:t>
            </a:r>
            <a:r>
              <a:rPr lang="en-US" dirty="0"/>
              <a:t>and the training value </a:t>
            </a:r>
            <a:r>
              <a:rPr lang="en-US" dirty="0" err="1"/>
              <a:t>V_train</a:t>
            </a:r>
            <a:r>
              <a:rPr lang="en-US" dirty="0"/>
              <a:t> (b) for b. </a:t>
            </a: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8325" y="3733800"/>
            <a:ext cx="5467350" cy="2324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332494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Designing a Learning System</a:t>
            </a:r>
            <a:endParaRPr lang="en-US" dirty="0"/>
          </a:p>
        </p:txBody>
      </p:sp>
      <p:sp>
        <p:nvSpPr>
          <p:cNvPr id="3" name="Content Placeholder 2"/>
          <p:cNvSpPr>
            <a:spLocks noGrp="1"/>
          </p:cNvSpPr>
          <p:nvPr>
            <p:ph idx="1"/>
          </p:nvPr>
        </p:nvSpPr>
        <p:spPr>
          <a:xfrm>
            <a:off x="762000" y="2119257"/>
            <a:ext cx="7620000" cy="3603812"/>
          </a:xfrm>
        </p:spPr>
        <p:txBody>
          <a:bodyPr/>
          <a:lstStyle/>
          <a:p>
            <a:pPr algn="just"/>
            <a:r>
              <a:rPr lang="en-US" dirty="0"/>
              <a:t>Let Successor(b) denotes the next board state following b for which it is again the program’s turn to move</a:t>
            </a:r>
            <a:r>
              <a:rPr lang="en-US" dirty="0" smtClean="0"/>
              <a:t>.</a:t>
            </a:r>
          </a:p>
          <a:p>
            <a:pPr algn="just"/>
            <a:r>
              <a:rPr lang="en-US" dirty="0" smtClean="0"/>
              <a:t> </a:t>
            </a:r>
            <a:r>
              <a:rPr lang="en-US" dirty="0"/>
              <a:t>^V is the learner’s current approximation to V. </a:t>
            </a:r>
            <a:endParaRPr lang="en-US" dirty="0" smtClean="0"/>
          </a:p>
          <a:p>
            <a:pPr algn="just"/>
            <a:r>
              <a:rPr lang="en-US" dirty="0" smtClean="0"/>
              <a:t>Using </a:t>
            </a:r>
            <a:r>
              <a:rPr lang="en-US" dirty="0"/>
              <a:t>these information, assign the training value of </a:t>
            </a:r>
            <a:r>
              <a:rPr lang="en-US" dirty="0" err="1"/>
              <a:t>V_train</a:t>
            </a:r>
            <a:r>
              <a:rPr lang="en-US" dirty="0"/>
              <a:t>(b) for any intermediate board state b as below : </a:t>
            </a:r>
            <a:r>
              <a:rPr lang="en-US" dirty="0" err="1"/>
              <a:t>V_train</a:t>
            </a:r>
            <a:r>
              <a:rPr lang="en-US" dirty="0"/>
              <a:t>(b) ← ^V(Successor(b)) </a:t>
            </a:r>
          </a:p>
        </p:txBody>
      </p:sp>
    </p:spTree>
    <p:extLst>
      <p:ext uri="{BB962C8B-B14F-4D97-AF65-F5344CB8AC3E}">
        <p14:creationId xmlns:p14="http://schemas.microsoft.com/office/powerpoint/2010/main" val="29223126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Designing a Learning System</a:t>
            </a:r>
            <a:endParaRPr lang="en-US" dirty="0"/>
          </a:p>
        </p:txBody>
      </p:sp>
      <p:sp>
        <p:nvSpPr>
          <p:cNvPr id="3" name="Content Placeholder 2"/>
          <p:cNvSpPr>
            <a:spLocks noGrp="1"/>
          </p:cNvSpPr>
          <p:nvPr>
            <p:ph idx="1"/>
          </p:nvPr>
        </p:nvSpPr>
        <p:spPr>
          <a:xfrm>
            <a:off x="762000" y="2119256"/>
            <a:ext cx="7620000" cy="4129143"/>
          </a:xfrm>
        </p:spPr>
        <p:txBody>
          <a:bodyPr>
            <a:normAutofit fontScale="77500" lnSpcReduction="20000"/>
          </a:bodyPr>
          <a:lstStyle/>
          <a:p>
            <a:pPr algn="just"/>
            <a:r>
              <a:rPr lang="en-US" dirty="0"/>
              <a:t>Adjusting the weights Now its time to define the learning algorithm for choosing the weights and best fit the set of training </a:t>
            </a:r>
            <a:r>
              <a:rPr lang="en-US" dirty="0" smtClean="0"/>
              <a:t>examples.</a:t>
            </a:r>
          </a:p>
          <a:p>
            <a:pPr algn="just"/>
            <a:r>
              <a:rPr lang="en-US" dirty="0" smtClean="0"/>
              <a:t>One </a:t>
            </a:r>
            <a:r>
              <a:rPr lang="en-US" dirty="0"/>
              <a:t>common approach is to define the best hypothesis as that which minimizes the squared error E between the training values and the values predicted by the hypothesis ^V. </a:t>
            </a:r>
            <a:endParaRPr lang="en-US" dirty="0" smtClean="0"/>
          </a:p>
          <a:p>
            <a:pPr algn="just"/>
            <a:endParaRPr lang="en-US" dirty="0"/>
          </a:p>
          <a:p>
            <a:pPr algn="just"/>
            <a:endParaRPr lang="en-US" dirty="0" smtClean="0"/>
          </a:p>
          <a:p>
            <a:pPr algn="just"/>
            <a:endParaRPr lang="en-US" dirty="0"/>
          </a:p>
          <a:p>
            <a:pPr algn="just"/>
            <a:endParaRPr lang="en-US" dirty="0" smtClean="0"/>
          </a:p>
          <a:p>
            <a:pPr algn="just"/>
            <a:endParaRPr lang="en-US" dirty="0"/>
          </a:p>
          <a:p>
            <a:pPr algn="just"/>
            <a:r>
              <a:rPr lang="en-US" dirty="0" smtClean="0"/>
              <a:t>The </a:t>
            </a:r>
            <a:r>
              <a:rPr lang="en-US" dirty="0"/>
              <a:t>learning algorithm should incrementally refine weights as more training examples become available and it needs to be robust to errors in training data Least Mean Square (LMS) training rule is the one training algorithm that will adjust weights a small amount in the direction that reduces the error.</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3829050"/>
            <a:ext cx="3048000" cy="590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3757160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Designing a Learning System</a:t>
            </a:r>
            <a:endParaRPr lang="en-US" dirty="0"/>
          </a:p>
        </p:txBody>
      </p:sp>
      <p:sp>
        <p:nvSpPr>
          <p:cNvPr id="3" name="Content Placeholder 2"/>
          <p:cNvSpPr>
            <a:spLocks noGrp="1"/>
          </p:cNvSpPr>
          <p:nvPr>
            <p:ph idx="1"/>
          </p:nvPr>
        </p:nvSpPr>
        <p:spPr>
          <a:xfrm>
            <a:off x="762000" y="2119256"/>
            <a:ext cx="7620000" cy="4052943"/>
          </a:xfrm>
        </p:spPr>
        <p:txBody>
          <a:bodyPr/>
          <a:lstStyle/>
          <a:p>
            <a:r>
              <a:rPr lang="en-US" dirty="0"/>
              <a:t>The LMS algorithm is defined as follows: </a:t>
            </a:r>
            <a:endParaRPr lang="en-US" dirty="0" smtClean="0"/>
          </a:p>
          <a:p>
            <a:endParaRPr lang="en-US" dirty="0"/>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8097" y="2938463"/>
            <a:ext cx="7533903" cy="15966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549326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Designing a Learning System</a:t>
            </a:r>
            <a:endParaRPr lang="en-US" dirty="0"/>
          </a:p>
        </p:txBody>
      </p:sp>
      <p:sp>
        <p:nvSpPr>
          <p:cNvPr id="3" name="Content Placeholder 2"/>
          <p:cNvSpPr>
            <a:spLocks noGrp="1"/>
          </p:cNvSpPr>
          <p:nvPr>
            <p:ph idx="1"/>
          </p:nvPr>
        </p:nvSpPr>
        <p:spPr>
          <a:xfrm>
            <a:off x="762000" y="2119256"/>
            <a:ext cx="7620000" cy="4129143"/>
          </a:xfrm>
        </p:spPr>
        <p:txBody>
          <a:bodyPr>
            <a:normAutofit fontScale="85000" lnSpcReduction="20000"/>
          </a:bodyPr>
          <a:lstStyle/>
          <a:p>
            <a:pPr marL="0" indent="0" algn="just">
              <a:buNone/>
            </a:pPr>
            <a:r>
              <a:rPr lang="en-US" b="1" dirty="0"/>
              <a:t>1.4.5 Final Design for Checkers Learning system </a:t>
            </a:r>
            <a:endParaRPr lang="en-US" b="1" dirty="0" smtClean="0"/>
          </a:p>
          <a:p>
            <a:pPr algn="just"/>
            <a:r>
              <a:rPr lang="en-US" dirty="0" smtClean="0"/>
              <a:t>The </a:t>
            </a:r>
            <a:r>
              <a:rPr lang="en-US" dirty="0"/>
              <a:t>final design of our checkers learning system can be naturally described by four distinct program modules that represent the central components in many learning systems. </a:t>
            </a:r>
            <a:endParaRPr lang="en-US" dirty="0" smtClean="0"/>
          </a:p>
          <a:p>
            <a:pPr marL="0" indent="0" algn="just">
              <a:buNone/>
            </a:pPr>
            <a:r>
              <a:rPr lang="en-US" dirty="0" smtClean="0"/>
              <a:t>1</a:t>
            </a:r>
            <a:r>
              <a:rPr lang="en-US" dirty="0"/>
              <a:t>. </a:t>
            </a:r>
            <a:r>
              <a:rPr lang="en-US" b="1" dirty="0"/>
              <a:t>The performance System </a:t>
            </a:r>
            <a:r>
              <a:rPr lang="en-US" dirty="0"/>
              <a:t>— Takes a new board as input and outputs a trace of the game it played against itself. </a:t>
            </a:r>
            <a:endParaRPr lang="en-US" dirty="0" smtClean="0"/>
          </a:p>
          <a:p>
            <a:pPr marL="0" indent="0" algn="just">
              <a:buNone/>
            </a:pPr>
            <a:r>
              <a:rPr lang="en-US" dirty="0" smtClean="0"/>
              <a:t>2</a:t>
            </a:r>
            <a:r>
              <a:rPr lang="en-US" dirty="0"/>
              <a:t>. </a:t>
            </a:r>
            <a:r>
              <a:rPr lang="en-US" b="1" dirty="0"/>
              <a:t>The Critic </a:t>
            </a:r>
            <a:r>
              <a:rPr lang="en-US" dirty="0"/>
              <a:t>— Takes the trace of a game as an input and outputs a set of training examples of the target function. </a:t>
            </a:r>
          </a:p>
          <a:p>
            <a:pPr marL="0" indent="0" algn="just">
              <a:buNone/>
            </a:pPr>
            <a:r>
              <a:rPr lang="en-US" dirty="0" smtClean="0"/>
              <a:t>3</a:t>
            </a:r>
            <a:r>
              <a:rPr lang="en-US" dirty="0"/>
              <a:t>. </a:t>
            </a:r>
            <a:r>
              <a:rPr lang="en-US" b="1" dirty="0"/>
              <a:t>The Generalizer </a:t>
            </a:r>
            <a:r>
              <a:rPr lang="en-US" dirty="0"/>
              <a:t>— Takes training examples as input and outputs a hypothesis that estimates the target function. Good generalization to new cases is crucial. </a:t>
            </a:r>
            <a:endParaRPr lang="en-US" dirty="0" smtClean="0"/>
          </a:p>
          <a:p>
            <a:pPr marL="0" indent="0" algn="just">
              <a:buNone/>
            </a:pPr>
            <a:r>
              <a:rPr lang="en-US" dirty="0" smtClean="0"/>
              <a:t>4</a:t>
            </a:r>
            <a:r>
              <a:rPr lang="en-US" dirty="0"/>
              <a:t>. </a:t>
            </a:r>
            <a:r>
              <a:rPr lang="en-US" b="1" dirty="0"/>
              <a:t>The Experiment Generator </a:t>
            </a:r>
            <a:r>
              <a:rPr lang="en-US" dirty="0"/>
              <a:t>— Takes the current hypothesis (currently learned function) as input and outputs a new problem (an initial board state) for the performance system to explore.</a:t>
            </a:r>
          </a:p>
        </p:txBody>
      </p:sp>
    </p:spTree>
    <p:extLst>
      <p:ext uri="{BB962C8B-B14F-4D97-AF65-F5344CB8AC3E}">
        <p14:creationId xmlns:p14="http://schemas.microsoft.com/office/powerpoint/2010/main" val="256353646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Designing a Learning System</a:t>
            </a:r>
            <a:endParaRPr lang="en-US" dirty="0"/>
          </a:p>
        </p:txBody>
      </p:sp>
      <p:sp>
        <p:nvSpPr>
          <p:cNvPr id="3" name="Content Placeholder 2"/>
          <p:cNvSpPr>
            <a:spLocks noGrp="1"/>
          </p:cNvSpPr>
          <p:nvPr>
            <p:ph idx="1"/>
          </p:nvPr>
        </p:nvSpPr>
        <p:spPr/>
        <p:txBody>
          <a:bodyPr/>
          <a:lstStyle/>
          <a:p>
            <a:endParaRPr lang="en-US" dirty="0"/>
          </a:p>
        </p:txBody>
      </p:sp>
      <p:pic>
        <p:nvPicPr>
          <p:cNvPr id="1126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8085" y="2133600"/>
            <a:ext cx="7710115" cy="3824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587772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1.5 Types of Learning </a:t>
            </a:r>
            <a:r>
              <a:rPr lang="en-US" dirty="0"/>
              <a:t/>
            </a:r>
            <a:br>
              <a:rPr lang="en-US" dirty="0"/>
            </a:br>
            <a:endParaRPr lang="en-US" dirty="0"/>
          </a:p>
        </p:txBody>
      </p:sp>
      <p:sp>
        <p:nvSpPr>
          <p:cNvPr id="3" name="Content Placeholder 2"/>
          <p:cNvSpPr>
            <a:spLocks noGrp="1"/>
          </p:cNvSpPr>
          <p:nvPr>
            <p:ph idx="1"/>
          </p:nvPr>
        </p:nvSpPr>
        <p:spPr/>
        <p:txBody>
          <a:bodyPr/>
          <a:lstStyle/>
          <a:p>
            <a:pPr algn="just"/>
            <a:r>
              <a:rPr lang="en-US" dirty="0" smtClean="0"/>
              <a:t>In </a:t>
            </a:r>
            <a:r>
              <a:rPr lang="en-US" dirty="0"/>
              <a:t>general, machine learning algorithms can be classified into three types. </a:t>
            </a:r>
            <a:endParaRPr lang="en-US" dirty="0" smtClean="0"/>
          </a:p>
          <a:p>
            <a:pPr>
              <a:buFont typeface="Wingdings" pitchFamily="2" charset="2"/>
              <a:buChar char="§"/>
            </a:pPr>
            <a:r>
              <a:rPr lang="en-US" dirty="0" smtClean="0"/>
              <a:t>Supervised </a:t>
            </a:r>
            <a:r>
              <a:rPr lang="en-US" dirty="0"/>
              <a:t>learning </a:t>
            </a:r>
            <a:endParaRPr lang="en-US" dirty="0" smtClean="0"/>
          </a:p>
          <a:p>
            <a:pPr>
              <a:buFont typeface="Wingdings" pitchFamily="2" charset="2"/>
              <a:buChar char="§"/>
            </a:pPr>
            <a:r>
              <a:rPr lang="en-US" dirty="0" smtClean="0"/>
              <a:t>Unsupervised </a:t>
            </a:r>
            <a:r>
              <a:rPr lang="en-US" dirty="0"/>
              <a:t>learning </a:t>
            </a:r>
            <a:endParaRPr lang="en-US" dirty="0" smtClean="0"/>
          </a:p>
          <a:p>
            <a:pPr>
              <a:buFont typeface="Wingdings" pitchFamily="2" charset="2"/>
              <a:buChar char="§"/>
            </a:pPr>
            <a:r>
              <a:rPr lang="en-US" dirty="0" smtClean="0"/>
              <a:t>Reinforcement </a:t>
            </a:r>
            <a:r>
              <a:rPr lang="en-US" dirty="0"/>
              <a:t>learning</a:t>
            </a:r>
          </a:p>
        </p:txBody>
      </p:sp>
    </p:spTree>
    <p:extLst>
      <p:ext uri="{BB962C8B-B14F-4D97-AF65-F5344CB8AC3E}">
        <p14:creationId xmlns:p14="http://schemas.microsoft.com/office/powerpoint/2010/main" val="381212375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Learning</a:t>
            </a:r>
            <a:endParaRPr lang="en-US" dirty="0"/>
          </a:p>
        </p:txBody>
      </p:sp>
      <p:sp>
        <p:nvSpPr>
          <p:cNvPr id="3" name="Content Placeholder 2"/>
          <p:cNvSpPr>
            <a:spLocks noGrp="1"/>
          </p:cNvSpPr>
          <p:nvPr>
            <p:ph idx="1"/>
          </p:nvPr>
        </p:nvSpPr>
        <p:spPr>
          <a:xfrm>
            <a:off x="762000" y="2119256"/>
            <a:ext cx="7620000" cy="4129143"/>
          </a:xfrm>
        </p:spPr>
        <p:txBody>
          <a:bodyPr>
            <a:normAutofit fontScale="77500" lnSpcReduction="20000"/>
          </a:bodyPr>
          <a:lstStyle/>
          <a:p>
            <a:pPr marL="0" indent="0" algn="just">
              <a:buNone/>
            </a:pPr>
            <a:r>
              <a:rPr lang="en-US" b="1" dirty="0"/>
              <a:t>1.5.1 Supervised learning </a:t>
            </a:r>
            <a:endParaRPr lang="en-US" b="1" dirty="0" smtClean="0"/>
          </a:p>
          <a:p>
            <a:pPr algn="just"/>
            <a:r>
              <a:rPr lang="en-US" dirty="0" smtClean="0"/>
              <a:t>A </a:t>
            </a:r>
            <a:r>
              <a:rPr lang="en-US" dirty="0"/>
              <a:t>training set of examples with the correct responses (targets) is provided and, based on this training set, the algorithm </a:t>
            </a:r>
            <a:r>
              <a:rPr lang="en-US" dirty="0" err="1"/>
              <a:t>generalises</a:t>
            </a:r>
            <a:r>
              <a:rPr lang="en-US" dirty="0"/>
              <a:t> to respond correctly to all possible inputs. </a:t>
            </a:r>
            <a:endParaRPr lang="en-US" dirty="0" smtClean="0"/>
          </a:p>
          <a:p>
            <a:pPr algn="just"/>
            <a:r>
              <a:rPr lang="en-US" dirty="0" smtClean="0"/>
              <a:t>This </a:t>
            </a:r>
            <a:r>
              <a:rPr lang="en-US" dirty="0"/>
              <a:t>is also called learning from exemplars. </a:t>
            </a:r>
            <a:endParaRPr lang="en-US" dirty="0" smtClean="0"/>
          </a:p>
          <a:p>
            <a:pPr algn="just"/>
            <a:r>
              <a:rPr lang="en-US" dirty="0" smtClean="0"/>
              <a:t>Supervised </a:t>
            </a:r>
            <a:r>
              <a:rPr lang="en-US" dirty="0"/>
              <a:t>learning is the machine learning task of learning a function that maps an input to an output based on example input-output pairs. </a:t>
            </a:r>
            <a:endParaRPr lang="en-US" dirty="0" smtClean="0"/>
          </a:p>
          <a:p>
            <a:pPr algn="just"/>
            <a:r>
              <a:rPr lang="en-US" dirty="0" smtClean="0"/>
              <a:t>In </a:t>
            </a:r>
            <a:r>
              <a:rPr lang="en-US" dirty="0"/>
              <a:t>supervised learning, each example in the training set is a pair consisting of an input object (typically a vector) and an output value. </a:t>
            </a:r>
            <a:endParaRPr lang="en-US" dirty="0" smtClean="0"/>
          </a:p>
          <a:p>
            <a:pPr algn="just"/>
            <a:r>
              <a:rPr lang="en-US" dirty="0" smtClean="0"/>
              <a:t>A </a:t>
            </a:r>
            <a:r>
              <a:rPr lang="en-US" dirty="0"/>
              <a:t>supervised learning algorithm analyzes the training data and produces a function, which can be used for mapping new examples. </a:t>
            </a:r>
            <a:endParaRPr lang="en-US" dirty="0" smtClean="0"/>
          </a:p>
          <a:p>
            <a:pPr algn="just"/>
            <a:r>
              <a:rPr lang="en-US" dirty="0" smtClean="0"/>
              <a:t>In </a:t>
            </a:r>
            <a:r>
              <a:rPr lang="en-US" dirty="0"/>
              <a:t>the optimal case, the function will correctly determine the class labels for unseen instances. Both classification and regression problems are supervised learning problems. </a:t>
            </a:r>
          </a:p>
        </p:txBody>
      </p:sp>
    </p:spTree>
    <p:extLst>
      <p:ext uri="{BB962C8B-B14F-4D97-AF65-F5344CB8AC3E}">
        <p14:creationId xmlns:p14="http://schemas.microsoft.com/office/powerpoint/2010/main" val="179221878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Learning</a:t>
            </a:r>
            <a:endParaRPr lang="en-US" dirty="0"/>
          </a:p>
        </p:txBody>
      </p:sp>
      <p:sp>
        <p:nvSpPr>
          <p:cNvPr id="3" name="Content Placeholder 2"/>
          <p:cNvSpPr>
            <a:spLocks noGrp="1"/>
          </p:cNvSpPr>
          <p:nvPr>
            <p:ph idx="1"/>
          </p:nvPr>
        </p:nvSpPr>
        <p:spPr>
          <a:xfrm>
            <a:off x="685800" y="1752600"/>
            <a:ext cx="7696200" cy="3970469"/>
          </a:xfrm>
        </p:spPr>
        <p:txBody>
          <a:bodyPr/>
          <a:lstStyle/>
          <a:p>
            <a:pPr algn="just"/>
            <a:r>
              <a:rPr lang="en-US" dirty="0"/>
              <a:t>A wide range of supervised learning algorithms are available, each with its strengths and </a:t>
            </a:r>
            <a:r>
              <a:rPr lang="en-US" dirty="0" smtClean="0"/>
              <a:t>weaknesses.</a:t>
            </a:r>
          </a:p>
          <a:p>
            <a:pPr algn="just"/>
            <a:r>
              <a:rPr lang="en-US" dirty="0" smtClean="0"/>
              <a:t>There </a:t>
            </a:r>
            <a:r>
              <a:rPr lang="en-US" dirty="0"/>
              <a:t>is no single learning algorithm that works best on all supervised learning </a:t>
            </a:r>
            <a:r>
              <a:rPr lang="en-US" dirty="0" smtClean="0"/>
              <a:t>problems</a:t>
            </a:r>
          </a:p>
          <a:p>
            <a:endParaRPr lang="en-US"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3305175"/>
            <a:ext cx="6885567" cy="301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1096072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Learning</a:t>
            </a:r>
            <a:endParaRPr lang="en-US" dirty="0"/>
          </a:p>
        </p:txBody>
      </p:sp>
      <p:sp>
        <p:nvSpPr>
          <p:cNvPr id="3" name="Content Placeholder 2"/>
          <p:cNvSpPr>
            <a:spLocks noGrp="1"/>
          </p:cNvSpPr>
          <p:nvPr>
            <p:ph idx="1"/>
          </p:nvPr>
        </p:nvSpPr>
        <p:spPr>
          <a:xfrm>
            <a:off x="762000" y="1676400"/>
            <a:ext cx="7620000" cy="4648199"/>
          </a:xfrm>
        </p:spPr>
        <p:txBody>
          <a:bodyPr>
            <a:normAutofit/>
          </a:bodyPr>
          <a:lstStyle/>
          <a:p>
            <a:pPr algn="just"/>
            <a:r>
              <a:rPr lang="en-US" sz="1600" dirty="0"/>
              <a:t>Remarks A “supervised learning” is so called because the process of an algorithm learning from the training dataset can be thought of as a teacher supervising the learning process. </a:t>
            </a:r>
            <a:endParaRPr lang="en-US" sz="1600" dirty="0" smtClean="0"/>
          </a:p>
          <a:p>
            <a:pPr algn="just"/>
            <a:r>
              <a:rPr lang="en-US" sz="1600" dirty="0" smtClean="0"/>
              <a:t>We </a:t>
            </a:r>
            <a:r>
              <a:rPr lang="en-US" sz="1600" dirty="0"/>
              <a:t>know the correct answers (that is, the correct outputs), the algorithm iteratively makes predictions on the training data and is corrected by the </a:t>
            </a:r>
            <a:r>
              <a:rPr lang="en-US" sz="1600" dirty="0" smtClean="0"/>
              <a:t>teacher.</a:t>
            </a:r>
          </a:p>
          <a:p>
            <a:pPr algn="just"/>
            <a:r>
              <a:rPr lang="en-US" sz="1600" dirty="0" smtClean="0"/>
              <a:t>Learning </a:t>
            </a:r>
            <a:r>
              <a:rPr lang="en-US" sz="1600" dirty="0"/>
              <a:t>stops when the algorithm achieves an acceptable level of performance</a:t>
            </a:r>
            <a:r>
              <a:rPr lang="en-US" sz="1600" dirty="0" smtClean="0"/>
              <a:t>.</a:t>
            </a:r>
          </a:p>
          <a:p>
            <a:pPr algn="just"/>
            <a:r>
              <a:rPr lang="en-US" sz="1600" dirty="0"/>
              <a:t>Example Consider the following data regarding patients entering a clinic. The data consists of the gender and age of the patients and each patient is labeled as “healthy” or “</a:t>
            </a:r>
            <a:r>
              <a:rPr lang="en-US" sz="1600" dirty="0" smtClean="0"/>
              <a:t>sick”.</a:t>
            </a:r>
          </a:p>
          <a:p>
            <a:pPr marL="0" indent="0" algn="just">
              <a:buNone/>
            </a:pPr>
            <a:endParaRPr lang="en-US" sz="1600" dirty="0"/>
          </a:p>
        </p:txBody>
      </p:sp>
      <p:pic>
        <p:nvPicPr>
          <p:cNvPr id="1229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00425" y="4314825"/>
            <a:ext cx="2343150" cy="185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3585208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Learning</a:t>
            </a:r>
            <a:endParaRPr lang="en-US" dirty="0"/>
          </a:p>
        </p:txBody>
      </p:sp>
      <p:sp>
        <p:nvSpPr>
          <p:cNvPr id="3" name="Content Placeholder 2"/>
          <p:cNvSpPr>
            <a:spLocks noGrp="1"/>
          </p:cNvSpPr>
          <p:nvPr>
            <p:ph idx="1"/>
          </p:nvPr>
        </p:nvSpPr>
        <p:spPr>
          <a:xfrm>
            <a:off x="762000" y="2119256"/>
            <a:ext cx="7620000" cy="4129143"/>
          </a:xfrm>
        </p:spPr>
        <p:txBody>
          <a:bodyPr>
            <a:normAutofit fontScale="85000" lnSpcReduction="20000"/>
          </a:bodyPr>
          <a:lstStyle/>
          <a:p>
            <a:pPr marL="0" indent="0">
              <a:buNone/>
            </a:pPr>
            <a:r>
              <a:rPr lang="en-US" b="1" dirty="0"/>
              <a:t>1.5.2 Unsupervised learning </a:t>
            </a:r>
          </a:p>
          <a:p>
            <a:pPr algn="just"/>
            <a:r>
              <a:rPr lang="en-US" dirty="0" smtClean="0"/>
              <a:t>Correct </a:t>
            </a:r>
            <a:r>
              <a:rPr lang="en-US" dirty="0"/>
              <a:t>responses are not provided, but instead the algorithm tries to identify similarities between the inputs so that inputs that have something in common are </a:t>
            </a:r>
            <a:r>
              <a:rPr lang="en-US" dirty="0" err="1"/>
              <a:t>categorised</a:t>
            </a:r>
            <a:r>
              <a:rPr lang="en-US" dirty="0"/>
              <a:t> </a:t>
            </a:r>
            <a:r>
              <a:rPr lang="en-US" dirty="0" smtClean="0"/>
              <a:t>together.</a:t>
            </a:r>
          </a:p>
          <a:p>
            <a:pPr algn="just"/>
            <a:r>
              <a:rPr lang="en-US" dirty="0" smtClean="0"/>
              <a:t>The </a:t>
            </a:r>
            <a:r>
              <a:rPr lang="en-US" dirty="0"/>
              <a:t>statistical approach to unsupervised learning is known as density estimation. </a:t>
            </a:r>
            <a:endParaRPr lang="en-US" dirty="0" smtClean="0"/>
          </a:p>
          <a:p>
            <a:pPr algn="just"/>
            <a:r>
              <a:rPr lang="en-US" dirty="0" smtClean="0"/>
              <a:t>Unsupervised </a:t>
            </a:r>
            <a:r>
              <a:rPr lang="en-US" dirty="0"/>
              <a:t>learning is a type of machine learning algorithm used to draw inferences from datasets consisting of input data without labeled responses. </a:t>
            </a:r>
            <a:endParaRPr lang="en-US" dirty="0" smtClean="0"/>
          </a:p>
          <a:p>
            <a:pPr algn="just"/>
            <a:r>
              <a:rPr lang="en-US" dirty="0" smtClean="0"/>
              <a:t>In </a:t>
            </a:r>
            <a:r>
              <a:rPr lang="en-US" dirty="0"/>
              <a:t>unsupervised learning algorithms, a classification or categorization is not included in the observations. </a:t>
            </a:r>
            <a:endParaRPr lang="en-US" dirty="0" smtClean="0"/>
          </a:p>
          <a:p>
            <a:pPr algn="just"/>
            <a:r>
              <a:rPr lang="en-US" dirty="0" smtClean="0"/>
              <a:t>There </a:t>
            </a:r>
            <a:r>
              <a:rPr lang="en-US" dirty="0"/>
              <a:t>are no output values and so there is no estimation of functions. Since the examples given to the learner are unlabeled, the accuracy of the structure that is output by the algorithm cannot be evaluated. </a:t>
            </a:r>
          </a:p>
        </p:txBody>
      </p:sp>
    </p:spTree>
    <p:extLst>
      <p:ext uri="{BB962C8B-B14F-4D97-AF65-F5344CB8AC3E}">
        <p14:creationId xmlns:p14="http://schemas.microsoft.com/office/powerpoint/2010/main" val="287596387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Learning</a:t>
            </a:r>
            <a:endParaRPr lang="en-US" dirty="0"/>
          </a:p>
        </p:txBody>
      </p:sp>
      <p:sp>
        <p:nvSpPr>
          <p:cNvPr id="3" name="Content Placeholder 2"/>
          <p:cNvSpPr>
            <a:spLocks noGrp="1"/>
          </p:cNvSpPr>
          <p:nvPr>
            <p:ph idx="1"/>
          </p:nvPr>
        </p:nvSpPr>
        <p:spPr>
          <a:xfrm>
            <a:off x="762000" y="1752600"/>
            <a:ext cx="7620000" cy="4495799"/>
          </a:xfrm>
        </p:spPr>
        <p:txBody>
          <a:bodyPr/>
          <a:lstStyle/>
          <a:p>
            <a:pPr algn="just"/>
            <a:r>
              <a:rPr lang="en-US" sz="2000" dirty="0"/>
              <a:t>The most common unsupervised learning method is cluster analysis, which is used for exploratory data analysis to find hidden patterns 14 or grouping in </a:t>
            </a:r>
            <a:r>
              <a:rPr lang="en-US" sz="2000" dirty="0" smtClean="0"/>
              <a:t>data.</a:t>
            </a:r>
          </a:p>
          <a:p>
            <a:pPr algn="just"/>
            <a:r>
              <a:rPr lang="en-US" sz="2000" dirty="0" smtClean="0"/>
              <a:t>Example </a:t>
            </a:r>
            <a:r>
              <a:rPr lang="en-US" sz="2000" dirty="0"/>
              <a:t>Consider the following data regarding patients entering a clinic. </a:t>
            </a:r>
            <a:endParaRPr lang="en-US" sz="2000" dirty="0" smtClean="0"/>
          </a:p>
          <a:p>
            <a:pPr algn="just"/>
            <a:r>
              <a:rPr lang="en-US" sz="2000" dirty="0" smtClean="0"/>
              <a:t>The </a:t>
            </a:r>
            <a:r>
              <a:rPr lang="en-US" sz="2000" dirty="0"/>
              <a:t>data consists of the gender and age of the patients. </a:t>
            </a:r>
            <a:endParaRPr lang="en-US" sz="2000" dirty="0" smtClean="0"/>
          </a:p>
          <a:p>
            <a:pPr algn="just"/>
            <a:r>
              <a:rPr lang="en-US" sz="2000" dirty="0" smtClean="0"/>
              <a:t>Based </a:t>
            </a:r>
            <a:r>
              <a:rPr lang="en-US" sz="2000" dirty="0"/>
              <a:t>on this data, can we infer anything regarding the patients entering the clinic?</a:t>
            </a:r>
          </a:p>
          <a:p>
            <a:pPr algn="just"/>
            <a:endParaRPr lang="en-US" dirty="0" smtClean="0"/>
          </a:p>
          <a:p>
            <a:pPr marL="0" indent="0" algn="just">
              <a:buNone/>
            </a:pPr>
            <a:endParaRPr lang="en-US" dirty="0"/>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81375" y="4419600"/>
            <a:ext cx="2381250" cy="185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7327164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Learning</a:t>
            </a:r>
            <a:endParaRPr lang="en-US" dirty="0"/>
          </a:p>
        </p:txBody>
      </p:sp>
      <p:sp>
        <p:nvSpPr>
          <p:cNvPr id="3" name="Content Placeholder 2"/>
          <p:cNvSpPr>
            <a:spLocks noGrp="1"/>
          </p:cNvSpPr>
          <p:nvPr>
            <p:ph idx="1"/>
          </p:nvPr>
        </p:nvSpPr>
        <p:spPr>
          <a:xfrm>
            <a:off x="762000" y="2119256"/>
            <a:ext cx="7620000" cy="4129143"/>
          </a:xfrm>
        </p:spPr>
        <p:txBody>
          <a:bodyPr>
            <a:normAutofit fontScale="70000" lnSpcReduction="20000"/>
          </a:bodyPr>
          <a:lstStyle/>
          <a:p>
            <a:pPr marL="0" indent="0" algn="just">
              <a:buNone/>
            </a:pPr>
            <a:r>
              <a:rPr lang="en-US" b="1" dirty="0"/>
              <a:t>1.5.3 Reinforcement learning</a:t>
            </a:r>
            <a:r>
              <a:rPr lang="en-US" dirty="0"/>
              <a:t> </a:t>
            </a:r>
            <a:endParaRPr lang="en-US" dirty="0" smtClean="0"/>
          </a:p>
          <a:p>
            <a:pPr algn="just"/>
            <a:r>
              <a:rPr lang="en-US" dirty="0" smtClean="0"/>
              <a:t>This </a:t>
            </a:r>
            <a:r>
              <a:rPr lang="en-US" dirty="0"/>
              <a:t>is somewhere between supervised and unsupervised learning. The algorithm gets told when the answer is wrong, but does not get told how to correct it. </a:t>
            </a:r>
            <a:endParaRPr lang="en-US" dirty="0" smtClean="0"/>
          </a:p>
          <a:p>
            <a:pPr algn="just"/>
            <a:r>
              <a:rPr lang="en-US" dirty="0" smtClean="0"/>
              <a:t>It </a:t>
            </a:r>
            <a:r>
              <a:rPr lang="en-US" dirty="0"/>
              <a:t>has to explore and try out different possibilities until it works out how to get the answer right. </a:t>
            </a:r>
            <a:endParaRPr lang="en-US" dirty="0" smtClean="0"/>
          </a:p>
          <a:p>
            <a:pPr algn="just"/>
            <a:r>
              <a:rPr lang="en-US" dirty="0" smtClean="0"/>
              <a:t>Reinforcement </a:t>
            </a:r>
            <a:r>
              <a:rPr lang="en-US" dirty="0"/>
              <a:t>learning is sometime called learning with a critic because of this monitor that scores the answer, but does not suggest improvements. </a:t>
            </a:r>
            <a:endParaRPr lang="en-US" dirty="0" smtClean="0"/>
          </a:p>
          <a:p>
            <a:pPr algn="just"/>
            <a:r>
              <a:rPr lang="en-US" dirty="0" smtClean="0"/>
              <a:t>Reinforcement </a:t>
            </a:r>
            <a:r>
              <a:rPr lang="en-US" dirty="0"/>
              <a:t>learning is the problem of getting an agent to act in the world so as to maximize its rewards. </a:t>
            </a:r>
            <a:endParaRPr lang="en-US" dirty="0" smtClean="0"/>
          </a:p>
          <a:p>
            <a:pPr algn="just"/>
            <a:r>
              <a:rPr lang="en-US" dirty="0" smtClean="0"/>
              <a:t>A </a:t>
            </a:r>
            <a:r>
              <a:rPr lang="en-US" dirty="0"/>
              <a:t>learner (the program) is not told what actions to take as in most forms of machine learning, but instead must discover which actions yield the most reward by trying them. </a:t>
            </a:r>
            <a:endParaRPr lang="en-US" dirty="0" smtClean="0"/>
          </a:p>
          <a:p>
            <a:pPr algn="just"/>
            <a:r>
              <a:rPr lang="en-US" dirty="0" smtClean="0"/>
              <a:t>In </a:t>
            </a:r>
            <a:r>
              <a:rPr lang="en-US" dirty="0"/>
              <a:t>the most interesting and challenging cases, actions may affect not only the immediate reward but also the next situations and, through that, all subsequent rewards</a:t>
            </a:r>
          </a:p>
        </p:txBody>
      </p:sp>
    </p:spTree>
    <p:extLst>
      <p:ext uri="{BB962C8B-B14F-4D97-AF65-F5344CB8AC3E}">
        <p14:creationId xmlns:p14="http://schemas.microsoft.com/office/powerpoint/2010/main" val="270790586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Learning</a:t>
            </a:r>
            <a:endParaRPr lang="en-US" dirty="0"/>
          </a:p>
        </p:txBody>
      </p:sp>
      <p:sp>
        <p:nvSpPr>
          <p:cNvPr id="3" name="Content Placeholder 2"/>
          <p:cNvSpPr>
            <a:spLocks noGrp="1"/>
          </p:cNvSpPr>
          <p:nvPr>
            <p:ph idx="1"/>
          </p:nvPr>
        </p:nvSpPr>
        <p:spPr>
          <a:xfrm>
            <a:off x="762000" y="2119256"/>
            <a:ext cx="7696200" cy="4129143"/>
          </a:xfrm>
        </p:spPr>
        <p:txBody>
          <a:bodyPr>
            <a:normAutofit lnSpcReduction="10000"/>
          </a:bodyPr>
          <a:lstStyle/>
          <a:p>
            <a:pPr algn="just"/>
            <a:r>
              <a:rPr lang="en-US" dirty="0"/>
              <a:t>Example Consider teaching a dog a new trick: we cannot tell it what to do, but we can reward/punish it if it does the right/wrong thing. </a:t>
            </a:r>
            <a:endParaRPr lang="en-US" dirty="0" smtClean="0"/>
          </a:p>
          <a:p>
            <a:pPr algn="just"/>
            <a:r>
              <a:rPr lang="en-US" dirty="0" smtClean="0"/>
              <a:t>It </a:t>
            </a:r>
            <a:r>
              <a:rPr lang="en-US" dirty="0"/>
              <a:t>has to find out what it did that made it get the reward/punishment. </a:t>
            </a:r>
            <a:endParaRPr lang="en-US" dirty="0" smtClean="0"/>
          </a:p>
          <a:p>
            <a:pPr algn="just"/>
            <a:r>
              <a:rPr lang="en-US" dirty="0" smtClean="0"/>
              <a:t>We </a:t>
            </a:r>
            <a:r>
              <a:rPr lang="en-US" dirty="0"/>
              <a:t>can use a similar method to train computers to do many tasks, such as playing backgammon or chess, scheduling jobs, and controlling robot </a:t>
            </a:r>
            <a:r>
              <a:rPr lang="en-US" dirty="0" smtClean="0"/>
              <a:t>limbs.</a:t>
            </a:r>
          </a:p>
          <a:p>
            <a:pPr algn="just"/>
            <a:r>
              <a:rPr lang="en-US" dirty="0" smtClean="0"/>
              <a:t>Reinforcement </a:t>
            </a:r>
            <a:r>
              <a:rPr lang="en-US" dirty="0"/>
              <a:t>learning is different from supervised learning. Supervised learning is learning from examples provided by a knowledgeable expert.</a:t>
            </a:r>
          </a:p>
        </p:txBody>
      </p:sp>
    </p:spTree>
    <p:extLst>
      <p:ext uri="{BB962C8B-B14F-4D97-AF65-F5344CB8AC3E}">
        <p14:creationId xmlns:p14="http://schemas.microsoft.com/office/powerpoint/2010/main" val="191463523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609600"/>
            <a:ext cx="6965245" cy="1410467"/>
          </a:xfrm>
        </p:spPr>
        <p:txBody>
          <a:bodyPr>
            <a:normAutofit fontScale="90000"/>
          </a:bodyPr>
          <a:lstStyle/>
          <a:p>
            <a:r>
              <a:rPr lang="en-US" dirty="0" smtClean="0"/>
              <a:t/>
            </a:r>
            <a:br>
              <a:rPr lang="en-US" dirty="0" smtClean="0"/>
            </a:br>
            <a:r>
              <a:rPr lang="en-US" b="1" dirty="0" smtClean="0"/>
              <a:t>1.6 Perspectives and issues in Machine </a:t>
            </a:r>
            <a:r>
              <a:rPr lang="en-US" b="1" dirty="0"/>
              <a:t>L</a:t>
            </a:r>
            <a:r>
              <a:rPr lang="en-US" b="1" dirty="0" smtClean="0"/>
              <a:t>earning </a:t>
            </a:r>
            <a:r>
              <a:rPr lang="en-US" dirty="0"/>
              <a:t/>
            </a:r>
            <a:br>
              <a:rPr lang="en-US" dirty="0"/>
            </a:br>
            <a:endParaRPr lang="en-US" dirty="0"/>
          </a:p>
        </p:txBody>
      </p:sp>
      <p:sp>
        <p:nvSpPr>
          <p:cNvPr id="3" name="Content Placeholder 2"/>
          <p:cNvSpPr>
            <a:spLocks noGrp="1"/>
          </p:cNvSpPr>
          <p:nvPr>
            <p:ph idx="1"/>
          </p:nvPr>
        </p:nvSpPr>
        <p:spPr>
          <a:xfrm>
            <a:off x="762000" y="2119256"/>
            <a:ext cx="7620000" cy="4205343"/>
          </a:xfrm>
        </p:spPr>
        <p:txBody>
          <a:bodyPr>
            <a:normAutofit fontScale="70000" lnSpcReduction="20000"/>
          </a:bodyPr>
          <a:lstStyle/>
          <a:p>
            <a:pPr marL="0" indent="0">
              <a:buNone/>
            </a:pPr>
            <a:r>
              <a:rPr lang="en-US" b="1" dirty="0" smtClean="0"/>
              <a:t>Perspectives </a:t>
            </a:r>
            <a:r>
              <a:rPr lang="en-US" b="1" dirty="0"/>
              <a:t>in Machine Learning </a:t>
            </a:r>
            <a:endParaRPr lang="en-US" b="1" dirty="0" smtClean="0"/>
          </a:p>
          <a:p>
            <a:pPr algn="just"/>
            <a:r>
              <a:rPr lang="en-US" dirty="0" smtClean="0"/>
              <a:t>One </a:t>
            </a:r>
            <a:r>
              <a:rPr lang="en-US" dirty="0"/>
              <a:t>useful perspective on machine learning is that it involves searching a very large space of possible hypotheses to determine one that best fits the observed data and any prior knowledge held by the learner. </a:t>
            </a:r>
            <a:endParaRPr lang="en-US" dirty="0" smtClean="0"/>
          </a:p>
          <a:p>
            <a:pPr algn="just"/>
            <a:r>
              <a:rPr lang="en-US" dirty="0" smtClean="0"/>
              <a:t>For </a:t>
            </a:r>
            <a:r>
              <a:rPr lang="en-US" dirty="0"/>
              <a:t>example, consider the space of hypotheses that could in principle be output by the above checkers learner. </a:t>
            </a:r>
            <a:endParaRPr lang="en-US" dirty="0" smtClean="0"/>
          </a:p>
          <a:p>
            <a:pPr algn="just"/>
            <a:r>
              <a:rPr lang="en-US" dirty="0" smtClean="0"/>
              <a:t>This </a:t>
            </a:r>
            <a:r>
              <a:rPr lang="en-US" dirty="0"/>
              <a:t>hypothesis space consists of all evaluation functions that can be represented by some choice of values for the weights </a:t>
            </a:r>
            <a:r>
              <a:rPr lang="en-US" b="1" dirty="0" smtClean="0"/>
              <a:t>w0</a:t>
            </a:r>
            <a:r>
              <a:rPr lang="en-US" dirty="0" smtClean="0"/>
              <a:t> </a:t>
            </a:r>
            <a:r>
              <a:rPr lang="en-US" dirty="0"/>
              <a:t>through </a:t>
            </a:r>
            <a:r>
              <a:rPr lang="en-US" b="1" dirty="0"/>
              <a:t>w6</a:t>
            </a:r>
            <a:r>
              <a:rPr lang="en-US" dirty="0"/>
              <a:t>. </a:t>
            </a:r>
            <a:endParaRPr lang="en-US" dirty="0" smtClean="0"/>
          </a:p>
          <a:p>
            <a:pPr algn="just"/>
            <a:r>
              <a:rPr lang="en-US" dirty="0" smtClean="0"/>
              <a:t>The </a:t>
            </a:r>
            <a:r>
              <a:rPr lang="en-US" dirty="0"/>
              <a:t>learner's task is thus to search through this vast space to locate the hypothesis that is most consistent with the available training examples. </a:t>
            </a:r>
            <a:endParaRPr lang="en-US" dirty="0" smtClean="0"/>
          </a:p>
          <a:p>
            <a:pPr algn="just"/>
            <a:r>
              <a:rPr lang="en-US" dirty="0" smtClean="0"/>
              <a:t>The </a:t>
            </a:r>
            <a:r>
              <a:rPr lang="en-US" dirty="0"/>
              <a:t>LMS algorithm for fitting weights achieves this goal by iteratively tuning the weights, adding a correction to each weight each time the hypothesized evaluation function predicts a value that differs from the training value. </a:t>
            </a:r>
            <a:endParaRPr lang="en-US" dirty="0" smtClean="0"/>
          </a:p>
          <a:p>
            <a:pPr algn="just"/>
            <a:r>
              <a:rPr lang="en-US" dirty="0" smtClean="0"/>
              <a:t>This </a:t>
            </a:r>
            <a:r>
              <a:rPr lang="en-US" dirty="0"/>
              <a:t>algorithm works well when the hypothesis representation considered by the learner defines a continuously parameterized space of potential hypotheses. </a:t>
            </a:r>
          </a:p>
        </p:txBody>
      </p:sp>
    </p:spTree>
    <p:extLst>
      <p:ext uri="{BB962C8B-B14F-4D97-AF65-F5344CB8AC3E}">
        <p14:creationId xmlns:p14="http://schemas.microsoft.com/office/powerpoint/2010/main" val="278909920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817583"/>
            <a:ext cx="6965245" cy="935018"/>
          </a:xfrm>
        </p:spPr>
        <p:txBody>
          <a:bodyPr>
            <a:normAutofit fontScale="90000"/>
          </a:bodyPr>
          <a:lstStyle/>
          <a:p>
            <a:r>
              <a:rPr lang="en-US" b="1" dirty="0"/>
              <a:t>Perspectives and issues in Machine Learning</a:t>
            </a:r>
            <a:endParaRPr lang="en-US" dirty="0"/>
          </a:p>
        </p:txBody>
      </p:sp>
      <p:sp>
        <p:nvSpPr>
          <p:cNvPr id="3" name="Content Placeholder 2"/>
          <p:cNvSpPr>
            <a:spLocks noGrp="1"/>
          </p:cNvSpPr>
          <p:nvPr>
            <p:ph idx="1"/>
          </p:nvPr>
        </p:nvSpPr>
        <p:spPr>
          <a:xfrm>
            <a:off x="762000" y="1828800"/>
            <a:ext cx="7620000" cy="4419599"/>
          </a:xfrm>
        </p:spPr>
        <p:txBody>
          <a:bodyPr>
            <a:noAutofit/>
          </a:bodyPr>
          <a:lstStyle/>
          <a:p>
            <a:pPr marL="0" indent="0" algn="just">
              <a:buNone/>
            </a:pPr>
            <a:r>
              <a:rPr lang="en-US" sz="1400" b="1" dirty="0"/>
              <a:t>Issues in Machine Learning </a:t>
            </a:r>
            <a:endParaRPr lang="en-US" sz="1400" b="1" dirty="0" smtClean="0"/>
          </a:p>
          <a:p>
            <a:pPr algn="just"/>
            <a:r>
              <a:rPr lang="en-US" sz="1400" dirty="0" smtClean="0"/>
              <a:t>Our </a:t>
            </a:r>
            <a:r>
              <a:rPr lang="en-US" sz="1400" dirty="0"/>
              <a:t>checkers example raises a number of generic questions about machine learning. </a:t>
            </a:r>
            <a:endParaRPr lang="en-US" sz="1400" dirty="0" smtClean="0"/>
          </a:p>
          <a:p>
            <a:pPr algn="just"/>
            <a:r>
              <a:rPr lang="en-US" sz="1400" dirty="0" smtClean="0"/>
              <a:t>The </a:t>
            </a:r>
            <a:r>
              <a:rPr lang="en-US" sz="1400" dirty="0"/>
              <a:t>field of machine </a:t>
            </a:r>
            <a:r>
              <a:rPr lang="en-US" sz="1400" dirty="0" smtClean="0"/>
              <a:t>learning</a:t>
            </a:r>
            <a:r>
              <a:rPr lang="en-US" sz="1400" dirty="0"/>
              <a:t> </a:t>
            </a:r>
            <a:r>
              <a:rPr lang="en-US" sz="1400" dirty="0" smtClean="0"/>
              <a:t>one should be able to  answer </a:t>
            </a:r>
            <a:r>
              <a:rPr lang="en-US" sz="1400" dirty="0"/>
              <a:t>questions such as the following: </a:t>
            </a:r>
            <a:endParaRPr lang="en-US" sz="1400" dirty="0" smtClean="0"/>
          </a:p>
          <a:p>
            <a:pPr algn="just">
              <a:buFont typeface="Wingdings" pitchFamily="2" charset="2"/>
              <a:buChar char="§"/>
            </a:pPr>
            <a:r>
              <a:rPr lang="en-US" sz="1400" dirty="0" smtClean="0"/>
              <a:t> </a:t>
            </a:r>
            <a:r>
              <a:rPr lang="en-US" sz="1400" dirty="0"/>
              <a:t>What algorithms exist for learning general target functions from specific training examples? In what settings will particular algorithms converge to the desired function, given sufficient training data? Which algorithms perform best for which types of problems and representations? </a:t>
            </a:r>
            <a:endParaRPr lang="en-US" sz="1400" dirty="0" smtClean="0"/>
          </a:p>
          <a:p>
            <a:pPr algn="just">
              <a:buFont typeface="Wingdings" pitchFamily="2" charset="2"/>
              <a:buChar char="§"/>
            </a:pPr>
            <a:r>
              <a:rPr lang="en-US" sz="1400" dirty="0" smtClean="0"/>
              <a:t>How </a:t>
            </a:r>
            <a:r>
              <a:rPr lang="en-US" sz="1400" dirty="0"/>
              <a:t>much training data is sufficient? What general bounds can be found to relate the confidence in learned hypotheses to the amount of training experience and the character of the learner's hypothesis space? </a:t>
            </a:r>
            <a:endParaRPr lang="en-US" sz="1400" dirty="0" smtClean="0"/>
          </a:p>
          <a:p>
            <a:pPr algn="just">
              <a:buFont typeface="Wingdings" pitchFamily="2" charset="2"/>
              <a:buChar char="§"/>
            </a:pPr>
            <a:r>
              <a:rPr lang="en-US" sz="1400" dirty="0" smtClean="0"/>
              <a:t>When </a:t>
            </a:r>
            <a:r>
              <a:rPr lang="en-US" sz="1400" dirty="0"/>
              <a:t>and how can prior knowledge held by the learner guide the process of generalizing from examples? Can prior knowledge be helpful even when it is only approximately correct? </a:t>
            </a:r>
            <a:endParaRPr lang="en-US" sz="1400" dirty="0" smtClean="0"/>
          </a:p>
          <a:p>
            <a:pPr algn="just">
              <a:buFont typeface="Wingdings" pitchFamily="2" charset="2"/>
              <a:buChar char="§"/>
            </a:pPr>
            <a:r>
              <a:rPr lang="en-US" sz="1400" dirty="0" smtClean="0"/>
              <a:t>What </a:t>
            </a:r>
            <a:r>
              <a:rPr lang="en-US" sz="1400" dirty="0"/>
              <a:t>is the best strategy for choosing a useful next training experience, and how does the choice of this strategy alter the complexity of the learning problem? </a:t>
            </a:r>
            <a:endParaRPr lang="en-US" sz="1400" dirty="0" smtClean="0"/>
          </a:p>
          <a:p>
            <a:pPr algn="just">
              <a:buFont typeface="Wingdings" pitchFamily="2" charset="2"/>
              <a:buChar char="§"/>
            </a:pPr>
            <a:r>
              <a:rPr lang="en-US" sz="1400" dirty="0" smtClean="0"/>
              <a:t>What </a:t>
            </a:r>
            <a:r>
              <a:rPr lang="en-US" sz="1400" dirty="0"/>
              <a:t>is the best way to reduce the learning task to one or more function approximation problems? Put another way, what specific functions should the system attempt to learn? Can this process itself be automated? </a:t>
            </a:r>
            <a:endParaRPr lang="en-US" sz="1400" dirty="0" smtClean="0"/>
          </a:p>
          <a:p>
            <a:pPr algn="just">
              <a:buFont typeface="Wingdings" pitchFamily="2" charset="2"/>
              <a:buChar char="§"/>
            </a:pPr>
            <a:r>
              <a:rPr lang="en-US" sz="1400" dirty="0" smtClean="0"/>
              <a:t>How </a:t>
            </a:r>
            <a:r>
              <a:rPr lang="en-US" sz="1400" dirty="0"/>
              <a:t>can the learner automatically alter its representation to improve its ability to represent and learn the target function?</a:t>
            </a:r>
          </a:p>
        </p:txBody>
      </p:sp>
    </p:spTree>
    <p:extLst>
      <p:ext uri="{BB962C8B-B14F-4D97-AF65-F5344CB8AC3E}">
        <p14:creationId xmlns:p14="http://schemas.microsoft.com/office/powerpoint/2010/main" val="279778668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1.7 Version Spaces </a:t>
            </a:r>
            <a:r>
              <a:rPr lang="en-US" dirty="0"/>
              <a:t/>
            </a:r>
            <a:br>
              <a:rPr lang="en-US" dirty="0"/>
            </a:br>
            <a:endParaRPr lang="en-US" dirty="0"/>
          </a:p>
        </p:txBody>
      </p:sp>
      <p:sp>
        <p:nvSpPr>
          <p:cNvPr id="3" name="Content Placeholder 2"/>
          <p:cNvSpPr>
            <a:spLocks noGrp="1"/>
          </p:cNvSpPr>
          <p:nvPr>
            <p:ph idx="1"/>
          </p:nvPr>
        </p:nvSpPr>
        <p:spPr>
          <a:xfrm>
            <a:off x="762000" y="2119256"/>
            <a:ext cx="7620000" cy="4129143"/>
          </a:xfrm>
        </p:spPr>
        <p:txBody>
          <a:bodyPr>
            <a:normAutofit lnSpcReduction="10000"/>
          </a:bodyPr>
          <a:lstStyle/>
          <a:p>
            <a:pPr marL="0" indent="0" algn="just">
              <a:buNone/>
            </a:pPr>
            <a:r>
              <a:rPr lang="en-US" b="1" dirty="0" smtClean="0"/>
              <a:t>Definition </a:t>
            </a:r>
            <a:r>
              <a:rPr lang="en-US" b="1" dirty="0"/>
              <a:t>(Version space</a:t>
            </a:r>
            <a:r>
              <a:rPr lang="en-US" b="1" dirty="0" smtClean="0"/>
              <a:t>) </a:t>
            </a:r>
          </a:p>
          <a:p>
            <a:pPr algn="just"/>
            <a:r>
              <a:rPr lang="en-US" dirty="0" smtClean="0"/>
              <a:t>A </a:t>
            </a:r>
            <a:r>
              <a:rPr lang="en-US" dirty="0"/>
              <a:t>concept is complete if it covers all positive examples. </a:t>
            </a:r>
            <a:endParaRPr lang="en-US" dirty="0" smtClean="0"/>
          </a:p>
          <a:p>
            <a:pPr algn="just"/>
            <a:r>
              <a:rPr lang="en-US" dirty="0" smtClean="0"/>
              <a:t>A </a:t>
            </a:r>
            <a:r>
              <a:rPr lang="en-US" dirty="0"/>
              <a:t>concept is consistent if it covers none of the negative examples. </a:t>
            </a:r>
            <a:endParaRPr lang="en-US" dirty="0" smtClean="0"/>
          </a:p>
          <a:p>
            <a:pPr algn="just"/>
            <a:r>
              <a:rPr lang="en-US" dirty="0" smtClean="0"/>
              <a:t>The </a:t>
            </a:r>
            <a:r>
              <a:rPr lang="en-US" dirty="0"/>
              <a:t>version space is the set of all complete and consistent concepts. </a:t>
            </a:r>
            <a:endParaRPr lang="en-US" dirty="0" smtClean="0"/>
          </a:p>
          <a:p>
            <a:pPr algn="just"/>
            <a:r>
              <a:rPr lang="en-US" dirty="0" smtClean="0"/>
              <a:t>This </a:t>
            </a:r>
            <a:r>
              <a:rPr lang="en-US" dirty="0"/>
              <a:t>set is convex and is fully defined by its least and most general elements. </a:t>
            </a:r>
            <a:endParaRPr lang="en-US" dirty="0" smtClean="0"/>
          </a:p>
          <a:p>
            <a:pPr algn="just"/>
            <a:r>
              <a:rPr lang="en-US" dirty="0" smtClean="0"/>
              <a:t>The </a:t>
            </a:r>
            <a:r>
              <a:rPr lang="en-US" dirty="0"/>
              <a:t>key idea in the CANDIDATE-ELIMINATION algorithm is to output a description of the set of all hypotheses consistent with the training examples</a:t>
            </a:r>
          </a:p>
        </p:txBody>
      </p:sp>
    </p:spTree>
    <p:extLst>
      <p:ext uri="{BB962C8B-B14F-4D97-AF65-F5344CB8AC3E}">
        <p14:creationId xmlns:p14="http://schemas.microsoft.com/office/powerpoint/2010/main" val="407900636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Version </a:t>
            </a:r>
            <a:r>
              <a:rPr lang="en-US" b="1" dirty="0"/>
              <a:t>Spaces</a:t>
            </a:r>
            <a:endParaRPr lang="en-US" dirty="0"/>
          </a:p>
        </p:txBody>
      </p:sp>
      <p:sp>
        <p:nvSpPr>
          <p:cNvPr id="3" name="Content Placeholder 2"/>
          <p:cNvSpPr>
            <a:spLocks noGrp="1"/>
          </p:cNvSpPr>
          <p:nvPr>
            <p:ph idx="1"/>
          </p:nvPr>
        </p:nvSpPr>
        <p:spPr>
          <a:xfrm>
            <a:off x="762000" y="1828800"/>
            <a:ext cx="7620000" cy="4419599"/>
          </a:xfrm>
        </p:spPr>
        <p:txBody>
          <a:bodyPr>
            <a:normAutofit/>
          </a:bodyPr>
          <a:lstStyle/>
          <a:p>
            <a:pPr marL="0" indent="0" algn="just">
              <a:buNone/>
            </a:pPr>
            <a:r>
              <a:rPr lang="en-US" b="1" dirty="0"/>
              <a:t>1.7.1 Representation </a:t>
            </a:r>
            <a:endParaRPr lang="en-US" b="1" dirty="0" smtClean="0"/>
          </a:p>
          <a:p>
            <a:pPr algn="just"/>
            <a:r>
              <a:rPr lang="en-US" sz="2000" dirty="0" smtClean="0"/>
              <a:t>The </a:t>
            </a:r>
            <a:r>
              <a:rPr lang="en-US" sz="2000" dirty="0"/>
              <a:t>Candidate – Elimination algorithm finds all describable hypotheses that are consistent with the </a:t>
            </a:r>
            <a:r>
              <a:rPr lang="en-US" sz="2000" dirty="0" smtClean="0"/>
              <a:t>observed </a:t>
            </a:r>
            <a:r>
              <a:rPr lang="en-US" sz="2000" dirty="0"/>
              <a:t>training examples. </a:t>
            </a:r>
            <a:endParaRPr lang="en-US" sz="2000" dirty="0" smtClean="0"/>
          </a:p>
          <a:p>
            <a:pPr algn="just"/>
            <a:r>
              <a:rPr lang="en-US" sz="2000" dirty="0" smtClean="0"/>
              <a:t>In </a:t>
            </a:r>
            <a:r>
              <a:rPr lang="en-US" sz="2000" dirty="0"/>
              <a:t>order to define this algorithm precisely, we begin with a few basic definitions. </a:t>
            </a:r>
            <a:endParaRPr lang="en-US" sz="2000" dirty="0" smtClean="0"/>
          </a:p>
          <a:p>
            <a:pPr algn="just"/>
            <a:r>
              <a:rPr lang="en-US" sz="2000" dirty="0" smtClean="0"/>
              <a:t>First</a:t>
            </a:r>
            <a:r>
              <a:rPr lang="en-US" sz="2000" dirty="0"/>
              <a:t>, let us say that a hypothesis is consistent with the training examples if it correctly classifies these examples. </a:t>
            </a:r>
            <a:endParaRPr lang="en-US" sz="2000" dirty="0" smtClean="0"/>
          </a:p>
          <a:p>
            <a:pPr algn="just"/>
            <a:r>
              <a:rPr lang="en-US" sz="2000" dirty="0" smtClean="0"/>
              <a:t>Definition</a:t>
            </a:r>
            <a:r>
              <a:rPr lang="en-US" sz="2000" dirty="0"/>
              <a:t>: A hypothesis h is consistent with a set of training examples D if and only if h(x) = c(x) for each example (x, c(x)) in D. </a:t>
            </a:r>
            <a:endParaRPr lang="en-US" sz="2000" dirty="0" smtClean="0"/>
          </a:p>
          <a:p>
            <a:pPr algn="just"/>
            <a:endParaRPr lang="en-US" dirty="0"/>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2951" y="5410200"/>
            <a:ext cx="3429000" cy="561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8498426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Version Spaces</a:t>
            </a:r>
            <a:endParaRPr lang="en-US" dirty="0"/>
          </a:p>
        </p:txBody>
      </p:sp>
      <p:sp>
        <p:nvSpPr>
          <p:cNvPr id="3" name="Content Placeholder 2"/>
          <p:cNvSpPr>
            <a:spLocks noGrp="1"/>
          </p:cNvSpPr>
          <p:nvPr>
            <p:ph idx="1"/>
          </p:nvPr>
        </p:nvSpPr>
        <p:spPr>
          <a:xfrm>
            <a:off x="762000" y="2119256"/>
            <a:ext cx="7620000" cy="4129143"/>
          </a:xfrm>
        </p:spPr>
        <p:txBody>
          <a:bodyPr>
            <a:normAutofit/>
          </a:bodyPr>
          <a:lstStyle/>
          <a:p>
            <a:pPr algn="just"/>
            <a:r>
              <a:rPr lang="en-US" sz="2000" dirty="0"/>
              <a:t>Note difference between definitions of consistent and satisfies </a:t>
            </a:r>
            <a:endParaRPr lang="en-US" sz="2000" dirty="0" smtClean="0"/>
          </a:p>
          <a:p>
            <a:pPr algn="just">
              <a:buFont typeface="Wingdings" pitchFamily="2" charset="2"/>
              <a:buChar char="§"/>
            </a:pPr>
            <a:r>
              <a:rPr lang="en-US" sz="2000" dirty="0" smtClean="0"/>
              <a:t>An </a:t>
            </a:r>
            <a:r>
              <a:rPr lang="en-US" sz="2000" dirty="0"/>
              <a:t>example x is said to satisfy hypothesis h when h(x) = 1, regardless of whether x is a positive or negative example of the target concept. </a:t>
            </a:r>
            <a:endParaRPr lang="en-US" sz="2000" dirty="0" smtClean="0"/>
          </a:p>
          <a:p>
            <a:pPr algn="just">
              <a:buFont typeface="Wingdings" pitchFamily="2" charset="2"/>
              <a:buChar char="§"/>
            </a:pPr>
            <a:r>
              <a:rPr lang="en-US" sz="2000" dirty="0" smtClean="0"/>
              <a:t>An </a:t>
            </a:r>
            <a:r>
              <a:rPr lang="en-US" sz="2000" dirty="0"/>
              <a:t>example x is said to consistent with hypothesis h </a:t>
            </a:r>
            <a:r>
              <a:rPr lang="en-US" sz="2000" dirty="0" err="1"/>
              <a:t>iff</a:t>
            </a:r>
            <a:r>
              <a:rPr lang="en-US" sz="2000" dirty="0"/>
              <a:t> h(x) = c(x) </a:t>
            </a:r>
            <a:endParaRPr lang="en-US" sz="2000" dirty="0" smtClean="0"/>
          </a:p>
          <a:p>
            <a:pPr algn="just"/>
            <a:r>
              <a:rPr lang="en-US" sz="2000" dirty="0" smtClean="0"/>
              <a:t>Definition</a:t>
            </a:r>
            <a:r>
              <a:rPr lang="en-US" sz="2000" dirty="0"/>
              <a:t>: version space- The version space, denoted V SH, D with respect to hypothesis space H and training examples D, is the subset of hypotheses from H consistent with the training examples in </a:t>
            </a:r>
            <a:r>
              <a:rPr lang="en-US" sz="2000" dirty="0" smtClean="0"/>
              <a:t>D</a:t>
            </a:r>
          </a:p>
          <a:p>
            <a:endParaRPr lang="en-US" dirty="0"/>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5175" y="5334000"/>
            <a:ext cx="25336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8137456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Version Spaces</a:t>
            </a:r>
            <a:endParaRPr lang="en-US" dirty="0"/>
          </a:p>
        </p:txBody>
      </p:sp>
      <p:sp>
        <p:nvSpPr>
          <p:cNvPr id="3" name="Content Placeholder 2"/>
          <p:cNvSpPr>
            <a:spLocks noGrp="1"/>
          </p:cNvSpPr>
          <p:nvPr>
            <p:ph idx="1"/>
          </p:nvPr>
        </p:nvSpPr>
        <p:spPr>
          <a:xfrm>
            <a:off x="838200" y="2119257"/>
            <a:ext cx="7467600" cy="3603812"/>
          </a:xfrm>
        </p:spPr>
        <p:txBody>
          <a:bodyPr>
            <a:normAutofit fontScale="85000" lnSpcReduction="20000"/>
          </a:bodyPr>
          <a:lstStyle/>
          <a:p>
            <a:pPr marL="0" indent="0" algn="just">
              <a:buNone/>
            </a:pPr>
            <a:r>
              <a:rPr lang="en-US" b="1" dirty="0"/>
              <a:t>1.7.2 The LIST-THEN-ELIMINATION algorithm </a:t>
            </a:r>
            <a:endParaRPr lang="en-US" b="1" dirty="0" smtClean="0"/>
          </a:p>
          <a:p>
            <a:pPr algn="just"/>
            <a:r>
              <a:rPr lang="en-US" dirty="0" smtClean="0"/>
              <a:t>The </a:t>
            </a:r>
            <a:r>
              <a:rPr lang="en-US" dirty="0"/>
              <a:t>LIST-THEN-ELIMINATE algorithm first initializes the version space to contain all hypotheses in H and then eliminates any hypothesis found inconsistent with any training example. </a:t>
            </a:r>
            <a:endParaRPr lang="en-US" dirty="0" smtClean="0"/>
          </a:p>
          <a:p>
            <a:pPr marL="0" indent="0" algn="just">
              <a:buNone/>
            </a:pPr>
            <a:r>
              <a:rPr lang="en-US" dirty="0" smtClean="0"/>
              <a:t>1</a:t>
            </a:r>
            <a:r>
              <a:rPr lang="en-US" dirty="0"/>
              <a:t>. </a:t>
            </a:r>
            <a:r>
              <a:rPr lang="en-US" dirty="0" err="1"/>
              <a:t>VersionSpace</a:t>
            </a:r>
            <a:r>
              <a:rPr lang="en-US" dirty="0"/>
              <a:t> c a list containing every hypothesis in H </a:t>
            </a:r>
            <a:endParaRPr lang="en-US" dirty="0" smtClean="0"/>
          </a:p>
          <a:p>
            <a:pPr marL="0" indent="0" algn="just">
              <a:buNone/>
            </a:pPr>
            <a:r>
              <a:rPr lang="en-US" dirty="0" smtClean="0"/>
              <a:t>2</a:t>
            </a:r>
            <a:r>
              <a:rPr lang="en-US" dirty="0"/>
              <a:t>. For each training example, (x, c(x)) remove from </a:t>
            </a:r>
            <a:r>
              <a:rPr lang="en-US" dirty="0" err="1"/>
              <a:t>VersionSpace</a:t>
            </a:r>
            <a:r>
              <a:rPr lang="en-US" dirty="0"/>
              <a:t> any hypothesis h for which h(x) ≠ c(x) </a:t>
            </a:r>
            <a:endParaRPr lang="en-US" dirty="0" smtClean="0"/>
          </a:p>
          <a:p>
            <a:pPr marL="0" indent="0" algn="just">
              <a:buNone/>
            </a:pPr>
            <a:r>
              <a:rPr lang="en-US" dirty="0" smtClean="0"/>
              <a:t>3</a:t>
            </a:r>
            <a:r>
              <a:rPr lang="en-US" dirty="0"/>
              <a:t>. Output the list of hypotheses in </a:t>
            </a:r>
            <a:r>
              <a:rPr lang="en-US" dirty="0" err="1"/>
              <a:t>VersionSpace</a:t>
            </a:r>
            <a:r>
              <a:rPr lang="en-US" dirty="0"/>
              <a:t> </a:t>
            </a:r>
            <a:endParaRPr lang="en-US" dirty="0" smtClean="0"/>
          </a:p>
          <a:p>
            <a:pPr algn="just"/>
            <a:r>
              <a:rPr lang="en-US" dirty="0" smtClean="0"/>
              <a:t>List-Then-Eliminate </a:t>
            </a:r>
            <a:r>
              <a:rPr lang="en-US" dirty="0"/>
              <a:t>works in principle, so long as version space is finite. </a:t>
            </a:r>
            <a:endParaRPr lang="en-US" dirty="0" smtClean="0"/>
          </a:p>
          <a:p>
            <a:pPr algn="just"/>
            <a:r>
              <a:rPr lang="en-US" dirty="0" smtClean="0"/>
              <a:t>However</a:t>
            </a:r>
            <a:r>
              <a:rPr lang="en-US" dirty="0"/>
              <a:t>, since it requires exhaustive enumeration of all hypotheses in practice it is not feasible. </a:t>
            </a:r>
          </a:p>
        </p:txBody>
      </p:sp>
    </p:spTree>
    <p:extLst>
      <p:ext uri="{BB962C8B-B14F-4D97-AF65-F5344CB8AC3E}">
        <p14:creationId xmlns:p14="http://schemas.microsoft.com/office/powerpoint/2010/main" val="112918361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Version Spaces</a:t>
            </a:r>
            <a:endParaRPr lang="en-US" dirty="0"/>
          </a:p>
        </p:txBody>
      </p:sp>
      <p:sp>
        <p:nvSpPr>
          <p:cNvPr id="3" name="Content Placeholder 2"/>
          <p:cNvSpPr>
            <a:spLocks noGrp="1"/>
          </p:cNvSpPr>
          <p:nvPr>
            <p:ph idx="1"/>
          </p:nvPr>
        </p:nvSpPr>
        <p:spPr>
          <a:xfrm>
            <a:off x="685800" y="1676400"/>
            <a:ext cx="7772400" cy="4648199"/>
          </a:xfrm>
        </p:spPr>
        <p:txBody>
          <a:bodyPr>
            <a:normAutofit fontScale="92500" lnSpcReduction="10000"/>
          </a:bodyPr>
          <a:lstStyle/>
          <a:p>
            <a:pPr marL="0" indent="0">
              <a:buNone/>
            </a:pPr>
            <a:r>
              <a:rPr lang="en-US" b="1" dirty="0"/>
              <a:t>A More Compact Representation for Version Spaces </a:t>
            </a:r>
            <a:endParaRPr lang="en-US" b="1" dirty="0" smtClean="0"/>
          </a:p>
          <a:p>
            <a:pPr algn="just"/>
            <a:r>
              <a:rPr lang="en-US" dirty="0" smtClean="0"/>
              <a:t>The </a:t>
            </a:r>
            <a:r>
              <a:rPr lang="en-US" dirty="0"/>
              <a:t>version space is represented by its most general and least general members. </a:t>
            </a:r>
            <a:endParaRPr lang="en-US" dirty="0" smtClean="0"/>
          </a:p>
          <a:p>
            <a:pPr algn="just"/>
            <a:r>
              <a:rPr lang="en-US" dirty="0" smtClean="0"/>
              <a:t>These </a:t>
            </a:r>
            <a:r>
              <a:rPr lang="en-US" dirty="0"/>
              <a:t>members form general and specific boundary sets that delimit the version space within the partially ordered hypothesis space. </a:t>
            </a:r>
            <a:endParaRPr lang="en-US" dirty="0" smtClean="0"/>
          </a:p>
          <a:p>
            <a:pPr algn="just"/>
            <a:r>
              <a:rPr lang="en-US" dirty="0" smtClean="0"/>
              <a:t>Definition</a:t>
            </a:r>
            <a:r>
              <a:rPr lang="en-US" dirty="0"/>
              <a:t>: The general boundary G, with respect to hypothesis space H and training data D, is the set of maximally general members of H consistent with </a:t>
            </a:r>
            <a:r>
              <a:rPr lang="en-US" dirty="0" smtClean="0"/>
              <a:t>D</a:t>
            </a:r>
          </a:p>
          <a:p>
            <a:pPr algn="just"/>
            <a:endParaRPr lang="en-US" dirty="0" smtClean="0"/>
          </a:p>
          <a:p>
            <a:pPr algn="just"/>
            <a:r>
              <a:rPr lang="en-US" dirty="0"/>
              <a:t>Definition: The specific boundary S, with respect to hypothesis space H and training data D, is the set of minimally general (i.e., maximally specific) members of H consistent with D</a:t>
            </a:r>
            <a:r>
              <a:rPr lang="en-US" dirty="0" smtClean="0"/>
              <a:t>.</a:t>
            </a:r>
          </a:p>
          <a:p>
            <a:pPr algn="just"/>
            <a:endParaRPr lang="en-US" dirty="0" smtClean="0"/>
          </a:p>
          <a:p>
            <a:pPr algn="just"/>
            <a:endParaRPr lang="en-US" dirty="0"/>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2464" y="4676775"/>
            <a:ext cx="5400675" cy="42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38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5943600"/>
            <a:ext cx="5353050" cy="447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4533769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Version Spaces</a:t>
            </a:r>
            <a:endParaRPr lang="en-US" dirty="0"/>
          </a:p>
        </p:txBody>
      </p:sp>
      <p:sp>
        <p:nvSpPr>
          <p:cNvPr id="3" name="Content Placeholder 2"/>
          <p:cNvSpPr>
            <a:spLocks noGrp="1"/>
          </p:cNvSpPr>
          <p:nvPr>
            <p:ph idx="1"/>
          </p:nvPr>
        </p:nvSpPr>
        <p:spPr>
          <a:xfrm>
            <a:off x="762000" y="2119256"/>
            <a:ext cx="7620000" cy="4129143"/>
          </a:xfrm>
        </p:spPr>
        <p:txBody>
          <a:bodyPr/>
          <a:lstStyle/>
          <a:p>
            <a:pPr algn="just"/>
            <a:r>
              <a:rPr lang="en-US" dirty="0"/>
              <a:t>Theorem: Version Space representation theorem </a:t>
            </a:r>
            <a:r>
              <a:rPr lang="en-US" dirty="0" err="1"/>
              <a:t>Theorem</a:t>
            </a:r>
            <a:r>
              <a:rPr lang="en-US" dirty="0"/>
              <a:t>: Let X be an arbitrary set of instances and Let H be a set of Boolean-valued hypotheses defined over X. Let c: X →{O, 1} be an arbitrary target concept defined over X, and let D be an arbitrary set of training examples {(x, c(x))). For all X, H, c, and D such that S and G are well defined, </a:t>
            </a:r>
          </a:p>
        </p:txBody>
      </p:sp>
    </p:spTree>
    <p:extLst>
      <p:ext uri="{BB962C8B-B14F-4D97-AF65-F5344CB8AC3E}">
        <p14:creationId xmlns:p14="http://schemas.microsoft.com/office/powerpoint/2010/main" val="203451455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Version Spaces</a:t>
            </a:r>
            <a:endParaRPr lang="en-US" dirty="0"/>
          </a:p>
        </p:txBody>
      </p:sp>
      <p:sp>
        <p:nvSpPr>
          <p:cNvPr id="3" name="Content Placeholder 2"/>
          <p:cNvSpPr>
            <a:spLocks noGrp="1"/>
          </p:cNvSpPr>
          <p:nvPr>
            <p:ph idx="1"/>
          </p:nvPr>
        </p:nvSpPr>
        <p:spPr>
          <a:xfrm>
            <a:off x="762000" y="2119257"/>
            <a:ext cx="7696200" cy="3603812"/>
          </a:xfrm>
        </p:spPr>
        <p:txBody>
          <a:bodyPr/>
          <a:lstStyle/>
          <a:p>
            <a:endParaRPr lang="en-US" dirty="0"/>
          </a:p>
        </p:txBody>
      </p:sp>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2209800"/>
            <a:ext cx="762000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20134743"/>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Version Spaces</a:t>
            </a:r>
            <a:endParaRPr lang="en-US" dirty="0"/>
          </a:p>
        </p:txBody>
      </p:sp>
      <p:sp>
        <p:nvSpPr>
          <p:cNvPr id="3" name="Content Placeholder 2"/>
          <p:cNvSpPr>
            <a:spLocks noGrp="1"/>
          </p:cNvSpPr>
          <p:nvPr>
            <p:ph idx="1"/>
          </p:nvPr>
        </p:nvSpPr>
        <p:spPr>
          <a:xfrm>
            <a:off x="762000" y="1676400"/>
            <a:ext cx="7696200" cy="4571999"/>
          </a:xfrm>
        </p:spPr>
        <p:txBody>
          <a:bodyPr/>
          <a:lstStyle/>
          <a:p>
            <a:pPr marL="0" indent="0">
              <a:buNone/>
            </a:pPr>
            <a:r>
              <a:rPr lang="en-US" sz="2000" b="1" dirty="0"/>
              <a:t>1.7.3 CANDIDATE-ELIMINATION Learning Algorithm</a:t>
            </a:r>
            <a:r>
              <a:rPr lang="en-US" sz="2000" dirty="0"/>
              <a:t> </a:t>
            </a:r>
            <a:endParaRPr lang="en-US" sz="2000" dirty="0" smtClean="0"/>
          </a:p>
          <a:p>
            <a:pPr algn="just"/>
            <a:endParaRPr lang="en-US" dirty="0" smtClean="0"/>
          </a:p>
          <a:p>
            <a:pPr algn="just"/>
            <a:endParaRPr lang="en-US" dirty="0"/>
          </a:p>
          <a:p>
            <a:pPr algn="just"/>
            <a:endParaRPr lang="en-US" dirty="0"/>
          </a:p>
        </p:txBody>
      </p:sp>
      <p:pic>
        <p:nvPicPr>
          <p:cNvPr id="1843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3088" y="5143500"/>
            <a:ext cx="5457825" cy="87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43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3088" y="2247900"/>
            <a:ext cx="5457825" cy="293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42431843"/>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Version Spaces</a:t>
            </a:r>
            <a:endParaRPr lang="en-US" dirty="0"/>
          </a:p>
        </p:txBody>
      </p:sp>
      <p:sp>
        <p:nvSpPr>
          <p:cNvPr id="3" name="Content Placeholder 2"/>
          <p:cNvSpPr>
            <a:spLocks noGrp="1"/>
          </p:cNvSpPr>
          <p:nvPr>
            <p:ph idx="1"/>
          </p:nvPr>
        </p:nvSpPr>
        <p:spPr>
          <a:xfrm>
            <a:off x="1463040" y="1676400"/>
            <a:ext cx="6196405" cy="4046669"/>
          </a:xfrm>
        </p:spPr>
        <p:txBody>
          <a:bodyPr/>
          <a:lstStyle/>
          <a:p>
            <a:pPr marL="0" indent="0">
              <a:buNone/>
            </a:pPr>
            <a:r>
              <a:rPr lang="en-US" b="1" dirty="0" smtClean="0"/>
              <a:t>1.7.4 </a:t>
            </a:r>
            <a:r>
              <a:rPr lang="en-US" b="1" dirty="0"/>
              <a:t>An Illustrative </a:t>
            </a:r>
            <a:r>
              <a:rPr lang="en-US" b="1" dirty="0" smtClean="0"/>
              <a:t>Example</a:t>
            </a:r>
          </a:p>
          <a:p>
            <a:pPr marL="0" indent="0">
              <a:buNone/>
            </a:pPr>
            <a:endParaRPr lang="en-US" b="1" dirty="0"/>
          </a:p>
        </p:txBody>
      </p:sp>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2085866"/>
            <a:ext cx="7620000" cy="47721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85293135"/>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817583"/>
            <a:ext cx="6965245" cy="1003730"/>
          </a:xfrm>
        </p:spPr>
        <p:txBody>
          <a:bodyPr/>
          <a:lstStyle/>
          <a:p>
            <a:r>
              <a:rPr lang="en-US" b="1" dirty="0"/>
              <a:t>Version Spaces</a:t>
            </a:r>
            <a:endParaRPr lang="en-US" dirty="0"/>
          </a:p>
        </p:txBody>
      </p:sp>
      <p:sp>
        <p:nvSpPr>
          <p:cNvPr id="3" name="Content Placeholder 2"/>
          <p:cNvSpPr>
            <a:spLocks noGrp="1"/>
          </p:cNvSpPr>
          <p:nvPr>
            <p:ph idx="1"/>
          </p:nvPr>
        </p:nvSpPr>
        <p:spPr>
          <a:xfrm>
            <a:off x="762000" y="2119256"/>
            <a:ext cx="7620000" cy="4129143"/>
          </a:xfrm>
        </p:spPr>
        <p:txBody>
          <a:bodyPr/>
          <a:lstStyle/>
          <a:p>
            <a:endParaRPr lang="en-US" dirty="0"/>
          </a:p>
        </p:txBody>
      </p:sp>
      <p:pic>
        <p:nvPicPr>
          <p:cNvPr id="204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821312"/>
            <a:ext cx="7696199" cy="5036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61453224"/>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817583"/>
            <a:ext cx="6965245" cy="658792"/>
          </a:xfrm>
        </p:spPr>
        <p:txBody>
          <a:bodyPr>
            <a:normAutofit fontScale="90000"/>
          </a:bodyPr>
          <a:lstStyle/>
          <a:p>
            <a:r>
              <a:rPr lang="en-US" b="1" dirty="0"/>
              <a:t>Version Spaces</a:t>
            </a:r>
            <a:endParaRPr lang="en-US" dirty="0"/>
          </a:p>
        </p:txBody>
      </p:sp>
      <p:sp>
        <p:nvSpPr>
          <p:cNvPr id="3" name="Content Placeholder 2"/>
          <p:cNvSpPr>
            <a:spLocks noGrp="1"/>
          </p:cNvSpPr>
          <p:nvPr>
            <p:ph idx="1"/>
          </p:nvPr>
        </p:nvSpPr>
        <p:spPr/>
        <p:txBody>
          <a:bodyPr/>
          <a:lstStyle/>
          <a:p>
            <a:endParaRPr lang="en-US" dirty="0"/>
          </a:p>
        </p:txBody>
      </p:sp>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476375"/>
            <a:ext cx="7696200" cy="4848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81657403"/>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1.8 Probably approximately correct learning</a:t>
            </a:r>
          </a:p>
        </p:txBody>
      </p:sp>
      <p:sp>
        <p:nvSpPr>
          <p:cNvPr id="3" name="Content Placeholder 2"/>
          <p:cNvSpPr>
            <a:spLocks noGrp="1"/>
          </p:cNvSpPr>
          <p:nvPr>
            <p:ph idx="1"/>
          </p:nvPr>
        </p:nvSpPr>
        <p:spPr>
          <a:xfrm>
            <a:off x="762000" y="2119256"/>
            <a:ext cx="7696200" cy="4129143"/>
          </a:xfrm>
        </p:spPr>
        <p:txBody>
          <a:bodyPr>
            <a:normAutofit fontScale="77500" lnSpcReduction="20000"/>
          </a:bodyPr>
          <a:lstStyle/>
          <a:p>
            <a:r>
              <a:rPr lang="en-US" dirty="0" smtClean="0"/>
              <a:t>In </a:t>
            </a:r>
            <a:r>
              <a:rPr lang="en-US" dirty="0"/>
              <a:t>computer science, computational learning theory (or just learning theory) is a subfield of artificial intelligence devoted to studying the design and analysis of machine learning algorithms. </a:t>
            </a:r>
            <a:endParaRPr lang="en-US" dirty="0" smtClean="0"/>
          </a:p>
          <a:p>
            <a:r>
              <a:rPr lang="en-US" dirty="0" smtClean="0"/>
              <a:t>In </a:t>
            </a:r>
            <a:r>
              <a:rPr lang="en-US" dirty="0"/>
              <a:t>computational learning theory, probably approximately correct learning (PAC learning) is a framework for mathematical analysis of machine learning algorithms. It was proposed in 1984 by Leslie Valiant. </a:t>
            </a:r>
            <a:endParaRPr lang="en-US" dirty="0" smtClean="0"/>
          </a:p>
          <a:p>
            <a:r>
              <a:rPr lang="en-US" dirty="0" smtClean="0"/>
              <a:t>In </a:t>
            </a:r>
            <a:r>
              <a:rPr lang="en-US" dirty="0"/>
              <a:t>this framework, the learner (that is, the algorithm) receives samples and must select a hypothesis from a certain class of hypotheses. </a:t>
            </a:r>
            <a:endParaRPr lang="en-US" dirty="0" smtClean="0"/>
          </a:p>
          <a:p>
            <a:r>
              <a:rPr lang="en-US" dirty="0" smtClean="0"/>
              <a:t>The </a:t>
            </a:r>
            <a:r>
              <a:rPr lang="en-US" dirty="0"/>
              <a:t>goal is that, with high probability (the “probably” part), the selected hypothesis will have low generalization error (the “approximately correct” part). In this section we first give an informal definition of PAC-learnability. </a:t>
            </a:r>
            <a:endParaRPr lang="en-US" dirty="0" smtClean="0"/>
          </a:p>
          <a:p>
            <a:r>
              <a:rPr lang="en-US" dirty="0" smtClean="0"/>
              <a:t>After </a:t>
            </a:r>
            <a:r>
              <a:rPr lang="en-US" dirty="0"/>
              <a:t>introducing a few </a:t>
            </a:r>
            <a:r>
              <a:rPr lang="en-US" dirty="0" err="1"/>
              <a:t>nore</a:t>
            </a:r>
            <a:r>
              <a:rPr lang="en-US" dirty="0"/>
              <a:t> notions, we give a more formal, mathematically oriented, definition of PAC-learnability. </a:t>
            </a:r>
          </a:p>
        </p:txBody>
      </p:sp>
    </p:spTree>
    <p:extLst>
      <p:ext uri="{BB962C8B-B14F-4D97-AF65-F5344CB8AC3E}">
        <p14:creationId xmlns:p14="http://schemas.microsoft.com/office/powerpoint/2010/main" val="66458066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Probably approximately correct learning</a:t>
            </a:r>
            <a:endParaRPr lang="en-US" dirty="0"/>
          </a:p>
        </p:txBody>
      </p:sp>
      <p:sp>
        <p:nvSpPr>
          <p:cNvPr id="3" name="Content Placeholder 2"/>
          <p:cNvSpPr>
            <a:spLocks noGrp="1"/>
          </p:cNvSpPr>
          <p:nvPr>
            <p:ph idx="1"/>
          </p:nvPr>
        </p:nvSpPr>
        <p:spPr>
          <a:xfrm>
            <a:off x="762000" y="2119256"/>
            <a:ext cx="7620000" cy="4129143"/>
          </a:xfrm>
        </p:spPr>
        <p:txBody>
          <a:bodyPr>
            <a:normAutofit fontScale="92500" lnSpcReduction="10000"/>
          </a:bodyPr>
          <a:lstStyle/>
          <a:p>
            <a:pPr algn="just"/>
            <a:r>
              <a:rPr lang="en-US" sz="1600" dirty="0"/>
              <a:t>PAC-learnability To define PAC-learnability we require some specific terminology and related notations. </a:t>
            </a:r>
          </a:p>
          <a:p>
            <a:pPr algn="just">
              <a:buFont typeface="Wingdings" pitchFamily="2" charset="2"/>
              <a:buChar char="§"/>
            </a:pPr>
            <a:r>
              <a:rPr lang="en-US" sz="1600" dirty="0" smtClean="0"/>
              <a:t>Let </a:t>
            </a:r>
            <a:r>
              <a:rPr lang="en-US" sz="1600" dirty="0"/>
              <a:t>X be a set called the instance space which may be finite or infinite. For example, X may be the set of all points in a plane. </a:t>
            </a:r>
            <a:r>
              <a:rPr lang="en-US" sz="1600" dirty="0" smtClean="0"/>
              <a:t> </a:t>
            </a:r>
          </a:p>
          <a:p>
            <a:pPr algn="just">
              <a:buFont typeface="Wingdings" pitchFamily="2" charset="2"/>
              <a:buChar char="§"/>
            </a:pPr>
            <a:r>
              <a:rPr lang="en-US" sz="1600" dirty="0" smtClean="0"/>
              <a:t>A </a:t>
            </a:r>
            <a:r>
              <a:rPr lang="en-US" sz="1600" dirty="0"/>
              <a:t>concept class C for X is a family of functions c : X </a:t>
            </a:r>
            <a:r>
              <a:rPr lang="en-US" sz="1600" dirty="0" smtClean="0"/>
              <a:t>{</a:t>
            </a:r>
            <a:r>
              <a:rPr lang="en-US" sz="1600" dirty="0"/>
              <a:t>0; 1}. A member of C is called a concept. A concept can also be thought of as a subset of X. If C is a subset of X, it defines a unique function µc : X </a:t>
            </a:r>
            <a:r>
              <a:rPr lang="en-US" sz="1600" dirty="0" smtClean="0"/>
              <a:t> </a:t>
            </a:r>
            <a:r>
              <a:rPr lang="en-US" sz="1600" dirty="0"/>
              <a:t>{0; 1} as follows</a:t>
            </a:r>
            <a:r>
              <a:rPr lang="en-US" sz="1600" dirty="0" smtClean="0"/>
              <a:t>:</a:t>
            </a:r>
          </a:p>
          <a:p>
            <a:pPr algn="just">
              <a:buFont typeface="Wingdings" pitchFamily="2" charset="2"/>
              <a:buChar char="§"/>
            </a:pPr>
            <a:endParaRPr lang="en-US" sz="1600" dirty="0" smtClean="0"/>
          </a:p>
          <a:p>
            <a:pPr algn="just">
              <a:buFont typeface="Wingdings" pitchFamily="2" charset="2"/>
              <a:buChar char="§"/>
            </a:pPr>
            <a:endParaRPr lang="en-US" sz="1600" dirty="0" smtClean="0"/>
          </a:p>
          <a:p>
            <a:pPr algn="just">
              <a:buFont typeface="Wingdings" pitchFamily="2" charset="2"/>
              <a:buChar char="§"/>
            </a:pPr>
            <a:endParaRPr lang="en-US" sz="1600" dirty="0" smtClean="0"/>
          </a:p>
          <a:p>
            <a:pPr algn="just">
              <a:buFont typeface="Wingdings" pitchFamily="2" charset="2"/>
              <a:buChar char="§"/>
            </a:pPr>
            <a:endParaRPr lang="en-US" sz="1600" dirty="0"/>
          </a:p>
          <a:p>
            <a:pPr algn="just">
              <a:buFont typeface="Wingdings" pitchFamily="2" charset="2"/>
              <a:buChar char="§"/>
            </a:pPr>
            <a:r>
              <a:rPr lang="en-US" sz="1600" dirty="0"/>
              <a:t>A hypothesis h is also a function h : X </a:t>
            </a:r>
            <a:r>
              <a:rPr lang="en-US" sz="1600" dirty="0" smtClean="0"/>
              <a:t>{</a:t>
            </a:r>
            <a:r>
              <a:rPr lang="en-US" sz="1600" dirty="0"/>
              <a:t>0; 1}. So, as in the case of concepts, a hypothesis can also be thought of as a subset of X. H will denote a set of hypotheses. </a:t>
            </a:r>
          </a:p>
          <a:p>
            <a:pPr algn="just">
              <a:buFont typeface="Wingdings" pitchFamily="2" charset="2"/>
              <a:buChar char="§"/>
            </a:pPr>
            <a:r>
              <a:rPr lang="en-US" sz="1600" dirty="0" smtClean="0"/>
              <a:t>We </a:t>
            </a:r>
            <a:r>
              <a:rPr lang="en-US" sz="1600" dirty="0"/>
              <a:t>assume that F is an arbitrary, but fixed, probability distribution over X. </a:t>
            </a:r>
          </a:p>
          <a:p>
            <a:pPr algn="just">
              <a:buFont typeface="Wingdings" pitchFamily="2" charset="2"/>
              <a:buChar char="§"/>
            </a:pPr>
            <a:r>
              <a:rPr lang="en-US" sz="1600" dirty="0" smtClean="0"/>
              <a:t>Training </a:t>
            </a:r>
            <a:r>
              <a:rPr lang="en-US" sz="1600" dirty="0"/>
              <a:t>examples are obtained by taking random samples from X. We assume that the samples are randomly generated from X according to the probability distribution F.</a:t>
            </a:r>
          </a:p>
        </p:txBody>
      </p:sp>
      <p:pic>
        <p:nvPicPr>
          <p:cNvPr id="225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4299" y="3733800"/>
            <a:ext cx="1557759" cy="904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9882794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Probably approximately correct learning</a:t>
            </a:r>
            <a:endParaRPr lang="en-US" dirty="0"/>
          </a:p>
        </p:txBody>
      </p:sp>
      <p:sp>
        <p:nvSpPr>
          <p:cNvPr id="3" name="Content Placeholder 2"/>
          <p:cNvSpPr>
            <a:spLocks noGrp="1"/>
          </p:cNvSpPr>
          <p:nvPr>
            <p:ph idx="1"/>
          </p:nvPr>
        </p:nvSpPr>
        <p:spPr>
          <a:xfrm>
            <a:off x="762000" y="2119256"/>
            <a:ext cx="7620000" cy="4129143"/>
          </a:xfrm>
        </p:spPr>
        <p:txBody>
          <a:bodyPr>
            <a:normAutofit lnSpcReduction="10000"/>
          </a:bodyPr>
          <a:lstStyle/>
          <a:p>
            <a:r>
              <a:rPr lang="en-US" dirty="0"/>
              <a:t>Now, we give below an informal definition of PAC-learnability. </a:t>
            </a:r>
            <a:endParaRPr lang="en-US" dirty="0" smtClean="0"/>
          </a:p>
          <a:p>
            <a:pPr marL="0" indent="0">
              <a:buNone/>
            </a:pPr>
            <a:r>
              <a:rPr lang="en-US" b="1" dirty="0" smtClean="0"/>
              <a:t>Definition </a:t>
            </a:r>
            <a:r>
              <a:rPr lang="en-US" b="1" dirty="0"/>
              <a:t>(informal) </a:t>
            </a:r>
          </a:p>
          <a:p>
            <a:pPr algn="just"/>
            <a:r>
              <a:rPr lang="en-US" dirty="0" smtClean="0"/>
              <a:t>Let </a:t>
            </a:r>
            <a:r>
              <a:rPr lang="en-US" dirty="0"/>
              <a:t>X be an instance space, C a concept class for X, h a hypothesis in C and F an arbitrary, but fixed, probability distribution. </a:t>
            </a:r>
            <a:endParaRPr lang="en-US" dirty="0" smtClean="0"/>
          </a:p>
          <a:p>
            <a:pPr algn="just"/>
            <a:r>
              <a:rPr lang="en-US" dirty="0" smtClean="0"/>
              <a:t>The </a:t>
            </a:r>
            <a:r>
              <a:rPr lang="en-US" dirty="0"/>
              <a:t>concept class C is said to be PAC-learnable if there is an algorithm A which, for samples drawn with any probability distribution F and any concept c Є C, will with high probability produce a hypothesis h Є C whose error is small.</a:t>
            </a:r>
          </a:p>
        </p:txBody>
      </p:sp>
    </p:spTree>
    <p:extLst>
      <p:ext uri="{BB962C8B-B14F-4D97-AF65-F5344CB8AC3E}">
        <p14:creationId xmlns:p14="http://schemas.microsoft.com/office/powerpoint/2010/main" val="168196928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609600"/>
            <a:ext cx="6965245" cy="1066801"/>
          </a:xfrm>
        </p:spPr>
        <p:txBody>
          <a:bodyPr>
            <a:normAutofit fontScale="90000"/>
          </a:bodyPr>
          <a:lstStyle/>
          <a:p>
            <a:r>
              <a:rPr lang="en-US" b="1" dirty="0"/>
              <a:t>Probably approximately correct learning</a:t>
            </a:r>
            <a:endParaRPr lang="en-US" dirty="0"/>
          </a:p>
        </p:txBody>
      </p:sp>
      <p:sp>
        <p:nvSpPr>
          <p:cNvPr id="3" name="Content Placeholder 2"/>
          <p:cNvSpPr>
            <a:spLocks noGrp="1"/>
          </p:cNvSpPr>
          <p:nvPr>
            <p:ph idx="1"/>
          </p:nvPr>
        </p:nvSpPr>
        <p:spPr>
          <a:xfrm>
            <a:off x="762000" y="1676400"/>
            <a:ext cx="7620000" cy="4648199"/>
          </a:xfrm>
        </p:spPr>
        <p:txBody>
          <a:bodyPr>
            <a:normAutofit/>
          </a:bodyPr>
          <a:lstStyle/>
          <a:p>
            <a:pPr marL="0" indent="0" algn="just">
              <a:buNone/>
            </a:pPr>
            <a:r>
              <a:rPr lang="en-US" sz="1500" b="1" dirty="0" smtClean="0"/>
              <a:t>Examples</a:t>
            </a:r>
          </a:p>
          <a:p>
            <a:pPr algn="just"/>
            <a:r>
              <a:rPr lang="en-US" sz="1500" dirty="0"/>
              <a:t>Let the instance space be the set X of all points in the Euclidean plane. Each point is represented by its coordinates (x; y). So, the dimension or length of the instances is 2. </a:t>
            </a:r>
            <a:endParaRPr lang="en-US" sz="1500" dirty="0" smtClean="0"/>
          </a:p>
          <a:p>
            <a:pPr algn="just">
              <a:buFont typeface="Wingdings" pitchFamily="2" charset="2"/>
              <a:buChar char="§"/>
            </a:pPr>
            <a:r>
              <a:rPr lang="en-US" sz="1500" dirty="0" smtClean="0"/>
              <a:t>Let </a:t>
            </a:r>
            <a:r>
              <a:rPr lang="en-US" sz="1500" dirty="0"/>
              <a:t>the concept class C be the set of all “axis-aligned rectangles” in the plane; that is, the set of all rectangles whose sides are parallel to the coordinate axes in the plane (see Figure). </a:t>
            </a:r>
            <a:endParaRPr lang="en-US" sz="1500" dirty="0" smtClean="0"/>
          </a:p>
          <a:p>
            <a:pPr algn="just">
              <a:buFont typeface="Wingdings" pitchFamily="2" charset="2"/>
              <a:buChar char="§"/>
            </a:pPr>
            <a:r>
              <a:rPr lang="en-US" sz="1500" dirty="0" smtClean="0"/>
              <a:t>Since </a:t>
            </a:r>
            <a:r>
              <a:rPr lang="en-US" sz="1500" dirty="0"/>
              <a:t>an axis-aligned rectangle can be defined by a set of inequalities of the following form having four parameters a ≤ x ≤ b, c ≤ y ≤ </a:t>
            </a:r>
            <a:r>
              <a:rPr lang="en-US" sz="1500" dirty="0" smtClean="0"/>
              <a:t>d</a:t>
            </a:r>
          </a:p>
          <a:p>
            <a:pPr algn="just">
              <a:buFont typeface="Wingdings" pitchFamily="2" charset="2"/>
              <a:buChar char="§"/>
            </a:pPr>
            <a:endParaRPr lang="en-US" sz="1500" dirty="0" smtClean="0"/>
          </a:p>
          <a:p>
            <a:pPr algn="just">
              <a:buFont typeface="Wingdings" pitchFamily="2" charset="2"/>
              <a:buChar char="§"/>
            </a:pPr>
            <a:endParaRPr lang="en-US" b="1" dirty="0"/>
          </a:p>
        </p:txBody>
      </p:sp>
      <p:pic>
        <p:nvPicPr>
          <p:cNvPr id="2355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2188" y="3819525"/>
            <a:ext cx="4619625" cy="303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472380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817583"/>
            <a:ext cx="6965245" cy="858818"/>
          </a:xfrm>
        </p:spPr>
        <p:txBody>
          <a:bodyPr>
            <a:normAutofit fontScale="90000"/>
          </a:bodyPr>
          <a:lstStyle/>
          <a:p>
            <a:r>
              <a:rPr lang="en-US" b="1" dirty="0"/>
              <a:t>Probably approximately correct learning</a:t>
            </a:r>
            <a:endParaRPr lang="en-US" dirty="0"/>
          </a:p>
        </p:txBody>
      </p:sp>
      <p:sp>
        <p:nvSpPr>
          <p:cNvPr id="3" name="Content Placeholder 2"/>
          <p:cNvSpPr>
            <a:spLocks noGrp="1"/>
          </p:cNvSpPr>
          <p:nvPr>
            <p:ph idx="1"/>
          </p:nvPr>
        </p:nvSpPr>
        <p:spPr>
          <a:xfrm>
            <a:off x="838200" y="1828800"/>
            <a:ext cx="7467600" cy="4419599"/>
          </a:xfrm>
        </p:spPr>
        <p:txBody>
          <a:bodyPr>
            <a:normAutofit/>
          </a:bodyPr>
          <a:lstStyle/>
          <a:p>
            <a:pPr algn="just"/>
            <a:r>
              <a:rPr lang="en-US" sz="2000" dirty="0"/>
              <a:t>the size of a concept is 4. </a:t>
            </a:r>
          </a:p>
          <a:p>
            <a:pPr algn="just">
              <a:buFont typeface="Wingdings" pitchFamily="2" charset="2"/>
              <a:buChar char="§"/>
            </a:pPr>
            <a:r>
              <a:rPr lang="en-US" sz="2000" dirty="0" smtClean="0"/>
              <a:t>We </a:t>
            </a:r>
            <a:r>
              <a:rPr lang="en-US" sz="2000" dirty="0"/>
              <a:t>take the set H of all hypotheses to be equal to the set C of concepts, H = C. </a:t>
            </a:r>
            <a:endParaRPr lang="en-US" sz="2000" dirty="0" smtClean="0"/>
          </a:p>
          <a:p>
            <a:pPr algn="just">
              <a:buFont typeface="Wingdings" pitchFamily="2" charset="2"/>
              <a:buChar char="§"/>
            </a:pPr>
            <a:r>
              <a:rPr lang="en-US" sz="2000" dirty="0" smtClean="0"/>
              <a:t>Given </a:t>
            </a:r>
            <a:r>
              <a:rPr lang="en-US" sz="2000" dirty="0"/>
              <a:t>a set of sample points labeled positive or negative, let L be the algorithm which outputs the hypothesis defined by the axis-aligned rectangle which gives the tightest fit to the positive examples (that is, that rectangle with the smallest area that includes all of the positive examples and none of the negative examples) (see Figure </a:t>
            </a:r>
            <a:r>
              <a:rPr lang="en-US" sz="2000" dirty="0" smtClean="0"/>
              <a:t>below)</a:t>
            </a:r>
          </a:p>
          <a:p>
            <a:pPr algn="just">
              <a:buFont typeface="Wingdings" pitchFamily="2" charset="2"/>
              <a:buChar char="§"/>
            </a:pPr>
            <a:endParaRPr lang="en-US" dirty="0"/>
          </a:p>
        </p:txBody>
      </p:sp>
      <p:pic>
        <p:nvPicPr>
          <p:cNvPr id="245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4538" y="4857750"/>
            <a:ext cx="5114925" cy="200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8270464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smtClean="0"/>
              <a:t>APPLICATIONS OF MACHINE LEARNING</a:t>
            </a:r>
            <a:endParaRPr lang="en-ZW" b="1"/>
          </a:p>
        </p:txBody>
      </p:sp>
      <p:sp>
        <p:nvSpPr>
          <p:cNvPr id="3" name="Content Placeholder 2"/>
          <p:cNvSpPr>
            <a:spLocks noGrp="1"/>
          </p:cNvSpPr>
          <p:nvPr>
            <p:ph idx="1"/>
          </p:nvPr>
        </p:nvSpPr>
        <p:spPr/>
        <p:txBody>
          <a:bodyPr/>
          <a:lstStyle/>
          <a:p>
            <a:pPr algn="just"/>
            <a:r>
              <a:rPr lang="en-US" b="1"/>
              <a:t>Machine learning is transforming industries worldwide, with major applications in healthcare, finance, transportation, retail, and entertainment</a:t>
            </a:r>
            <a:r>
              <a:rPr lang="en-US" b="1"/>
              <a:t>. </a:t>
            </a:r>
            <a:endParaRPr lang="en-US" b="1" smtClean="0"/>
          </a:p>
          <a:p>
            <a:pPr algn="just"/>
            <a:r>
              <a:rPr lang="en-US" b="1" smtClean="0"/>
              <a:t>Its </a:t>
            </a:r>
            <a:r>
              <a:rPr lang="en-US" b="1"/>
              <a:t>ability to learn from data and make predictions enables automation, personalization, and smarter decision-making across nearly every sector.</a:t>
            </a:r>
            <a:endParaRPr lang="en-US"/>
          </a:p>
        </p:txBody>
      </p:sp>
    </p:spTree>
    <p:extLst>
      <p:ext uri="{BB962C8B-B14F-4D97-AF65-F5344CB8AC3E}">
        <p14:creationId xmlns:p14="http://schemas.microsoft.com/office/powerpoint/2010/main" val="76517076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 </a:t>
            </a:r>
            <a:r>
              <a:rPr lang="en-US" b="1" smtClean="0"/>
              <a:t>KEY APPLICATIONS OF MACHINE LEARNING</a:t>
            </a:r>
            <a:endParaRPr lang="en-ZW" b="1"/>
          </a:p>
        </p:txBody>
      </p:sp>
      <p:sp>
        <p:nvSpPr>
          <p:cNvPr id="3" name="Content Placeholder 2"/>
          <p:cNvSpPr>
            <a:spLocks noGrp="1"/>
          </p:cNvSpPr>
          <p:nvPr>
            <p:ph idx="1"/>
          </p:nvPr>
        </p:nvSpPr>
        <p:spPr/>
        <p:txBody>
          <a:bodyPr>
            <a:normAutofit fontScale="92500" lnSpcReduction="10000"/>
          </a:bodyPr>
          <a:lstStyle/>
          <a:p>
            <a:pPr marL="0" indent="0">
              <a:buNone/>
            </a:pPr>
            <a:r>
              <a:rPr lang="en-US" b="1"/>
              <a:t>1. Healthcare</a:t>
            </a:r>
          </a:p>
          <a:p>
            <a:pPr algn="just"/>
            <a:r>
              <a:rPr lang="en-US" b="1"/>
              <a:t>Disease detection</a:t>
            </a:r>
            <a:r>
              <a:rPr lang="en-US"/>
              <a:t>: ML models analyze medical images (X-rays, MRIs) to detect cancers, pneumonia, and neurological disorders with accuracy comparable to doctors.</a:t>
            </a:r>
          </a:p>
          <a:p>
            <a:pPr algn="just"/>
            <a:r>
              <a:rPr lang="en-US" b="1"/>
              <a:t>Drug discovery</a:t>
            </a:r>
            <a:r>
              <a:rPr lang="en-US"/>
              <a:t>: Algorithms predict how molecules interact, speeding up the development of new medicines.</a:t>
            </a:r>
          </a:p>
          <a:p>
            <a:pPr algn="just"/>
            <a:r>
              <a:rPr lang="en-US" b="1"/>
              <a:t>Personalized treatment</a:t>
            </a:r>
            <a:r>
              <a:rPr lang="en-US"/>
              <a:t>: Patient data is used to tailor therapies for individuals.</a:t>
            </a:r>
          </a:p>
        </p:txBody>
      </p:sp>
    </p:spTree>
    <p:extLst>
      <p:ext uri="{BB962C8B-B14F-4D97-AF65-F5344CB8AC3E}">
        <p14:creationId xmlns:p14="http://schemas.microsoft.com/office/powerpoint/2010/main" val="78273404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 </a:t>
            </a:r>
            <a:r>
              <a:rPr lang="en-US" b="1" smtClean="0"/>
              <a:t>KEY APPLICATIONS OF MACHINE LEARNING</a:t>
            </a:r>
            <a:endParaRPr lang="en-ZW" b="1"/>
          </a:p>
        </p:txBody>
      </p:sp>
      <p:sp>
        <p:nvSpPr>
          <p:cNvPr id="3" name="Content Placeholder 2"/>
          <p:cNvSpPr>
            <a:spLocks noGrp="1"/>
          </p:cNvSpPr>
          <p:nvPr>
            <p:ph idx="1"/>
          </p:nvPr>
        </p:nvSpPr>
        <p:spPr/>
        <p:txBody>
          <a:bodyPr>
            <a:normAutofit/>
          </a:bodyPr>
          <a:lstStyle/>
          <a:p>
            <a:pPr marL="0" indent="0" algn="just">
              <a:buNone/>
            </a:pPr>
            <a:r>
              <a:rPr lang="en-US" b="1"/>
              <a:t>2. Finance</a:t>
            </a:r>
          </a:p>
          <a:p>
            <a:pPr algn="just"/>
            <a:r>
              <a:rPr lang="en-US" b="1"/>
              <a:t>Fraud detection</a:t>
            </a:r>
            <a:r>
              <a:rPr lang="en-US"/>
              <a:t>: Banks use ML to spot unusual transaction patterns and prevent fraud.</a:t>
            </a:r>
          </a:p>
          <a:p>
            <a:pPr algn="just"/>
            <a:r>
              <a:rPr lang="en-US" b="1"/>
              <a:t>Algorithmic trading</a:t>
            </a:r>
            <a:r>
              <a:rPr lang="en-US"/>
              <a:t>: ML models predict market trends and execute trades at high speed.</a:t>
            </a:r>
          </a:p>
          <a:p>
            <a:pPr algn="just"/>
            <a:r>
              <a:rPr lang="en-US" b="1"/>
              <a:t>Credit scoring</a:t>
            </a:r>
            <a:r>
              <a:rPr lang="en-US"/>
              <a:t>: Lenders assess risk more accurately using ML-driven models.</a:t>
            </a:r>
          </a:p>
          <a:p>
            <a:pPr marL="0" indent="0">
              <a:buNone/>
            </a:pPr>
            <a:endParaRPr lang="en-US"/>
          </a:p>
        </p:txBody>
      </p:sp>
    </p:spTree>
    <p:extLst>
      <p:ext uri="{BB962C8B-B14F-4D97-AF65-F5344CB8AC3E}">
        <p14:creationId xmlns:p14="http://schemas.microsoft.com/office/powerpoint/2010/main" val="72508060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 </a:t>
            </a:r>
            <a:r>
              <a:rPr lang="en-US" b="1" smtClean="0"/>
              <a:t>KEY APPLICATIONS OF MACHINE LEARNING</a:t>
            </a:r>
            <a:endParaRPr lang="en-ZW" b="1"/>
          </a:p>
        </p:txBody>
      </p:sp>
      <p:sp>
        <p:nvSpPr>
          <p:cNvPr id="3" name="Content Placeholder 2"/>
          <p:cNvSpPr>
            <a:spLocks noGrp="1"/>
          </p:cNvSpPr>
          <p:nvPr>
            <p:ph idx="1"/>
          </p:nvPr>
        </p:nvSpPr>
        <p:spPr/>
        <p:txBody>
          <a:bodyPr>
            <a:normAutofit/>
          </a:bodyPr>
          <a:lstStyle/>
          <a:p>
            <a:pPr marL="0" indent="0">
              <a:buNone/>
            </a:pPr>
            <a:r>
              <a:rPr lang="en-US" b="1"/>
              <a:t>3. Transportation</a:t>
            </a:r>
          </a:p>
          <a:p>
            <a:r>
              <a:rPr lang="en-US" b="1"/>
              <a:t>Self-driving cars</a:t>
            </a:r>
            <a:r>
              <a:rPr lang="en-US"/>
              <a:t>: ML powers perception, navigation, and decision-making in autonomous vehicles.</a:t>
            </a:r>
          </a:p>
          <a:p>
            <a:r>
              <a:rPr lang="en-US" b="1"/>
              <a:t>Traffic management</a:t>
            </a:r>
            <a:r>
              <a:rPr lang="en-US"/>
              <a:t>: Cities use ML to optimize traffic flow and reduce congestion.</a:t>
            </a:r>
          </a:p>
          <a:p>
            <a:r>
              <a:rPr lang="en-US" b="1"/>
              <a:t>Predictive maintenance</a:t>
            </a:r>
            <a:r>
              <a:rPr lang="en-US"/>
              <a:t>: Airlines and logistics companies forecast equipment failures before they happen.</a:t>
            </a:r>
          </a:p>
        </p:txBody>
      </p:sp>
    </p:spTree>
    <p:extLst>
      <p:ext uri="{BB962C8B-B14F-4D97-AF65-F5344CB8AC3E}">
        <p14:creationId xmlns:p14="http://schemas.microsoft.com/office/powerpoint/2010/main" val="284670828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 </a:t>
            </a:r>
            <a:r>
              <a:rPr lang="en-US" b="1" smtClean="0"/>
              <a:t>KEY APPLICATIONS OF MACHINE LEARNING</a:t>
            </a:r>
            <a:endParaRPr lang="en-ZW" b="1"/>
          </a:p>
        </p:txBody>
      </p:sp>
      <p:sp>
        <p:nvSpPr>
          <p:cNvPr id="3" name="Content Placeholder 2"/>
          <p:cNvSpPr>
            <a:spLocks noGrp="1"/>
          </p:cNvSpPr>
          <p:nvPr>
            <p:ph idx="1"/>
          </p:nvPr>
        </p:nvSpPr>
        <p:spPr/>
        <p:txBody>
          <a:bodyPr>
            <a:normAutofit lnSpcReduction="10000"/>
          </a:bodyPr>
          <a:lstStyle/>
          <a:p>
            <a:pPr marL="0" indent="0">
              <a:buNone/>
            </a:pPr>
            <a:r>
              <a:rPr lang="en-US" b="1"/>
              <a:t>4. Retail &amp; Marketing</a:t>
            </a:r>
          </a:p>
          <a:p>
            <a:pPr algn="just"/>
            <a:r>
              <a:rPr lang="en-US" b="1"/>
              <a:t>Recommendation systems</a:t>
            </a:r>
            <a:r>
              <a:rPr lang="en-US"/>
              <a:t>: Platforms like Netflix, Amazon, and Spotify use ML to suggest movies, products, or songs.</a:t>
            </a:r>
          </a:p>
          <a:p>
            <a:pPr algn="just"/>
            <a:r>
              <a:rPr lang="en-US" b="1"/>
              <a:t>Customer segmentation</a:t>
            </a:r>
            <a:r>
              <a:rPr lang="en-US"/>
              <a:t>: Businesses analyze consumer behavior to target ads more effectively.</a:t>
            </a:r>
          </a:p>
          <a:p>
            <a:pPr algn="just"/>
            <a:r>
              <a:rPr lang="en-US" b="1"/>
              <a:t>Demand forecasting</a:t>
            </a:r>
            <a:r>
              <a:rPr lang="en-US"/>
              <a:t>: Retailers predict inventory needs to avoid shortages or overstock</a:t>
            </a:r>
          </a:p>
        </p:txBody>
      </p:sp>
    </p:spTree>
    <p:extLst>
      <p:ext uri="{BB962C8B-B14F-4D97-AF65-F5344CB8AC3E}">
        <p14:creationId xmlns:p14="http://schemas.microsoft.com/office/powerpoint/2010/main" val="308672818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 </a:t>
            </a:r>
            <a:r>
              <a:rPr lang="en-US" b="1" smtClean="0"/>
              <a:t>KEY APPLICATIONS OF MACHINE LEARNING</a:t>
            </a:r>
            <a:endParaRPr lang="en-ZW" b="1"/>
          </a:p>
        </p:txBody>
      </p:sp>
      <p:sp>
        <p:nvSpPr>
          <p:cNvPr id="3" name="Content Placeholder 2"/>
          <p:cNvSpPr>
            <a:spLocks noGrp="1"/>
          </p:cNvSpPr>
          <p:nvPr>
            <p:ph idx="1"/>
          </p:nvPr>
        </p:nvSpPr>
        <p:spPr/>
        <p:txBody>
          <a:bodyPr>
            <a:normAutofit/>
          </a:bodyPr>
          <a:lstStyle/>
          <a:p>
            <a:pPr marL="0" indent="0" algn="just">
              <a:buNone/>
            </a:pPr>
            <a:r>
              <a:rPr lang="en-ZW" b="1"/>
              <a:t>5. Social Media &amp; Entertainment</a:t>
            </a:r>
          </a:p>
          <a:p>
            <a:pPr algn="just"/>
            <a:r>
              <a:rPr lang="en-ZW" b="1"/>
              <a:t>Content personalization</a:t>
            </a:r>
            <a:r>
              <a:rPr lang="en-ZW"/>
              <a:t>: Facebook, Instagram, and TikTok use ML to curate feeds and ads.</a:t>
            </a:r>
          </a:p>
          <a:p>
            <a:pPr algn="just"/>
            <a:r>
              <a:rPr lang="en-ZW" b="1"/>
              <a:t>Image &amp; video recognition</a:t>
            </a:r>
            <a:r>
              <a:rPr lang="en-ZW"/>
              <a:t>: Platforms automatically tag photos and detect inappropriate content.</a:t>
            </a:r>
          </a:p>
          <a:p>
            <a:pPr algn="just"/>
            <a:r>
              <a:rPr lang="en-ZW" b="1"/>
              <a:t>Gaming</a:t>
            </a:r>
            <a:r>
              <a:rPr lang="en-ZW"/>
              <a:t>: ML enhances NPC behavior and adapts difficulty levels to player skill.</a:t>
            </a:r>
          </a:p>
          <a:p>
            <a:pPr marL="0" indent="0">
              <a:buNone/>
            </a:pPr>
            <a:endParaRPr lang="en-US"/>
          </a:p>
        </p:txBody>
      </p:sp>
    </p:spTree>
    <p:extLst>
      <p:ext uri="{BB962C8B-B14F-4D97-AF65-F5344CB8AC3E}">
        <p14:creationId xmlns:p14="http://schemas.microsoft.com/office/powerpoint/2010/main" val="26385780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 </a:t>
            </a:r>
            <a:r>
              <a:rPr lang="en-US" b="1" smtClean="0"/>
              <a:t>COMPARISON OF MAJOR APPLICATIONS</a:t>
            </a:r>
            <a:endParaRPr lang="en-ZW" b="1"/>
          </a:p>
        </p:txBody>
      </p:sp>
      <p:pic>
        <p:nvPicPr>
          <p:cNvPr id="4" name="Content Placeholder 3"/>
          <p:cNvPicPr>
            <a:picLocks noGrp="1" noChangeAspect="1"/>
          </p:cNvPicPr>
          <p:nvPr>
            <p:ph idx="1"/>
          </p:nvPr>
        </p:nvPicPr>
        <p:blipFill>
          <a:blip r:embed="rId2"/>
          <a:stretch>
            <a:fillRect/>
          </a:stretch>
        </p:blipFill>
        <p:spPr>
          <a:xfrm>
            <a:off x="819898" y="2687638"/>
            <a:ext cx="7549204" cy="3103562"/>
          </a:xfrm>
          <a:prstGeom prst="rect">
            <a:avLst/>
          </a:prstGeom>
        </p:spPr>
      </p:pic>
    </p:spTree>
    <p:extLst>
      <p:ext uri="{BB962C8B-B14F-4D97-AF65-F5344CB8AC3E}">
        <p14:creationId xmlns:p14="http://schemas.microsoft.com/office/powerpoint/2010/main" val="402950988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ZW" b="1" smtClean="0"/>
              <a:t>⚠️ CHALLENGES &amp; RISKS</a:t>
            </a:r>
            <a:endParaRPr lang="en-ZW" b="1"/>
          </a:p>
        </p:txBody>
      </p:sp>
      <p:sp>
        <p:nvSpPr>
          <p:cNvPr id="3" name="Content Placeholder 2"/>
          <p:cNvSpPr>
            <a:spLocks noGrp="1"/>
          </p:cNvSpPr>
          <p:nvPr>
            <p:ph idx="1"/>
          </p:nvPr>
        </p:nvSpPr>
        <p:spPr/>
        <p:txBody>
          <a:bodyPr>
            <a:normAutofit fontScale="92500" lnSpcReduction="20000"/>
          </a:bodyPr>
          <a:lstStyle/>
          <a:p>
            <a:pPr algn="just"/>
            <a:r>
              <a:rPr lang="en-US" b="1" smtClean="0"/>
              <a:t>Bias </a:t>
            </a:r>
            <a:r>
              <a:rPr lang="en-US" b="1"/>
              <a:t>in data: </a:t>
            </a:r>
            <a:r>
              <a:rPr lang="en-US"/>
              <a:t>ML models can reinforce social or economic inequalities if trained on biased </a:t>
            </a:r>
            <a:r>
              <a:rPr lang="en-US"/>
              <a:t>datasets</a:t>
            </a:r>
            <a:r>
              <a:rPr lang="en-US" smtClean="0"/>
              <a:t>.</a:t>
            </a:r>
          </a:p>
          <a:p>
            <a:pPr algn="just"/>
            <a:r>
              <a:rPr lang="en-US" b="1" smtClean="0"/>
              <a:t>Privacy </a:t>
            </a:r>
            <a:r>
              <a:rPr lang="en-US" b="1"/>
              <a:t>concerns: </a:t>
            </a:r>
            <a:r>
              <a:rPr lang="en-US"/>
              <a:t>Collecting and analyzing personal data raises ethical </a:t>
            </a:r>
            <a:r>
              <a:rPr lang="en-US"/>
              <a:t>issues</a:t>
            </a:r>
            <a:r>
              <a:rPr lang="en-US" smtClean="0"/>
              <a:t>.</a:t>
            </a:r>
          </a:p>
          <a:p>
            <a:pPr algn="just"/>
            <a:r>
              <a:rPr lang="en-US" b="1" smtClean="0"/>
              <a:t>Interpretability</a:t>
            </a:r>
            <a:r>
              <a:rPr lang="en-US" b="1"/>
              <a:t>:</a:t>
            </a:r>
            <a:r>
              <a:rPr lang="en-US"/>
              <a:t> Many ML models (like deep learning) are “black boxes,” making decisions hard to </a:t>
            </a:r>
            <a:r>
              <a:rPr lang="en-US"/>
              <a:t>explain</a:t>
            </a:r>
            <a:r>
              <a:rPr lang="en-US" smtClean="0"/>
              <a:t>.</a:t>
            </a:r>
          </a:p>
          <a:p>
            <a:pPr algn="just"/>
            <a:r>
              <a:rPr lang="en-US" b="1" smtClean="0"/>
              <a:t>Resource </a:t>
            </a:r>
            <a:r>
              <a:rPr lang="en-US" b="1"/>
              <a:t>intensity: </a:t>
            </a:r>
            <a:r>
              <a:rPr lang="en-US"/>
              <a:t>Training large ML models requires significant computing power and energy.  </a:t>
            </a:r>
          </a:p>
          <a:p>
            <a:endParaRPr lang="en-ZW"/>
          </a:p>
        </p:txBody>
      </p:sp>
    </p:spTree>
    <p:extLst>
      <p:ext uri="{BB962C8B-B14F-4D97-AF65-F5344CB8AC3E}">
        <p14:creationId xmlns:p14="http://schemas.microsoft.com/office/powerpoint/2010/main" val="367186241"/>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Pushpin">
  <a:themeElements>
    <a:clrScheme name="Pushpin">
      <a:dk1>
        <a:sysClr val="windowText" lastClr="000000"/>
      </a:dk1>
      <a:lt1>
        <a:sysClr val="window" lastClr="FFFFFF"/>
      </a:lt1>
      <a:dk2>
        <a:srgbClr val="465E9C"/>
      </a:dk2>
      <a:lt2>
        <a:srgbClr val="CCDDEA"/>
      </a:lt2>
      <a:accent1>
        <a:srgbClr val="FDA023"/>
      </a:accent1>
      <a:accent2>
        <a:srgbClr val="AA2B1E"/>
      </a:accent2>
      <a:accent3>
        <a:srgbClr val="71685C"/>
      </a:accent3>
      <a:accent4>
        <a:srgbClr val="64A73B"/>
      </a:accent4>
      <a:accent5>
        <a:srgbClr val="EB5605"/>
      </a:accent5>
      <a:accent6>
        <a:srgbClr val="B9CA1A"/>
      </a:accent6>
      <a:hlink>
        <a:srgbClr val="D83E2C"/>
      </a:hlink>
      <a:folHlink>
        <a:srgbClr val="ED7D27"/>
      </a:folHlink>
    </a:clrScheme>
    <a:fontScheme name="Pushpin">
      <a:majorFont>
        <a:latin typeface="Constantia"/>
        <a:ea typeface=""/>
        <a:cs typeface=""/>
        <a:font script="Jpan" typeface="HGS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a:ea typeface=""/>
        <a:cs typeface=""/>
        <a:font script="Grek" typeface="Arial"/>
        <a:font script="Cyrl" typeface="Arial"/>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ushpin">
      <a:fillStyleLst>
        <a:solidFill>
          <a:schemeClr val="phClr"/>
        </a:solidFill>
        <a:gradFill rotWithShape="1">
          <a:gsLst>
            <a:gs pos="0">
              <a:schemeClr val="phClr">
                <a:tint val="50000"/>
                <a:satMod val="180000"/>
                <a:lumMod val="100000"/>
              </a:schemeClr>
            </a:gs>
            <a:gs pos="40000">
              <a:schemeClr val="phClr">
                <a:tint val="60000"/>
                <a:satMod val="130000"/>
                <a:lumMod val="100000"/>
              </a:schemeClr>
            </a:gs>
            <a:gs pos="100000">
              <a:schemeClr val="phClr">
                <a:tint val="96000"/>
                <a:lumMod val="108000"/>
              </a:schemeClr>
            </a:gs>
          </a:gsLst>
          <a:lin ang="5400000" scaled="0"/>
        </a:gradFill>
        <a:gradFill rotWithShape="1">
          <a:gsLst>
            <a:gs pos="0">
              <a:schemeClr val="phClr"/>
            </a:gs>
            <a:gs pos="100000">
              <a:schemeClr val="phClr">
                <a:shade val="76000"/>
                <a:lumMod val="90000"/>
              </a:schemeClr>
            </a:gs>
          </a:gsLst>
          <a:lin ang="5400000" scaled="0"/>
        </a:gradFill>
      </a:fillStyleLst>
      <a:lnStyleLst>
        <a:ln w="9525" cap="flat" cmpd="sng" algn="ctr">
          <a:solidFill>
            <a:schemeClr val="phClr"/>
          </a:solidFill>
          <a:prstDash val="solid"/>
        </a:ln>
        <a:ln w="15875" cap="flat" cmpd="sng" algn="ctr">
          <a:solidFill>
            <a:schemeClr val="phClr">
              <a:shade val="80000"/>
              <a:lumMod val="90000"/>
            </a:schemeClr>
          </a:solidFill>
          <a:prstDash val="solid"/>
        </a:ln>
        <a:ln w="25400" cap="flat" cmpd="sng" algn="ctr">
          <a:solidFill>
            <a:schemeClr val="phClr"/>
          </a:solidFill>
          <a:prstDash val="solid"/>
        </a:ln>
      </a:lnStyleLst>
      <a:effectStyleLst>
        <a:effectStyle>
          <a:effectLst/>
        </a:effectStyle>
        <a:effectStyle>
          <a:effectLst>
            <a:outerShdw blurRad="38100" dist="38100" dir="4800000" sx="98000" sy="98000" rotWithShape="0">
              <a:srgbClr val="000000">
                <a:alpha val="32000"/>
              </a:srgbClr>
            </a:outerShdw>
          </a:effectLst>
        </a:effectStyle>
        <a:effectStyle>
          <a:effectLst>
            <a:outerShdw blurRad="38100" dist="38100" dir="4800000" sx="96000" sy="96000" rotWithShape="0">
              <a:srgbClr val="000000">
                <a:alpha val="40000"/>
              </a:srgbClr>
            </a:outerShdw>
          </a:effectLst>
          <a:scene3d>
            <a:camera prst="orthographicFront">
              <a:rot lat="0" lon="0" rev="0"/>
            </a:camera>
            <a:lightRig rig="threePt" dir="t">
              <a:rot lat="0" lon="0" rev="3240000"/>
            </a:lightRig>
          </a:scene3d>
          <a:sp3d>
            <a:bevelT w="28575" h="28575"/>
          </a:sp3d>
        </a:effectStyle>
      </a:effectStyleLst>
      <a:bgFillStyleLst>
        <a:solidFill>
          <a:schemeClr val="phClr">
            <a:tint val="93000"/>
          </a:schemeClr>
        </a:solidFill>
        <a:blipFill rotWithShape="1">
          <a:blip xmlns:r="http://schemas.openxmlformats.org/officeDocument/2006/relationships" r:embed="rId1">
            <a:duotone>
              <a:schemeClr val="phClr">
                <a:shade val="80000"/>
                <a:satMod val="140000"/>
                <a:lumMod val="50000"/>
              </a:schemeClr>
              <a:schemeClr val="phClr">
                <a:tint val="95000"/>
                <a:satMod val="180000"/>
                <a:lumMod val="160000"/>
              </a:schemeClr>
            </a:duotone>
          </a:blip>
          <a:stretch/>
        </a:blipFill>
        <a:blipFill rotWithShape="1">
          <a:blip xmlns:r="http://schemas.openxmlformats.org/officeDocument/2006/relationships" r:embed="rId2">
            <a:duotone>
              <a:schemeClr val="phClr">
                <a:tint val="98000"/>
                <a:shade val="90000"/>
                <a:satMod val="120000"/>
                <a:lumMod val="54000"/>
              </a:schemeClr>
              <a:schemeClr val="phClr">
                <a:tint val="80000"/>
                <a:satMod val="160000"/>
                <a:lumMod val="140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Pushpin</Template>
  <TotalTime>11798</TotalTime>
  <Words>8008</Words>
  <Application>Microsoft Office PowerPoint</Application>
  <PresentationFormat>On-screen Show (4:3)</PresentationFormat>
  <Paragraphs>479</Paragraphs>
  <Slides>83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83</vt:i4>
      </vt:variant>
    </vt:vector>
  </HeadingPairs>
  <TitlesOfParts>
    <vt:vector size="91" baseType="lpstr">
      <vt:lpstr>Arial</vt:lpstr>
      <vt:lpstr>Brush Script MT</vt:lpstr>
      <vt:lpstr>Constantia</vt:lpstr>
      <vt:lpstr>Courier New</vt:lpstr>
      <vt:lpstr>Franklin Gothic Book</vt:lpstr>
      <vt:lpstr>Rage Italic</vt:lpstr>
      <vt:lpstr>Wingdings</vt:lpstr>
      <vt:lpstr>Pushpin</vt:lpstr>
      <vt:lpstr>MACHINE LEARNING</vt:lpstr>
      <vt:lpstr>1.Introduction</vt:lpstr>
      <vt:lpstr>What Is Machine Learning?</vt:lpstr>
      <vt:lpstr>What Is Machine Learning?</vt:lpstr>
      <vt:lpstr>What Is Machine Learning?</vt:lpstr>
      <vt:lpstr>1.2 Components of Learning </vt:lpstr>
      <vt:lpstr>Components of Learning </vt:lpstr>
      <vt:lpstr>Components of Learning </vt:lpstr>
      <vt:lpstr>Components of Learning </vt:lpstr>
      <vt:lpstr>Components of Learning </vt:lpstr>
      <vt:lpstr>Components of Learning </vt:lpstr>
      <vt:lpstr>Components of Learning </vt:lpstr>
      <vt:lpstr>1.3 Learning Models</vt:lpstr>
      <vt:lpstr>Learning Models</vt:lpstr>
      <vt:lpstr>Learning Models</vt:lpstr>
      <vt:lpstr>Learning Models</vt:lpstr>
      <vt:lpstr>Learning Models</vt:lpstr>
      <vt:lpstr>Learning Models</vt:lpstr>
      <vt:lpstr>Learning Models</vt:lpstr>
      <vt:lpstr>Learning Models</vt:lpstr>
      <vt:lpstr>Learning Models</vt:lpstr>
      <vt:lpstr>Learning Models</vt:lpstr>
      <vt:lpstr>Learning Models</vt:lpstr>
      <vt:lpstr>Learning Models</vt:lpstr>
      <vt:lpstr>Learning Models</vt:lpstr>
      <vt:lpstr>Learning Models</vt:lpstr>
      <vt:lpstr>Learning Models</vt:lpstr>
      <vt:lpstr>Learning Models</vt:lpstr>
      <vt:lpstr>Learning Models</vt:lpstr>
      <vt:lpstr>Learning Models</vt:lpstr>
      <vt:lpstr>Learning Models</vt:lpstr>
      <vt:lpstr>1.4 Designing a Learning System</vt:lpstr>
      <vt:lpstr>Designing a Learning System</vt:lpstr>
      <vt:lpstr>Designing a Learning System</vt:lpstr>
      <vt:lpstr>Designing a Learning System</vt:lpstr>
      <vt:lpstr>Designing a Learning System</vt:lpstr>
      <vt:lpstr>Designing a Learning System</vt:lpstr>
      <vt:lpstr>Designing a Learning System</vt:lpstr>
      <vt:lpstr>Designing a Learning System</vt:lpstr>
      <vt:lpstr>Designing a Learning System</vt:lpstr>
      <vt:lpstr>Designing a Learning System</vt:lpstr>
      <vt:lpstr>Designing a Learning System</vt:lpstr>
      <vt:lpstr>Designing a Learning System</vt:lpstr>
      <vt:lpstr>Designing a Learning System</vt:lpstr>
      <vt:lpstr>Designing a Learning System</vt:lpstr>
      <vt:lpstr>Designing a Learning System</vt:lpstr>
      <vt:lpstr>Designing a Learning System</vt:lpstr>
      <vt:lpstr>Designing a Learning System</vt:lpstr>
      <vt:lpstr>Designing a Learning System</vt:lpstr>
      <vt:lpstr>1.5 Types of Learning  </vt:lpstr>
      <vt:lpstr>Types of Learning</vt:lpstr>
      <vt:lpstr>Types of Learning</vt:lpstr>
      <vt:lpstr>Types of Learning</vt:lpstr>
      <vt:lpstr>Types of Learning</vt:lpstr>
      <vt:lpstr>Types of Learning</vt:lpstr>
      <vt:lpstr>Types of Learning</vt:lpstr>
      <vt:lpstr>Types of Learning</vt:lpstr>
      <vt:lpstr> 1.6 Perspectives and issues in Machine Learning  </vt:lpstr>
      <vt:lpstr>Perspectives and issues in Machine Learning</vt:lpstr>
      <vt:lpstr>1.7 Version Spaces  </vt:lpstr>
      <vt:lpstr>Version Spaces</vt:lpstr>
      <vt:lpstr>Version Spaces</vt:lpstr>
      <vt:lpstr>Version Spaces</vt:lpstr>
      <vt:lpstr>Version Spaces</vt:lpstr>
      <vt:lpstr>Version Spaces</vt:lpstr>
      <vt:lpstr>Version Spaces</vt:lpstr>
      <vt:lpstr>Version Spaces</vt:lpstr>
      <vt:lpstr>Version Spaces</vt:lpstr>
      <vt:lpstr>Version Spaces</vt:lpstr>
      <vt:lpstr>Version Spaces</vt:lpstr>
      <vt:lpstr>1.8 Probably approximately correct learning</vt:lpstr>
      <vt:lpstr>Probably approximately correct learning</vt:lpstr>
      <vt:lpstr>Probably approximately correct learning</vt:lpstr>
      <vt:lpstr>Probably approximately correct learning</vt:lpstr>
      <vt:lpstr>Probably approximately correct learning</vt:lpstr>
      <vt:lpstr>APPLICATIONS OF MACHINE LEARNING</vt:lpstr>
      <vt:lpstr>🌍 KEY APPLICATIONS OF MACHINE LEARNING</vt:lpstr>
      <vt:lpstr>🌍 KEY APPLICATIONS OF MACHINE LEARNING</vt:lpstr>
      <vt:lpstr>🌍 KEY APPLICATIONS OF MACHINE LEARNING</vt:lpstr>
      <vt:lpstr>🌍 KEY APPLICATIONS OF MACHINE LEARNING</vt:lpstr>
      <vt:lpstr>🌍 KEY APPLICATIONS OF MACHINE LEARNING</vt:lpstr>
      <vt:lpstr>📊 COMPARISON OF MAJOR APPLICATIONS</vt:lpstr>
      <vt:lpstr>⚠️ CHALLENGES &amp; RISKS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PC</dc:creator>
  <cp:lastModifiedBy>user</cp:lastModifiedBy>
  <cp:revision>53</cp:revision>
  <dcterms:created xsi:type="dcterms:W3CDTF">2024-02-26T12:58:23Z</dcterms:created>
  <dcterms:modified xsi:type="dcterms:W3CDTF">2026-03-15T19:19:22Z</dcterms:modified>
</cp:coreProperties>
</file>